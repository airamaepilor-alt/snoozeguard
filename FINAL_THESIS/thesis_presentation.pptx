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82296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SnoozeGuard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Development of an AI-Driven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Drowsiness Monitoring System for Road Safety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00400" y="2880360"/>
            <a:ext cx="578815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63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Jeuiel T. Agno  ·  Aira Mae T. Pilor  ·  Christian Eduard B. Ylagan Jr.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49300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Adviser: Engr. Jezer E. Ilao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Divine Word College of Calapan  ·  School of Engineering  ·  BS Computer Engineering  ·  2025–2026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2161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5029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1762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Study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1363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502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0965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Algorithm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983480"/>
            <a:ext cx="50292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50566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Escalation System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1143000"/>
            <a:ext cx="50292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12280" y="12161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Alert Device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2103120"/>
            <a:ext cx="5029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12280" y="21762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Notification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3063240"/>
            <a:ext cx="5029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12280" y="31363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Evaluation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17920" y="4023360"/>
            <a:ext cx="5029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12280" y="40965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731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Drowsy driving contributes to ~20% of all motorway accidents (Horne &amp; Reyner, 1995)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731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2024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(2023): road traffic injuries are the 8th leading cause of death globally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731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7432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Microsleep episodes (3–30 seconds) cause vehicles to travel 100+ meters uncontrolled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731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5661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Driver Monitoring Systems (DMS) are prohibitively expensive for most drivers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731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38912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Smartphone-based detection offers an accessible, vehicle-agnostic alternative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5303520"/>
            <a:ext cx="731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212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low-cost system combines multi-signal detection + IoT alerts + emergency notification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the Problem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smartphone reliably detect drowsiness using multiple physiological signals (yawn, head nod, tilt, brake)?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103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drowsiness severity be quantified into a 10-level model driving proportional alert responses?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108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low-cost IoT device augment alerts with audio, vibration, and LED patterns per level?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457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an emergency pipeline reliably notify a guardian even under intermittent connectivity?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120640"/>
            <a:ext cx="457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5120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what extent does SnoozeGuard meet ISO/IEC 25010 software quality requirements?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Study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Objective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design, develop, and evaluate SnoozeGuard — a multi-platform AI-driven real-time drowsiness monitoring system — capable of detecting driver fatigue, delivering graduated alerts, and triggering emergency contact notifications at critical levels.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Objectives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761488"/>
            <a:ext cx="73152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517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multi-signal detection: yawn (jawOpen blend shape), head nod (pitch/roll), sustained tilt (10s), sudden brake (accelerometer)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73152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3192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configurable 10-level drowsiness scoring model with administrator-controlled thresholds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096512"/>
            <a:ext cx="73152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986784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ESP32 IoT alert device with MQTT + BLE communication and level-specific audio/vibration/LED patterns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764024"/>
            <a:ext cx="73152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654296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 emergency notification pipeline via Expo Push + PhilSMS SMS to the active emergency contact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5431536"/>
            <a:ext cx="73152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32180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 offline-first SQLite architecture with automatic Supabase cloud synchronization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6099048"/>
            <a:ext cx="73152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9893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system against ISO/IEC 25010 across 8 quality characteristics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256032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Native / Expo SDK 54)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1188720"/>
            <a:ext cx="256032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188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+ Vite / Firebase)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1188720"/>
            <a:ext cx="2560320" cy="1005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188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Alert Device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(ESP32 + DFPlayer Mini)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95360" y="1188720"/>
            <a:ext cx="2560320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1188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API + MQTT Bridge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(Node.js / Hono / Railway)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45920" y="224028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224028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224028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224028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0" y="2606040"/>
            <a:ext cx="8897112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2606040"/>
            <a:ext cx="8897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Cloud Backend  (PostgreSQL · Auth · Realtime · Edge Functions)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3474720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03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 — HiveMQ Cloud TLS 8883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0" y="3703320"/>
            <a:ext cx="347472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3703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— PhilSMS via Supabase Edge Function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63840" y="3703320"/>
            <a:ext cx="384048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37033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— Expo Push (APNs / FCM)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6177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" y="4983480"/>
            <a:ext cx="146304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834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53766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EAS (expo.dev)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0" y="4983480"/>
            <a:ext cx="146304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49834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86000" y="53766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Hosting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06240" y="4983480"/>
            <a:ext cx="14630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0" y="49834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06240" y="53766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4983480"/>
            <a:ext cx="14630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49834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26480" y="53766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46720" y="4983480"/>
            <a:ext cx="1463040" cy="3474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0" y="49834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046720" y="53766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Cloud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966960" y="4983480"/>
            <a:ext cx="146304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66960" y="49834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966960" y="53766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PhilSMS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Drowsiness Detection Algorithm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 Landmarker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478 facial landmarks + 52 blend shape coefficients  ·  Mobile: IMAGE mode @ 600ms  ·  Web: VIDEO mode @ 130ms (WASM)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260604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11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Yawn Detection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51460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jawOpen blend shape ≥ 0.70 → open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jawOpen ≤ 0.40 → yawn confirmed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Cooldown: 2,000ms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2011680"/>
            <a:ext cx="260604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011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Nodding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51460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&gt; 0.35 or Roll &gt; 0.25 rad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 centered→offCenter transition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Cooldown: 500ms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2011680"/>
            <a:ext cx="260604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011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Tilt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251460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Off-center for ≥ 10 seconds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grace frames allowed)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Independent Level 8 alert modal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869680" y="2011680"/>
            <a:ext cx="260604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0" y="2011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Brake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69680" y="251460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 delta &gt; 0.45 g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qualifying events within 3,000ms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Independent brake alert modal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31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Drowsiness Level Computation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4315968"/>
            <a:ext cx="11274552" cy="502920"/>
          </a:xfrm>
          <a:prstGeom prst="rect">
            <a:avLst/>
          </a:prstGeom>
          <a:solidFill>
            <a:srgbClr val="F0F6FF"/>
          </a:solidFill>
          <a:ln w="12700">
            <a:solidFill>
              <a:srgbClr val="F0F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31596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computeLevelFromAlertMap( yawnAcc, headAcc, alertMap )  →  Level 0–10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level 1→10: if yawnAcc ≥ threshold OR headAcc ≥ threshold → set computedLevel. Returns highest matched level. Thresholds are administrator-configurable via Admin Config screen.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Escalation System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2011680" cy="777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43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1–2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/ Low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14600" y="128016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warning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2011680" cy="77724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3–4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514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/ Moderate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228600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Vibration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2011680" cy="7772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520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Moderate-High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329184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Vibration + Alarm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2011680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160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6–8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526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Severe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14600" y="429768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Vibration + Alarm + IoT Device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5120640"/>
            <a:ext cx="201168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5166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9–10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5532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Extreme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14600" y="530352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above + Emergency Notification (120s timer)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62179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291072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 Guard: dismissedLevelsRef prevents same level re-firing per session  ·  Level 10 re-triggers after 3 more yawns or 10 more head events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Alert Device — ESP32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731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173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DevKit — WiFi + BLE + GPIO (240MHz dual-core)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731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8288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DFPlayer Mini — UART2 (GPIO 16/17) — plays 0001–0005.mp3 from MicroSD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731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(GPIO 26) · LED Primary (GPIO 27) · LED Secondary (GPIO 32) · BLE LED (GPIO 33)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731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517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 Button — GPIO 25, INPUT_PULLUP, 200ms debounce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375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Behavior by Level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03320"/>
          <a:ext cx="11274552" cy="2560320"/>
        </p:xfrm>
        <a:graphic>
          <a:graphicData uri="http://schemas.openxmlformats.org/drawingml/2006/table">
            <a:tbl>
              <a:tblPr/>
              <a:tblGrid>
                <a:gridCol w="2818638"/>
                <a:gridCol w="2818638"/>
                <a:gridCol w="2818638"/>
                <a:gridCol w="2818638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MP3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Vibration Pattern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0001.mp3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short pulses (200ms on / 150ms off)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0002.mp3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medium pulses (400ms on / 150ms off)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0003.mp3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long pulses (600ms on / 150ms off)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0004.mp3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buzzer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0005.mp3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buzzer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Flashing (400ms on/off)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 button → MQTT publish snoozeguard/dismiss/{device_id} + BLE NOTIFY {event:dismiss} → server updates iot_alerts.status → Supabase Realtime → mobile dismiss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Connectivity &amp; Communication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3474720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Native)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188720"/>
            <a:ext cx="3474720" cy="2286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1887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Cloud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TLS :8883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12480" y="1188720"/>
            <a:ext cx="3474720" cy="2286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1887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40480" y="2331720"/>
            <a:ext cx="5486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19202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/v1/iot/buzz →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publish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63840" y="2331720"/>
            <a:ext cx="5486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1783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snoozeguard/commands/{id}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0" y="3017520"/>
            <a:ext cx="457200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30906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Fallback (SG-{device_id})  CMD char: beb5483e-...  EVENT char: beb5483f-...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233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Structure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" y="4434840"/>
            <a:ext cx="201168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434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→ Device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68880" y="450799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snoozeguard/commands/{device_id}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450799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 / all_clear JSON command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5120640"/>
            <a:ext cx="201168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5120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→ Server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68880" y="519379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snoozeguard/dismiss/{device_id}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519379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 event from physical button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5806440"/>
            <a:ext cx="201168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5806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→ Server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68880" y="587959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snoozeguard/ping/{device_id}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75120" y="587959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every 5s → updates last_seen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6576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online if last_seen &lt; 15s  ·  BLE used when WiFi/MQTT unavailable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Notification System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45720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1143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reaches Level 9 or 10 — alert modal opens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1627632"/>
            <a:ext cx="0" cy="24688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74520"/>
            <a:ext cx="45720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745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1920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120-second countdown begins (30s on web)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2404872"/>
            <a:ext cx="0" cy="24688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651760"/>
            <a:ext cx="45720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51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2697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driver does NOT dismiss → triggerEmergencyAlert() fires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3182112"/>
            <a:ext cx="0" cy="24688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429000"/>
            <a:ext cx="4572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290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3474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Driver's GPS location captured → emergency_alert_events row inserted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" y="3959352"/>
            <a:ext cx="0" cy="24688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206240"/>
            <a:ext cx="4572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2062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4251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Push Notification sent to active emergency contact's device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" y="4736592"/>
            <a:ext cx="0" cy="24688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983480"/>
            <a:ext cx="4572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834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0120" y="5029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sms_enabled: POST to Supabase Edge Function → PhilSMS API → SMS delivered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4360" y="5513832"/>
            <a:ext cx="0" cy="24688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5760720"/>
            <a:ext cx="45720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57607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0120" y="5806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opens EmergencyAlertMapScreen → sees live location → Accept / Dismiss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656539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Multi-contact model: driver designates multiple guardians (is_active=1 selects active).  Real-time presence shown in "I Protect" tab.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502920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43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SQLite (expo-sqlite)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— Always Available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94960" y="1600200"/>
            <a:ext cx="13716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3716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0" y="1143000"/>
            <a:ext cx="50292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143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Backup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23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Pattern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320040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346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SQLite immediately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29260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cached data to user with zero delay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3639312"/>
            <a:ext cx="3200400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63931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connectivity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373075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isOnline() from sync/flush.ts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" y="4443984"/>
            <a:ext cx="320040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44398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online: fetch Supabase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4535424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SQLite cache with fresh data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" y="5248656"/>
            <a:ext cx="3200400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524865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offline: show banner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49040" y="534009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 offline warning; cached data still visible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612648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Fallback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5-second timeout on session load → reads offline_session from SQLite → user logged in without network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1127455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Software Development Life Cycle (Iterative SDLC)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128016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1280160" cy="82296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402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1–15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783080" y="1828800"/>
            <a:ext cx="128016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83080" y="2240280"/>
            <a:ext cx="1280160" cy="82296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83080" y="22402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3080" y="3108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16–30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1828800"/>
            <a:ext cx="128016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240280"/>
            <a:ext cx="1280160" cy="82296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2402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3108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1–15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1828800"/>
            <a:ext cx="128016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2240280"/>
            <a:ext cx="1280160" cy="82296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22402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17720" y="3108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16–28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1828800"/>
            <a:ext cx="1280160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2240280"/>
            <a:ext cx="1280160" cy="82296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22402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Firmware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35040" y="3108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1–15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52360" y="1828800"/>
            <a:ext cx="1280160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236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452360" y="2240280"/>
            <a:ext cx="1280160" cy="82296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22402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52360" y="3108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16–30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869680" y="1828800"/>
            <a:ext cx="128016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6968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869680" y="2240280"/>
            <a:ext cx="1280160" cy="82296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69680" y="22402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Survey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69680" y="3108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1–15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287000" y="1828800"/>
            <a:ext cx="128016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28700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287000" y="2240280"/>
            <a:ext cx="1280160" cy="82296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287000" y="22402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287000" y="3108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16–30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365760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749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 — ISO/IEC 25010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65760" y="4251960"/>
            <a:ext cx="20116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2519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Suitability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200400" y="4251960"/>
            <a:ext cx="20116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0" y="42519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Efficiency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035040" y="4251960"/>
            <a:ext cx="20116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35040" y="42519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869680" y="4251960"/>
            <a:ext cx="20116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869680" y="42519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65760" y="4800600"/>
            <a:ext cx="201168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48006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200400" y="4800600"/>
            <a:ext cx="201168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0" y="48006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035040" y="4800600"/>
            <a:ext cx="201168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35040" y="48006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869680" y="4800600"/>
            <a:ext cx="201168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869680" y="48006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57200" y="54406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457200" y="5806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drivers  ·  Age: 22–35 years old  ·  Purposive sampling  ·  Evaluated using the driving simulator prototype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5-point Likert Scale → Weighted Mean → Interpretation (Poor / Fair / Good / Very Good / Excellent)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Simulator Prototype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provide a realistic, controlled evaluation environment without requiring road access, the research team constructed a physical driving simulator: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2286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4592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Seat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173736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automobile bucket seat on rigid wooden frame — authentic driving posture and camera distance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542032"/>
            <a:ext cx="2286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4203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Wheel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2633472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Logitech gaming steering wheel with force feedback at ergonomic height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438144"/>
            <a:ext cx="2286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3814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3529584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and accelerator pedals at floor level — natural foot position for test participants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334256"/>
            <a:ext cx="2286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33425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Mount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34640" y="4425696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Front-facing dash cradle at 60–80 cm — camera captures full face within MediaPipe range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5230368"/>
            <a:ext cx="2286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523036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34640" y="532180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lumber (2×4, 2×6) — structural rigidity and adjustability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6172200"/>
            <a:ext cx="11274552" cy="502920"/>
          </a:xfrm>
          <a:prstGeom prst="rect">
            <a:avLst/>
          </a:prstGeom>
          <a:solidFill>
            <a:srgbClr val="F0F6FF"/>
          </a:solidFill>
          <a:ln w="12700">
            <a:solidFill>
              <a:srgbClr val="F0F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61722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respondents interacted with the system through this simulator before completing the ISO/IEC 25010 evaluation questionnaire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 — ISO/IEC 25010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274552" cy="512064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Characteristic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Suitability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Satisfactory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Efficiency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Satisfactory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Compatibility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Satisfactory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Satisfactory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Satisfactory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Satisfactory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Satisfactory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Satisfactory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Mean (n = 29)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Satisfactory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630936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characteristics rated Very Satisfactory. Highest: Performance Efficiency (4.11). Lowest: Usability (3.90).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4572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1143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smartphone camera + MediaPipe Face Landmarker can reliably detect multi-signal driver drowsiness (yawn, head nod, tilt, brake) in real time without specialized vehicle hardware.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4572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116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2057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configurable 10-level drowsiness scoring model provides proportional, escalating alert responses that avoid the false-alarm fatigue of binary threshold systems.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572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260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2971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ESP32 IoT alert device with MQTT + BLE dual-path communication successfully extends alerts beyond the smartphone with level-calibrated audio, vibration, and LED patterns.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4572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8404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38862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closed-loop emergency pipeline (Expo Push + PhilSMS) delivers timely guardian notification absent from existing smartphone DMS applications.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4754880"/>
            <a:ext cx="4572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7548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4800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offline-first SQLite architecture ensures continuous session recording under intermittent network conditions — critical for Philippine road environments.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5760" y="5669280"/>
            <a:ext cx="4572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5669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0120" y="5715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SnoozeGuard achieves [pending ISO score] across ISO/IEC 25010 quality characteristics — demonstrating satisfactory software quality as a functional prototype.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25603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Validation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63240" y="118872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in naturalistic driving conditions across diverse road types, lighting, and driver demographics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256032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7452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Closure Integration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63240" y="196596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PERCLOS as optional supplementary signal when MediaPipe reports high-confidence eye landmark tracking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25603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5176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OBD-II Integration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274320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vehicle speed and lane deviation data as additional drowsiness signals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429000"/>
            <a:ext cx="256032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290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Certification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63240" y="35204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formal safety analysis and certification pathway for deployment as a certified DMS aid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4206240"/>
            <a:ext cx="25603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20624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63240" y="429768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Filipino TTS and localized UI for broader Philippine deployment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5760" y="4983480"/>
            <a:ext cx="256032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834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Management Dashboard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63240" y="507492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cloud backend to aggregate driver drowsiness statistics across commercial vehicle fleets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5760" y="5760720"/>
            <a:ext cx="25603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576072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Optimization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63240" y="585216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adaptive sampling and Android NNAPI hardware acceleration to reduce power consumption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1168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Open Discussion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00400" y="3977640"/>
            <a:ext cx="578815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1605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Jeuiel T. Agno  ·  Aira Mae T. Pilor  ·  Christian Eduard B. Ylagan Jr.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6177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Adviser: Engr. Jezer E. Ilao  ·  Divine Word College of Calapan  ·  BS Computer Engineering  ·  2025–2026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2026-04-30T19:37:34Z</dcterms:created>
  <dcterms:modified xsi:type="dcterms:W3CDTF">2026-04-30T19:37:34Z</dcterms:modified>
</cp:coreProperties>
</file>