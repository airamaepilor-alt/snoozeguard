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2026-04-30T19:37:34Z</dcterms:created>
  <dcterms:modified xsi:type="dcterms:W3CDTF">2026-04-30T19:37:34Z</dcterms:modified>
</cp:coreProperties>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Start by greeting the panel and audience.</a:t>
            </a:r>
          </a:p>
          <a:p>
            <a:r>
              <a:rPr lang="en-US" dirty="0" sz="1200"/>
              <a:t>Say: 'Good morning/afternoon. We are Cart Jeuiel Agno, Aira Mae Pilor, and Christian Eduard Ylagan, from BS Computer Engineering. Our study is called SnoozeGuard — a system that uses a smartphone camera to detect if a driver is getting sleepy, and alerts them before anything bad happens.'</a:t>
            </a:r>
          </a:p>
          <a:p>
            <a:r>
              <a:rPr lang="en-US" dirty="0" sz="1200"/>
              <a:t>Keep your tone calm and confident. You may briefly mention your adviser, Engr. Jezer Ilao.</a:t>
            </a:r>
          </a:p>
          <a:p>
            <a:r>
              <a:rPr lang="en-US" dirty="0" sz="1200"/>
              <a:t>Wait for the audience to settle before moving to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This is your road map. Briefly tell the panel what you will cover.</a:t>
            </a:r>
          </a:p>
          <a:p>
            <a:r>
              <a:rPr lang="en-US" dirty="0" sz="1200"/>
              <a:t>Say: 'We will start with the background and the problem we are solving, then walk through how the system works, explain our methodology, and end with the results and our conclusions.'</a:t>
            </a:r>
          </a:p>
          <a:p>
            <a:r>
              <a:rPr lang="en-US" dirty="0" sz="1200"/>
              <a:t>You do not need to explain each item in detail here — just give them an idea of where the talk is going.</a:t>
            </a:r>
          </a:p>
          <a:p>
            <a:r>
              <a:rPr lang="en-US" dirty="0" sz="1200"/>
              <a:t>This slide should take about 30 seconds.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This slide explains why the study is important. Start with the global problem, then bring it closer to home.</a:t>
            </a:r>
          </a:p>
          <a:p>
            <a:r>
              <a:rPr lang="en-US" dirty="0" sz="1200"/>
              <a:t>Say: 'Drowsy driving is a serious problem. Studies show it causes about 20% of all highway accidents. The World Health Organization even lists road injuries as the 8th leading cause of death worldwide.'</a:t>
            </a:r>
          </a:p>
          <a:p>
            <a:r>
              <a:rPr lang="en-US" dirty="0" sz="1200"/>
              <a:t>Then say: 'Here in the Philippines, the LTO has reported that driver inattention and fatigue are among the top causes of road accidents.'</a:t>
            </a:r>
          </a:p>
          <a:p>
            <a:r>
              <a:rPr lang="en-US" dirty="0" sz="1200"/>
              <a:t>Point to the last bullet: 'The big gap is this — no affordable system combines real-time detection, a physical alert device, and emergency contact notification all in one. That is the gap SnoozeGuard fills.'</a:t>
            </a:r>
          </a:p>
          <a:p>
            <a:r>
              <a:rPr lang="en-US" dirty="0" sz="1200"/>
              <a:t>Speak slowly and clearly on this slide. This is where you hook the audience.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These are the five specific questions the study answered. Read each one clearly.</a:t>
            </a:r>
          </a:p>
          <a:p>
            <a:r>
              <a:rPr lang="en-US" dirty="0" sz="1200"/>
              <a:t>Question 1 is about detection — can a phone camera detect drowsiness accurately?</a:t>
            </a:r>
          </a:p>
          <a:p>
            <a:r>
              <a:rPr lang="en-US" dirty="0" sz="1200"/>
              <a:t>Question 2 is about the scoring model — how do we measure HOW drowsy the driver is on a scale?</a:t>
            </a:r>
          </a:p>
          <a:p>
            <a:r>
              <a:rPr lang="en-US" dirty="0" sz="1200"/>
              <a:t>Question 3 is about the IoT device — can a small physical device give extra alerts?</a:t>
            </a:r>
          </a:p>
          <a:p>
            <a:r>
              <a:rPr lang="en-US" dirty="0" sz="1200"/>
              <a:t>Question 4 is about the emergency system — can the system still notify someone even without internet?</a:t>
            </a:r>
          </a:p>
          <a:p>
            <a:r>
              <a:rPr lang="en-US" dirty="0" sz="1200"/>
              <a:t>Question 5 is about quality — does the system meet international software quality standards?</a:t>
            </a:r>
          </a:p>
          <a:p>
            <a:r>
              <a:rPr lang="en-US" dirty="0" sz="1200"/>
              <a:t>You can say: 'These five questions guided everything we built.'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The general objective is at the top — develop and evaluate SnoozeGuard as a working prototype.</a:t>
            </a:r>
          </a:p>
          <a:p>
            <a:r>
              <a:rPr lang="en-US" dirty="0" sz="1200"/>
              <a:t>For the specific objectives, you do not need to read them word for word. Instead, summarize them in plain language.</a:t>
            </a:r>
          </a:p>
          <a:p>
            <a:r>
              <a:rPr lang="en-US" dirty="0" sz="1200"/>
              <a:t>Say: 'We had six specific goals. First, detect drowsiness from yawning, head nodding, tilting, and sudden braking. Second, build a 10-level scoring system for how sleepy the driver is. Third, create a physical IoT device that gives audio, vibration, and light alerts. Fourth, build an emergency notification system using push notifications and SMS. Fifth, make the app work even without internet. And sixth, test the whole system using the ISO standard for software quality.'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This is the big picture of how everything connects.</a:t>
            </a:r>
          </a:p>
          <a:p>
            <a:r>
              <a:rPr lang="en-US" dirty="0" sz="1200"/>
              <a:t>Point to each part as you explain: 'The driver uses either the mobile app on Android or the web dashboard on a browser. The mobile app is the main one.'</a:t>
            </a:r>
          </a:p>
          <a:p>
            <a:r>
              <a:rPr lang="en-US" dirty="0" sz="1200"/>
              <a:t>'The app sends commands to the IoT alert device — a small ESP32 gadget — through WiFi using a protocol called MQTT, or through Bluetooth if WiFi is not available.'</a:t>
            </a:r>
          </a:p>
          <a:p>
            <a:r>
              <a:rPr lang="en-US" dirty="0" sz="1200"/>
              <a:t>'Everything is backed up to the cloud using Supabase, which stores the session data, handles logins, and sends real-time updates.'</a:t>
            </a:r>
          </a:p>
          <a:p>
            <a:r>
              <a:rPr lang="en-US" dirty="0" sz="1200"/>
              <a:t>'SMS alerts go through PhilSMS, which is a Philippine SMS gateway — so emergency messages are delivered through local carriers.'</a:t>
            </a:r>
          </a:p>
          <a:p>
            <a:r>
              <a:rPr lang="en-US" dirty="0" sz="1200"/>
              <a:t>Keep this explanation simple. The panel may ask about specific parts — be ready.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This slide explains how the phone detects drowsiness. Keep your explanation simple.</a:t>
            </a:r>
          </a:p>
          <a:p>
            <a:r>
              <a:rPr lang="en-US" dirty="0" sz="1200"/>
              <a:t>Say: 'We use Google's MediaPipe, which is an AI model that reads 478 points on the face from the camera, 60 times per second on mobile.'</a:t>
            </a:r>
          </a:p>
          <a:p>
            <a:r>
              <a:rPr lang="en-US" dirty="0" sz="1200"/>
              <a:t>For yawn detection: 'When the jawOpen value goes above 0.70, that means the mouth is wide open — a yawn. Once it closes again, we count it as one yawn event.'</a:t>
            </a:r>
          </a:p>
          <a:p>
            <a:r>
              <a:rPr lang="en-US" dirty="0" sz="1200"/>
              <a:t>For head nodding: 'The model also tracks where the head is pointing. If the head drops forward or tilts sideways past a certain angle, that is counted as a head movement event.'</a:t>
            </a:r>
          </a:p>
          <a:p>
            <a:r>
              <a:rPr lang="en-US" dirty="0" sz="1200"/>
              <a:t>For sustained tilt: 'If the driver tilts their head for more than 10 seconds continuously, the system automatically fires a level 8 alert — that is a serious sign of drowsiness.'</a:t>
            </a:r>
          </a:p>
          <a:p>
            <a:r>
              <a:rPr lang="en-US" dirty="0" sz="1200"/>
              <a:t>For braking: 'The phone's accelerometer detects sudden braking — a sign of near-miss or panic stop, which is related to fatigue.'</a:t>
            </a:r>
          </a:p>
          <a:p>
            <a:r>
              <a:rPr lang="en-US" dirty="0" sz="1200"/>
              <a:t>All four signals are combined to compute the drowsiness level from 0 to 10.</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This slide shows how the alerts get stronger as the driver gets more drowsy.</a:t>
            </a:r>
          </a:p>
          <a:p>
            <a:r>
              <a:rPr lang="en-US" dirty="0" sz="1200"/>
              <a:t>Say: 'Think of it like a warning scale. At levels 1 and 2, the app just says a voice reminder. At levels 3 to 5, it adds vibration and an alarm sound. At levels 6 to 8, the IoT device lights up, vibrates, and plays an audio track. At levels 9 and 10, the system also starts a 120-second countdown to notify the emergency contact.'</a:t>
            </a:r>
          </a:p>
          <a:p>
            <a:r>
              <a:rPr lang="en-US" dirty="0" sz="1200"/>
              <a:t>Point out the dismiss guard at the bottom: 'Once the driver dismisses an alert at a certain level, the same level will not fire again in that session — it only escalates if the drowsiness gets worse.'</a:t>
            </a:r>
          </a:p>
          <a:p>
            <a:r>
              <a:rPr lang="en-US" dirty="0" sz="1200"/>
              <a:t>This graduated approach means the driver is not suddenly hit with a loud alarm — it builds up, giving them a chance to respond early.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This is the physical IoT device we built. Describe it as a small gadget the driver can place on the dashboard.</a:t>
            </a:r>
          </a:p>
          <a:p>
            <a:r>
              <a:rPr lang="en-US" dirty="0" sz="1200"/>
              <a:t>Say: 'The device is built around an ESP32 microcontroller — a small, affordable chip with built-in WiFi and Bluetooth. It costs roughly $5 to $10.'</a:t>
            </a:r>
          </a:p>
          <a:p>
            <a:r>
              <a:rPr lang="en-US" dirty="0" sz="1200"/>
              <a:t>'Inside the device, there is a DFPlayer Mini module that plays MP3 audio files from a memory card. There is also a buzzer, two LED lights, and a physical dismiss button.'</a:t>
            </a:r>
          </a:p>
          <a:p>
            <a:r>
              <a:rPr lang="en-US" dirty="0" sz="1200"/>
              <a:t>Walk through the table: 'At level 6, it plays a short audio and pulses the LED three times. As the level goes up, the pulses get longer and more intense. At levels 9 and 10, everything runs continuously until the driver presses the dismiss button.'</a:t>
            </a:r>
          </a:p>
          <a:p>
            <a:r>
              <a:rPr lang="en-US" dirty="0" sz="1200"/>
              <a:t>Point to the dismiss button logic: 'When the driver presses the button on the device, it sends a signal through WiFi to the cloud, and the mobile app receives it instantly and stops the alert.'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This slide explains how the IoT device talks to the cloud and the phone.</a:t>
            </a:r>
          </a:p>
          <a:p>
            <a:r>
              <a:rPr lang="en-US" dirty="0" sz="1200"/>
              <a:t>Say: 'The main connection is WiFi. The device subscribes to a topic on our MQTT broker — HiveMQ Cloud — and listens for commands. When the app sends an alert, the cloud pushes it to the device immediately.'</a:t>
            </a:r>
          </a:p>
          <a:p>
            <a:r>
              <a:rPr lang="en-US" dirty="0" sz="1200"/>
              <a:t>'If WiFi is not available, the device switches to Bluetooth. The phone can send commands directly to the device via Bluetooth Low Energy, so alerts still work even without internet.'</a:t>
            </a:r>
          </a:p>
          <a:p>
            <a:r>
              <a:rPr lang="en-US" dirty="0" sz="1200"/>
              <a:t>Point to the heartbeat: 'Every 5 seconds, the device sends a small ping to the server. This is how we know if the device is online or offline in real time.'</a:t>
            </a:r>
          </a:p>
          <a:p>
            <a:r>
              <a:rPr lang="en-US" dirty="0" sz="1200"/>
              <a:t>Keep this simple — just say the device works through WiFi primarily, and Bluetooth as a backup.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This slide shows what happens when the driver reaches a critical drowsiness level and does not dismiss the alert.</a:t>
            </a:r>
          </a:p>
          <a:p>
            <a:r>
              <a:rPr lang="en-US" dirty="0" sz="1200"/>
              <a:t>Walk through each step clearly:</a:t>
            </a:r>
          </a:p>
          <a:p>
            <a:r>
              <a:rPr lang="en-US" dirty="0" sz="1200"/>
              <a:t>Step 1: Driver reaches level 9 or 10 — the alert modal opens on screen.</a:t>
            </a:r>
          </a:p>
          <a:p>
            <a:r>
              <a:rPr lang="en-US" dirty="0" sz="1200"/>
              <a:t>Step 2: A 120-second countdown starts. On the web version, it is 30 seconds.</a:t>
            </a:r>
          </a:p>
          <a:p>
            <a:r>
              <a:rPr lang="en-US" dirty="0" sz="1200"/>
              <a:t>Step 3: If the driver does not tap dismiss before the timer runs out, the emergency pipeline fires.</a:t>
            </a:r>
          </a:p>
          <a:p>
            <a:r>
              <a:rPr lang="en-US" dirty="0" sz="1200"/>
              <a:t>Step 4: The app captures the driver's GPS location.</a:t>
            </a:r>
          </a:p>
          <a:p>
            <a:r>
              <a:rPr lang="en-US" dirty="0" sz="1200"/>
              <a:t>Step 5: A push notification is sent to the emergency contact's phone.</a:t>
            </a:r>
          </a:p>
          <a:p>
            <a:r>
              <a:rPr lang="en-US" dirty="0" sz="1200"/>
              <a:t>Step 6: If SMS is enabled in the admin settings, an SMS is also sent through PhilSMS.</a:t>
            </a:r>
          </a:p>
          <a:p>
            <a:r>
              <a:rPr lang="en-US" dirty="0" sz="1200"/>
              <a:t>Step 7: The guardian can open the app, see the driver's location on a map, and respond.</a:t>
            </a:r>
          </a:p>
          <a:p>
            <a:r>
              <a:rPr lang="en-US" dirty="0" sz="1200"/>
              <a:t>Say: 'This is the closed-loop feature that makes SnoozeGuard different from other apps — it does not just alert the driver, it also alerts someone who can help.'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This slide explains how the app keeps working even without internet — which is important in the Philippines where signal is not always reliable.</a:t>
            </a:r>
          </a:p>
          <a:p>
            <a:r>
              <a:rPr lang="en-US" dirty="0" sz="1200"/>
              <a:t>Say: 'All session data is saved directly to the phone's local storage first — we call this SQLite. This happens instantly, no internet needed.'</a:t>
            </a:r>
          </a:p>
          <a:p>
            <a:r>
              <a:rPr lang="en-US" dirty="0" sz="1200"/>
              <a:t>'When the phone gets internet back, the app automatically syncs everything to the cloud in the background. The user does not have to do anything.'</a:t>
            </a:r>
          </a:p>
          <a:p>
            <a:r>
              <a:rPr lang="en-US" dirty="0" sz="1200"/>
              <a:t>Point to the auth fallback: 'Even login works offline. If the app cannot reach the server, it reads the saved login from local storage — so the driver can still start a session.'</a:t>
            </a:r>
          </a:p>
          <a:p>
            <a:r>
              <a:rPr lang="en-US" dirty="0" sz="1200"/>
              <a:t>This is important for the panel — it shows the system was designed for real-world conditions, not just ideal internet environments.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This slide explains how the system was built and how it was evaluated.</a:t>
            </a:r>
          </a:p>
          <a:p>
            <a:r>
              <a:rPr lang="en-US" dirty="0" sz="1200"/>
              <a:t>Say: 'We used an Iterative SDLC approach — which means we built the system step by step, testing each part before moving to the next. We had 8 phases from January to April 2025.'</a:t>
            </a:r>
          </a:p>
          <a:p>
            <a:r>
              <a:rPr lang="en-US" dirty="0" sz="1200"/>
              <a:t>Walk through the phases briefly: 'Phase 1 was planning, Phase 2 and 3 were building the mobile app, Phase 4 was the web dashboard, Phase 5 was the IoT firmware, Phase 6 was integration testing, Phase 7 was the survey with respondents, and Phase 8 was documentation.'</a:t>
            </a:r>
          </a:p>
          <a:p>
            <a:r>
              <a:rPr lang="en-US" dirty="0" sz="1200"/>
              <a:t>For the evaluation: 'We used ISO/IEC 25010 — an international standard for measuring software quality. It has 8 categories. We gave a 66-item questionnaire to 29 respondents.'</a:t>
            </a:r>
          </a:p>
          <a:p>
            <a:r>
              <a:rPr lang="en-US" dirty="0" sz="1200"/>
              <a:t>Say: 'Respondents were active drivers who evaluated the system using our physical driving simulator.'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This slide shows the driving simulator the team built.</a:t>
            </a:r>
          </a:p>
          <a:p>
            <a:r>
              <a:rPr lang="en-US" dirty="0" sz="1200"/>
              <a:t>Say: 'Because we could not use a real road for testing, we built our own driving simulator. It uses a real car seat, a Logitech steering wheel with force feedback, actual pedals, and a phone mount in front of the driver's face.'</a:t>
            </a:r>
          </a:p>
          <a:p>
            <a:r>
              <a:rPr lang="en-US" dirty="0" sz="1200"/>
              <a:t>'Every respondent sat in this simulator, used the system, and then answered the questionnaire. This made sure their ratings were based on real experience, not just guessing.'</a:t>
            </a:r>
          </a:p>
          <a:p>
            <a:r>
              <a:rPr lang="en-US" dirty="0" sz="1200"/>
              <a:t>You can mention: 'The phone mount is positioned 60 to 80 centimeters from the driver's face — the same distance as in a real car. This made sure MediaPipe could detect the face properly.'</a:t>
            </a:r>
          </a:p>
          <a:p>
            <a:r>
              <a:rPr lang="en-US" dirty="0" sz="1200"/>
              <a:t>If the panel asks why you built this instead of testing in a real car, say: 'Safety and control — we needed a consistent, controlled environment for all 29 respondents.'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This is the main results table. Walk through it clearly.</a:t>
            </a:r>
          </a:p>
          <a:p>
            <a:r>
              <a:rPr lang="en-US" dirty="0" sz="1200"/>
              <a:t>Say: 'We evaluated SnoozeGuard across all 8 quality characteristics of ISO/IEC 25010. All 8 got a Very Satisfactory rating.'</a:t>
            </a:r>
          </a:p>
          <a:p>
            <a:r>
              <a:rPr lang="en-US" dirty="0" sz="1200"/>
              <a:t>Highlight the top scores: 'The highest score was Performance Efficiency at 4.11 — meaning the system responds quickly and smoothly. Portability also scored well at 4.07, meaning it works across different Android phones and browsers.'</a:t>
            </a:r>
          </a:p>
          <a:p>
            <a:r>
              <a:rPr lang="en-US" dirty="0" sz="1200"/>
              <a:t>For the lower scores: 'Usability scored 3.90 and Reliability 3.91 — still Very Satisfactory, but these are areas we can improve. Some respondents found the drowsiness level display a bit hard to read at a glance, and face detection can be affected by lighting conditions.'</a:t>
            </a:r>
          </a:p>
          <a:p>
            <a:r>
              <a:rPr lang="en-US" dirty="0" sz="1200"/>
              <a:t>End with: 'The Grand Mean is 4.01 — Very Satisfactory. This means the system met the quality standards expected of a working prototype.'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These are your six main conclusions. Speak confidently — these are the answers to your five research questions.</a:t>
            </a:r>
          </a:p>
          <a:p>
            <a:r>
              <a:rPr lang="en-US" dirty="0" sz="1200"/>
              <a:t>Conclusion 1 answers question 1: Yes, a smartphone camera can reliably detect drowsiness using multiple signals.</a:t>
            </a:r>
          </a:p>
          <a:p>
            <a:r>
              <a:rPr lang="en-US" dirty="0" sz="1200"/>
              <a:t>Conclusion 2 answers question 2: The 10-level model gives proportional alerts that avoid over-alarming the driver.</a:t>
            </a:r>
          </a:p>
          <a:p>
            <a:r>
              <a:rPr lang="en-US" dirty="0" sz="1200"/>
              <a:t>Conclusion 3 answers question 3: The ESP32 IoT device works — it extends alerts beyond the phone screen using both WiFi and Bluetooth.</a:t>
            </a:r>
          </a:p>
          <a:p>
            <a:r>
              <a:rPr lang="en-US" dirty="0" sz="1200"/>
              <a:t>Conclusion 4 answers question 4: The emergency pipeline works — push notification and SMS reach the guardian when the driver is unresponsive.</a:t>
            </a:r>
          </a:p>
          <a:p>
            <a:r>
              <a:rPr lang="en-US" dirty="0" sz="1200"/>
              <a:t>Conclusion 5 is about offline mode — SQLite ensures the app works even in areas with no signal.</a:t>
            </a:r>
          </a:p>
          <a:p>
            <a:r>
              <a:rPr lang="en-US" dirty="0" sz="1200"/>
              <a:t>Conclusion 6 answers question 5: Grand Mean 4.01, Very Satisfactory — the system meets software quality requirements.</a:t>
            </a:r>
          </a:p>
          <a:p>
            <a:r>
              <a:rPr lang="en-US" dirty="0" sz="1200"/>
              <a:t>Speak slowly and clearly here. The panel will be listening carefully to your conclusions.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These are suggestions for future researchers or for the next version of SnoozeGuard.</a:t>
            </a:r>
          </a:p>
          <a:p>
            <a:r>
              <a:rPr lang="en-US" dirty="0" sz="1200"/>
              <a:t>You do not need to go into deep detail here. Briefly mention each one:</a:t>
            </a:r>
          </a:p>
          <a:p>
            <a:r>
              <a:rPr lang="en-US" dirty="0" sz="1200"/>
              <a:t>Field Validation — test the system in real driving conditions, not just the simulator.</a:t>
            </a:r>
          </a:p>
          <a:p>
            <a:r>
              <a:rPr lang="en-US" dirty="0" sz="1200"/>
              <a:t>Eye Closure — add PERCLOS eye tracking as an extra signal for better accuracy.</a:t>
            </a:r>
          </a:p>
          <a:p>
            <a:r>
              <a:rPr lang="en-US" dirty="0" sz="1200"/>
              <a:t>OBD-II — connect to the car's computer for speed and lane data.</a:t>
            </a:r>
          </a:p>
          <a:p>
            <a:r>
              <a:rPr lang="en-US" dirty="0" sz="1200"/>
              <a:t>Certification — get the system certified as a proper safety tool.</a:t>
            </a:r>
          </a:p>
          <a:p>
            <a:r>
              <a:rPr lang="en-US" dirty="0" sz="1200"/>
              <a:t>Multi-Language — add Filipino language alerts and interface.</a:t>
            </a:r>
          </a:p>
          <a:p>
            <a:r>
              <a:rPr lang="en-US" dirty="0" sz="1200"/>
              <a:t>Fleet Dashboard — let companies monitor multiple drivers at once.</a:t>
            </a:r>
          </a:p>
          <a:p>
            <a:r>
              <a:rPr lang="en-US" dirty="0" sz="1200"/>
              <a:t>Battery Optimization — reduce phone battery drain during long sessions.</a:t>
            </a:r>
          </a:p>
          <a:p>
            <a:r>
              <a:rPr lang="en-US" dirty="0" sz="1200"/>
              <a:t>Say: 'These are areas we would like to see improved in future work.'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Thank the panel and audience for their time.</a:t>
            </a:r>
          </a:p>
          <a:p>
            <a:r>
              <a:rPr lang="en-US" dirty="0" sz="1200"/>
              <a:t>Say: 'Thank you for listening. We are now open for any questions or clarifications.'</a:t>
            </a:r>
          </a:p>
          <a:p>
            <a:r>
              <a:rPr lang="en-US" dirty="0" sz="1200"/>
              <a:t>Remind your teammates to be ready for their parts of the Q&amp;A:</a:t>
            </a:r>
          </a:p>
          <a:p>
            <a:r>
              <a:rPr lang="en-US" dirty="0" sz="1200"/>
              <a:t>- Agno: Ready to answer questions about the detection algorithm and IoT firmware.</a:t>
            </a:r>
          </a:p>
          <a:p>
            <a:r>
              <a:rPr lang="en-US" dirty="0" sz="1200"/>
              <a:t>- Pilor: Ready to answer questions about the mobile app, emergency system, and evaluation results.</a:t>
            </a:r>
          </a:p>
          <a:p>
            <a:r>
              <a:rPr lang="en-US" dirty="0" sz="1200"/>
              <a:t>- Ylagan: Ready to answer questions about the system architecture, web dashboard, and cloud backend.</a:t>
            </a:r>
          </a:p>
          <a:p>
            <a:r>
              <a:rPr lang="en-US" dirty="0" sz="1200"/>
              <a:t>Stay calm during Q&amp;A. If you are not sure about an answer, it is okay to say 'We will look into that further' or ask your teammates.</a:t>
            </a:r>
          </a:p>
          <a:p>
            <a:r>
              <a:rPr lang="en-US" dirty="0" sz="1200"/>
              <a:t>If the panel asks about a specific slide, go back to it — do not try to answer everything from memory.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presProps.xml><?xml version="1.0" encoding="utf-8"?>
<p:presentationPr xmlns:a="http://schemas.openxmlformats.org/drawingml/2006/main" xmlns:r="http://schemas.openxmlformats.org/officeDocument/2006/relationships" xmlns:p="http://schemas.openxmlformats.org/presentationml/2006/main"/>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B2A4A"/>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Shape 3"/>
          <p:cNvSpPr/>
          <p:nvPr/>
        </p:nvSpPr>
        <p:spPr>
          <a:xfrm>
            <a:off x="0" y="0"/>
            <a:ext cx="12192000" cy="6858000"/>
          </a:xfrm>
          <a:prstGeom prst="rect">
            <a:avLst/>
          </a:prstGeom>
          <a:solidFill>
            <a:srgbClr val="1B2A4A"/>
          </a:solidFill>
          <a:ln/>
        </p:spPr>
      </p:sp>
      <p:sp>
        <p:nvSpPr>
          <p:cNvPr id="6" name="Shape 4"/>
          <p:cNvSpPr/>
          <p:nvPr/>
        </p:nvSpPr>
        <p:spPr>
          <a:xfrm>
            <a:off x="0" y="0"/>
            <a:ext cx="109728" cy="6858000"/>
          </a:xfrm>
          <a:prstGeom prst="rect">
            <a:avLst/>
          </a:prstGeom>
          <a:solidFill>
            <a:srgbClr val="2563EB"/>
          </a:solidFill>
          <a:ln/>
        </p:spPr>
      </p:sp>
      <p:sp>
        <p:nvSpPr>
          <p:cNvPr id="7" name="Shape 5"/>
          <p:cNvSpPr/>
          <p:nvPr/>
        </p:nvSpPr>
        <p:spPr>
          <a:xfrm>
            <a:off x="0" y="0"/>
            <a:ext cx="12192000" cy="73152"/>
          </a:xfrm>
          <a:prstGeom prst="rect">
            <a:avLst/>
          </a:prstGeom>
          <a:solidFill>
            <a:srgbClr val="38BDF8"/>
          </a:solidFill>
          <a:ln/>
        </p:spPr>
      </p:sp>
      <p:sp>
        <p:nvSpPr>
          <p:cNvPr id="8" name="Shape 6"/>
          <p:cNvSpPr/>
          <p:nvPr/>
        </p:nvSpPr>
        <p:spPr>
          <a:xfrm>
            <a:off x="0" y="6784848"/>
            <a:ext cx="12192000" cy="73152"/>
          </a:xfrm>
          <a:prstGeom prst="rect">
            <a:avLst/>
          </a:prstGeom>
          <a:solidFill>
            <a:srgbClr val="38BDF8"/>
          </a:solidFill>
          <a:ln/>
        </p:spPr>
      </p:sp>
      <p:sp>
        <p:nvSpPr>
          <p:cNvPr id="9" name="Text 7"/>
          <p:cNvSpPr/>
          <p:nvPr/>
        </p:nvSpPr>
        <p:spPr>
          <a:xfrm>
            <a:off x="457200" y="822960"/>
            <a:ext cx="11274552" cy="1005840"/>
          </a:xfrm>
          <a:prstGeom prst="rect">
            <a:avLst/>
          </a:prstGeom>
          <a:noFill/>
          <a:ln/>
        </p:spPr>
        <p:txBody>
          <a:bodyPr wrap="square" rtlCol="0" anchor="ctr"/>
          <a:lstStyle/>
          <a:p>
            <a:pPr algn="ctr" indent="0" marL="0">
              <a:buNone/>
            </a:pPr>
            <a:r>
              <a:rPr lang="en-US" sz="5400" b="1" dirty="0">
                <a:solidFill>
                  <a:srgbClr val="FFFFFF"/>
                </a:solidFill>
                <a:latin typeface="Calibri" pitchFamily="34" charset="0"/>
                <a:ea typeface="Calibri" pitchFamily="34" charset="-122"/>
                <a:cs typeface="Calibri" pitchFamily="34" charset="-120"/>
              </a:rPr>
              <a:t>SnoozeGuard</a:t>
            </a:r>
            <a:endParaRPr lang="en-US" sz="5400" dirty="0"/>
          </a:p>
        </p:txBody>
      </p:sp>
      <p:sp>
        <p:nvSpPr>
          <p:cNvPr id="10" name="Text 8"/>
          <p:cNvSpPr/>
          <p:nvPr/>
        </p:nvSpPr>
        <p:spPr>
          <a:xfrm>
            <a:off x="457200" y="1828800"/>
            <a:ext cx="11274552" cy="914400"/>
          </a:xfrm>
          <a:prstGeom prst="rect">
            <a:avLst/>
          </a:prstGeom>
          <a:noFill/>
          <a:ln/>
        </p:spPr>
        <p:txBody>
          <a:bodyPr wrap="square" rtlCol="0" anchor="ctr"/>
          <a:lstStyle/>
          <a:p>
            <a:pPr algn="ctr" indent="0" marL="0">
              <a:buNone/>
            </a:pPr>
            <a:r>
              <a:rPr lang="en-US" sz="2000" dirty="0">
                <a:solidFill>
                  <a:srgbClr val="38BDF8"/>
                </a:solidFill>
                <a:latin typeface="Calibri" pitchFamily="34" charset="0"/>
                <a:ea typeface="Calibri" pitchFamily="34" charset="-122"/>
                <a:cs typeface="Calibri" pitchFamily="34" charset="-120"/>
              </a:rPr>
              <a:t>Prototype Development of an AI-Driven</a:t>
            </a:r>
            <a:endParaRPr lang="en-US" sz="2000" dirty="0"/>
          </a:p>
          <a:p>
            <a:pPr algn="ctr" indent="0" marL="0">
              <a:buNone/>
            </a:pPr>
            <a:r>
              <a:rPr lang="en-US" sz="2000" dirty="0">
                <a:solidFill>
                  <a:srgbClr val="38BDF8"/>
                </a:solidFill>
                <a:latin typeface="Calibri" pitchFamily="34" charset="0"/>
                <a:ea typeface="Calibri" pitchFamily="34" charset="-122"/>
                <a:cs typeface="Calibri" pitchFamily="34" charset="-120"/>
              </a:rPr>
              <a:t>Real-Time Drowsiness Monitoring System for Road Safety</a:t>
            </a:r>
            <a:endParaRPr lang="en-US" sz="2000" dirty="0"/>
          </a:p>
        </p:txBody>
      </p:sp>
      <p:sp>
        <p:nvSpPr>
          <p:cNvPr id="11" name="Shape 9"/>
          <p:cNvSpPr/>
          <p:nvPr/>
        </p:nvSpPr>
        <p:spPr>
          <a:xfrm>
            <a:off x="3200400" y="2880360"/>
            <a:ext cx="5788152" cy="0"/>
          </a:xfrm>
          <a:prstGeom prst="line">
            <a:avLst/>
          </a:prstGeom>
          <a:noFill/>
          <a:ln w="19050">
            <a:solidFill>
              <a:srgbClr val="2563EB"/>
            </a:solidFill>
            <a:prstDash val="solid"/>
          </a:ln>
        </p:spPr>
      </p:sp>
      <p:sp>
        <p:nvSpPr>
          <p:cNvPr id="12" name="Text 10"/>
          <p:cNvSpPr/>
          <p:nvPr/>
        </p:nvSpPr>
        <p:spPr>
          <a:xfrm>
            <a:off x="457200" y="3063240"/>
            <a:ext cx="11274552" cy="365760"/>
          </a:xfrm>
          <a:prstGeom prst="rect">
            <a:avLst/>
          </a:prstGeom>
          <a:noFill/>
          <a:ln/>
        </p:spPr>
        <p:txBody>
          <a:bodyPr wrap="square"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Cart Jeuiel T. Agno  ·  Aira Mae T. Pilor  ·  Christian Eduard B. Ylagan Jr.</a:t>
            </a:r>
            <a:endParaRPr lang="en-US" sz="1400" dirty="0"/>
          </a:p>
        </p:txBody>
      </p:sp>
      <p:sp>
        <p:nvSpPr>
          <p:cNvPr id="13" name="Text 11"/>
          <p:cNvSpPr/>
          <p:nvPr/>
        </p:nvSpPr>
        <p:spPr>
          <a:xfrm>
            <a:off x="457200" y="3493008"/>
            <a:ext cx="11274552" cy="320040"/>
          </a:xfrm>
          <a:prstGeom prst="rect">
            <a:avLst/>
          </a:prstGeom>
          <a:noFill/>
          <a:ln/>
        </p:spPr>
        <p:txBody>
          <a:bodyPr wrap="square" rtlCol="0" anchor="ctr"/>
          <a:lstStyle/>
          <a:p>
            <a:pPr algn="ctr" indent="0" marL="0">
              <a:buNone/>
            </a:pPr>
            <a:r>
              <a:rPr lang="en-US" sz="1300" dirty="0">
                <a:solidFill>
                  <a:srgbClr val="38BDF8"/>
                </a:solidFill>
                <a:latin typeface="Calibri" pitchFamily="34" charset="0"/>
                <a:ea typeface="Calibri" pitchFamily="34" charset="-122"/>
                <a:cs typeface="Calibri" pitchFamily="34" charset="-120"/>
              </a:rPr>
              <a:t>Research Adviser: Engr. Jezer E. Ilao</a:t>
            </a:r>
            <a:endParaRPr lang="en-US" sz="1300" dirty="0"/>
          </a:p>
        </p:txBody>
      </p:sp>
      <p:sp>
        <p:nvSpPr>
          <p:cNvPr id="14" name="Text 12"/>
          <p:cNvSpPr/>
          <p:nvPr/>
        </p:nvSpPr>
        <p:spPr>
          <a:xfrm>
            <a:off x="457200" y="6309360"/>
            <a:ext cx="11274552" cy="320040"/>
          </a:xfrm>
          <a:prstGeom prst="rect">
            <a:avLst/>
          </a:prstGeom>
          <a:noFill/>
          <a:ln/>
        </p:spPr>
        <p:txBody>
          <a:bodyPr wrap="square"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Divine Word College of Calapan  ·  School of Engineering  ·  BS Computer Engineering  ·  2025–2026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FFFFF"/>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Text 3"/>
          <p:cNvSpPr/>
          <p:nvPr/>
        </p:nvSpPr>
        <p:spPr>
          <a:xfrm>
            <a:off x="457200" y="274320"/>
            <a:ext cx="11274552" cy="548640"/>
          </a:xfrm>
          <a:prstGeom prst="rect">
            <a:avLst/>
          </a:prstGeom>
          <a:noFill/>
          <a:ln/>
        </p:spPr>
        <p:txBody>
          <a:bodyPr wrap="square" rtlCol="0" anchor="ctr"/>
          <a:lstStyle/>
          <a:p>
            <a:pPr indent="0" marL="0">
              <a:buNone/>
            </a:pPr>
            <a:r>
              <a:rPr lang="en-US" sz="2800" b="1" dirty="0">
                <a:solidFill>
                  <a:srgbClr val="1B2A4A"/>
                </a:solidFill>
                <a:latin typeface="Calibri" pitchFamily="34" charset="0"/>
                <a:ea typeface="Calibri" pitchFamily="34" charset="-122"/>
                <a:cs typeface="Calibri" pitchFamily="34" charset="-120"/>
              </a:rPr>
              <a:t>Presentation Outline</a:t>
            </a:r>
            <a:endParaRPr lang="en-US" sz="2800" dirty="0"/>
          </a:p>
        </p:txBody>
      </p:sp>
      <p:sp>
        <p:nvSpPr>
          <p:cNvPr id="6" name="Shape 4"/>
          <p:cNvSpPr/>
          <p:nvPr/>
        </p:nvSpPr>
        <p:spPr>
          <a:xfrm>
            <a:off x="457200" y="960120"/>
            <a:ext cx="11274552" cy="0"/>
          </a:xfrm>
          <a:prstGeom prst="line">
            <a:avLst/>
          </a:prstGeom>
          <a:noFill/>
          <a:ln w="19050">
            <a:solidFill>
              <a:srgbClr val="38BDF8"/>
            </a:solidFill>
            <a:prstDash val="solid"/>
          </a:ln>
        </p:spPr>
      </p:sp>
      <p:sp>
        <p:nvSpPr>
          <p:cNvPr id="7" name="Shape 5"/>
          <p:cNvSpPr/>
          <p:nvPr/>
        </p:nvSpPr>
        <p:spPr>
          <a:xfrm>
            <a:off x="457200" y="1143000"/>
            <a:ext cx="502920" cy="502920"/>
          </a:xfrm>
          <a:prstGeom prst="rect">
            <a:avLst/>
          </a:prstGeom>
          <a:solidFill>
            <a:srgbClr val="2563EB"/>
          </a:solidFill>
          <a:ln w="12700">
            <a:solidFill>
              <a:srgbClr val="2563EB"/>
            </a:solidFill>
            <a:prstDash val="solid"/>
          </a:ln>
        </p:spPr>
      </p:sp>
      <p:sp>
        <p:nvSpPr>
          <p:cNvPr id="8" name="Text 6"/>
          <p:cNvSpPr/>
          <p:nvPr/>
        </p:nvSpPr>
        <p:spPr>
          <a:xfrm>
            <a:off x="457200" y="1143000"/>
            <a:ext cx="502920"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9" name="Text 7"/>
          <p:cNvSpPr/>
          <p:nvPr/>
        </p:nvSpPr>
        <p:spPr>
          <a:xfrm>
            <a:off x="1051560" y="1216152"/>
            <a:ext cx="5029200" cy="365760"/>
          </a:xfrm>
          <a:prstGeom prst="rect">
            <a:avLst/>
          </a:prstGeom>
          <a:noFill/>
          <a:ln/>
        </p:spPr>
        <p:txBody>
          <a:bodyPr wrap="square" rtlCol="0" anchor="ctr"/>
          <a:lstStyle/>
          <a:p>
            <a:pPr indent="0" marL="0">
              <a:buNone/>
            </a:pPr>
            <a:r>
              <a:rPr lang="en-US" sz="1400" dirty="0">
                <a:solidFill>
                  <a:srgbClr val="0F172A"/>
                </a:solidFill>
                <a:latin typeface="Calibri" pitchFamily="34" charset="0"/>
                <a:ea typeface="Calibri" pitchFamily="34" charset="-122"/>
                <a:cs typeface="Calibri" pitchFamily="34" charset="-120"/>
              </a:rPr>
              <a:t>Background &amp; Problem</a:t>
            </a:r>
            <a:endParaRPr lang="en-US" sz="1400" dirty="0"/>
          </a:p>
        </p:txBody>
      </p:sp>
      <p:sp>
        <p:nvSpPr>
          <p:cNvPr id="10" name="Shape 8"/>
          <p:cNvSpPr/>
          <p:nvPr/>
        </p:nvSpPr>
        <p:spPr>
          <a:xfrm>
            <a:off x="457200" y="2103120"/>
            <a:ext cx="502920" cy="502920"/>
          </a:xfrm>
          <a:prstGeom prst="rect">
            <a:avLst/>
          </a:prstGeom>
          <a:solidFill>
            <a:srgbClr val="2563EB"/>
          </a:solidFill>
          <a:ln w="12700">
            <a:solidFill>
              <a:srgbClr val="2563EB"/>
            </a:solidFill>
            <a:prstDash val="solid"/>
          </a:ln>
        </p:spPr>
      </p:sp>
      <p:sp>
        <p:nvSpPr>
          <p:cNvPr id="11" name="Text 9"/>
          <p:cNvSpPr/>
          <p:nvPr/>
        </p:nvSpPr>
        <p:spPr>
          <a:xfrm>
            <a:off x="457200" y="2103120"/>
            <a:ext cx="502920"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2" name="Text 10"/>
          <p:cNvSpPr/>
          <p:nvPr/>
        </p:nvSpPr>
        <p:spPr>
          <a:xfrm>
            <a:off x="1051560" y="2176272"/>
            <a:ext cx="5029200" cy="365760"/>
          </a:xfrm>
          <a:prstGeom prst="rect">
            <a:avLst/>
          </a:prstGeom>
          <a:noFill/>
          <a:ln/>
        </p:spPr>
        <p:txBody>
          <a:bodyPr wrap="square" rtlCol="0" anchor="ctr"/>
          <a:lstStyle/>
          <a:p>
            <a:pPr indent="0" marL="0">
              <a:buNone/>
            </a:pPr>
            <a:r>
              <a:rPr lang="en-US" sz="1400" dirty="0">
                <a:solidFill>
                  <a:srgbClr val="0F172A"/>
                </a:solidFill>
                <a:latin typeface="Calibri" pitchFamily="34" charset="0"/>
                <a:ea typeface="Calibri" pitchFamily="34" charset="-122"/>
                <a:cs typeface="Calibri" pitchFamily="34" charset="-120"/>
              </a:rPr>
              <a:t>Objectives of the Study</a:t>
            </a:r>
            <a:endParaRPr lang="en-US" sz="1400" dirty="0"/>
          </a:p>
        </p:txBody>
      </p:sp>
      <p:sp>
        <p:nvSpPr>
          <p:cNvPr id="13" name="Shape 11"/>
          <p:cNvSpPr/>
          <p:nvPr/>
        </p:nvSpPr>
        <p:spPr>
          <a:xfrm>
            <a:off x="457200" y="3063240"/>
            <a:ext cx="502920" cy="502920"/>
          </a:xfrm>
          <a:prstGeom prst="rect">
            <a:avLst/>
          </a:prstGeom>
          <a:solidFill>
            <a:srgbClr val="1B2A4A"/>
          </a:solidFill>
          <a:ln w="12700">
            <a:solidFill>
              <a:srgbClr val="1B2A4A"/>
            </a:solidFill>
            <a:prstDash val="solid"/>
          </a:ln>
        </p:spPr>
      </p:sp>
      <p:sp>
        <p:nvSpPr>
          <p:cNvPr id="14" name="Text 12"/>
          <p:cNvSpPr/>
          <p:nvPr/>
        </p:nvSpPr>
        <p:spPr>
          <a:xfrm>
            <a:off x="457200" y="3063240"/>
            <a:ext cx="502920"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5" name="Text 13"/>
          <p:cNvSpPr/>
          <p:nvPr/>
        </p:nvSpPr>
        <p:spPr>
          <a:xfrm>
            <a:off x="1051560" y="3136392"/>
            <a:ext cx="5029200" cy="365760"/>
          </a:xfrm>
          <a:prstGeom prst="rect">
            <a:avLst/>
          </a:prstGeom>
          <a:noFill/>
          <a:ln/>
        </p:spPr>
        <p:txBody>
          <a:bodyPr wrap="square" rtlCol="0" anchor="ctr"/>
          <a:lstStyle/>
          <a:p>
            <a:pPr indent="0" marL="0">
              <a:buNone/>
            </a:pPr>
            <a:r>
              <a:rPr lang="en-US" sz="1400" dirty="0">
                <a:solidFill>
                  <a:srgbClr val="0F172A"/>
                </a:solidFill>
                <a:latin typeface="Calibri" pitchFamily="34" charset="0"/>
                <a:ea typeface="Calibri" pitchFamily="34" charset="-122"/>
                <a:cs typeface="Calibri" pitchFamily="34" charset="-120"/>
              </a:rPr>
              <a:t>System Overview</a:t>
            </a:r>
            <a:endParaRPr lang="en-US" sz="1400" dirty="0"/>
          </a:p>
        </p:txBody>
      </p:sp>
      <p:sp>
        <p:nvSpPr>
          <p:cNvPr id="16" name="Shape 14"/>
          <p:cNvSpPr/>
          <p:nvPr/>
        </p:nvSpPr>
        <p:spPr>
          <a:xfrm>
            <a:off x="457200" y="4023360"/>
            <a:ext cx="502920" cy="502920"/>
          </a:xfrm>
          <a:prstGeom prst="rect">
            <a:avLst/>
          </a:prstGeom>
          <a:solidFill>
            <a:srgbClr val="1B2A4A"/>
          </a:solidFill>
          <a:ln w="12700">
            <a:solidFill>
              <a:srgbClr val="1B2A4A"/>
            </a:solidFill>
            <a:prstDash val="solid"/>
          </a:ln>
        </p:spPr>
      </p:sp>
      <p:sp>
        <p:nvSpPr>
          <p:cNvPr id="17" name="Text 15"/>
          <p:cNvSpPr/>
          <p:nvPr/>
        </p:nvSpPr>
        <p:spPr>
          <a:xfrm>
            <a:off x="457200" y="4023360"/>
            <a:ext cx="502920"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18" name="Text 16"/>
          <p:cNvSpPr/>
          <p:nvPr/>
        </p:nvSpPr>
        <p:spPr>
          <a:xfrm>
            <a:off x="1051560" y="4096512"/>
            <a:ext cx="5029200" cy="365760"/>
          </a:xfrm>
          <a:prstGeom prst="rect">
            <a:avLst/>
          </a:prstGeom>
          <a:noFill/>
          <a:ln/>
        </p:spPr>
        <p:txBody>
          <a:bodyPr wrap="square" rtlCol="0" anchor="ctr"/>
          <a:lstStyle/>
          <a:p>
            <a:pPr indent="0" marL="0">
              <a:buNone/>
            </a:pPr>
            <a:r>
              <a:rPr lang="en-US" sz="1400" dirty="0">
                <a:solidFill>
                  <a:srgbClr val="0F172A"/>
                </a:solidFill>
                <a:latin typeface="Calibri" pitchFamily="34" charset="0"/>
                <a:ea typeface="Calibri" pitchFamily="34" charset="-122"/>
                <a:cs typeface="Calibri" pitchFamily="34" charset="-120"/>
              </a:rPr>
              <a:t>Detection Algorithm</a:t>
            </a:r>
            <a:endParaRPr lang="en-US" sz="1400" dirty="0"/>
          </a:p>
        </p:txBody>
      </p:sp>
      <p:sp>
        <p:nvSpPr>
          <p:cNvPr id="19" name="Shape 17"/>
          <p:cNvSpPr/>
          <p:nvPr/>
        </p:nvSpPr>
        <p:spPr>
          <a:xfrm>
            <a:off x="457200" y="4983480"/>
            <a:ext cx="502920" cy="502920"/>
          </a:xfrm>
          <a:prstGeom prst="rect">
            <a:avLst/>
          </a:prstGeom>
          <a:solidFill>
            <a:srgbClr val="EA580C"/>
          </a:solidFill>
          <a:ln w="12700">
            <a:solidFill>
              <a:srgbClr val="EA580C"/>
            </a:solidFill>
            <a:prstDash val="solid"/>
          </a:ln>
        </p:spPr>
      </p:sp>
      <p:sp>
        <p:nvSpPr>
          <p:cNvPr id="20" name="Text 18"/>
          <p:cNvSpPr/>
          <p:nvPr/>
        </p:nvSpPr>
        <p:spPr>
          <a:xfrm>
            <a:off x="457200" y="4983480"/>
            <a:ext cx="502920"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1" name="Text 19"/>
          <p:cNvSpPr/>
          <p:nvPr/>
        </p:nvSpPr>
        <p:spPr>
          <a:xfrm>
            <a:off x="1051560" y="5056632"/>
            <a:ext cx="5029200" cy="365760"/>
          </a:xfrm>
          <a:prstGeom prst="rect">
            <a:avLst/>
          </a:prstGeom>
          <a:noFill/>
          <a:ln/>
        </p:spPr>
        <p:txBody>
          <a:bodyPr wrap="square" rtlCol="0" anchor="ctr"/>
          <a:lstStyle/>
          <a:p>
            <a:pPr indent="0" marL="0">
              <a:buNone/>
            </a:pPr>
            <a:r>
              <a:rPr lang="en-US" sz="1400" dirty="0">
                <a:solidFill>
                  <a:srgbClr val="0F172A"/>
                </a:solidFill>
                <a:latin typeface="Calibri" pitchFamily="34" charset="0"/>
                <a:ea typeface="Calibri" pitchFamily="34" charset="-122"/>
                <a:cs typeface="Calibri" pitchFamily="34" charset="-120"/>
              </a:rPr>
              <a:t>Alert Escalation System</a:t>
            </a:r>
            <a:endParaRPr lang="en-US" sz="1400" dirty="0"/>
          </a:p>
        </p:txBody>
      </p:sp>
      <p:sp>
        <p:nvSpPr>
          <p:cNvPr id="22" name="Shape 20"/>
          <p:cNvSpPr/>
          <p:nvPr/>
        </p:nvSpPr>
        <p:spPr>
          <a:xfrm>
            <a:off x="6217920" y="1143000"/>
            <a:ext cx="502920" cy="502920"/>
          </a:xfrm>
          <a:prstGeom prst="rect">
            <a:avLst/>
          </a:prstGeom>
          <a:solidFill>
            <a:srgbClr val="EA580C"/>
          </a:solidFill>
          <a:ln w="12700">
            <a:solidFill>
              <a:srgbClr val="EA580C"/>
            </a:solidFill>
            <a:prstDash val="solid"/>
          </a:ln>
        </p:spPr>
      </p:sp>
      <p:sp>
        <p:nvSpPr>
          <p:cNvPr id="23" name="Text 21"/>
          <p:cNvSpPr/>
          <p:nvPr/>
        </p:nvSpPr>
        <p:spPr>
          <a:xfrm>
            <a:off x="6217920" y="1143000"/>
            <a:ext cx="502920"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06</a:t>
            </a:r>
            <a:endParaRPr lang="en-US" sz="1400" dirty="0"/>
          </a:p>
        </p:txBody>
      </p:sp>
      <p:sp>
        <p:nvSpPr>
          <p:cNvPr id="24" name="Text 22"/>
          <p:cNvSpPr/>
          <p:nvPr/>
        </p:nvSpPr>
        <p:spPr>
          <a:xfrm>
            <a:off x="6812280" y="1216152"/>
            <a:ext cx="5029200" cy="365760"/>
          </a:xfrm>
          <a:prstGeom prst="rect">
            <a:avLst/>
          </a:prstGeom>
          <a:noFill/>
          <a:ln/>
        </p:spPr>
        <p:txBody>
          <a:bodyPr wrap="square" rtlCol="0" anchor="ctr"/>
          <a:lstStyle/>
          <a:p>
            <a:pPr indent="0" marL="0">
              <a:buNone/>
            </a:pPr>
            <a:r>
              <a:rPr lang="en-US" sz="1400" dirty="0">
                <a:solidFill>
                  <a:srgbClr val="0F172A"/>
                </a:solidFill>
                <a:latin typeface="Calibri" pitchFamily="34" charset="0"/>
                <a:ea typeface="Calibri" pitchFamily="34" charset="-122"/>
                <a:cs typeface="Calibri" pitchFamily="34" charset="-120"/>
              </a:rPr>
              <a:t>IoT Alert Device</a:t>
            </a:r>
            <a:endParaRPr lang="en-US" sz="1400" dirty="0"/>
          </a:p>
        </p:txBody>
      </p:sp>
      <p:sp>
        <p:nvSpPr>
          <p:cNvPr id="25" name="Shape 23"/>
          <p:cNvSpPr/>
          <p:nvPr/>
        </p:nvSpPr>
        <p:spPr>
          <a:xfrm>
            <a:off x="6217920" y="2103120"/>
            <a:ext cx="502920" cy="502920"/>
          </a:xfrm>
          <a:prstGeom prst="rect">
            <a:avLst/>
          </a:prstGeom>
          <a:solidFill>
            <a:srgbClr val="DC2626"/>
          </a:solidFill>
          <a:ln w="12700">
            <a:solidFill>
              <a:srgbClr val="DC2626"/>
            </a:solidFill>
            <a:prstDash val="solid"/>
          </a:ln>
        </p:spPr>
      </p:sp>
      <p:sp>
        <p:nvSpPr>
          <p:cNvPr id="26" name="Text 24"/>
          <p:cNvSpPr/>
          <p:nvPr/>
        </p:nvSpPr>
        <p:spPr>
          <a:xfrm>
            <a:off x="6217920" y="2103120"/>
            <a:ext cx="502920"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07</a:t>
            </a:r>
            <a:endParaRPr lang="en-US" sz="1400" dirty="0"/>
          </a:p>
        </p:txBody>
      </p:sp>
      <p:sp>
        <p:nvSpPr>
          <p:cNvPr id="27" name="Text 25"/>
          <p:cNvSpPr/>
          <p:nvPr/>
        </p:nvSpPr>
        <p:spPr>
          <a:xfrm>
            <a:off x="6812280" y="2176272"/>
            <a:ext cx="5029200" cy="365760"/>
          </a:xfrm>
          <a:prstGeom prst="rect">
            <a:avLst/>
          </a:prstGeom>
          <a:noFill/>
          <a:ln/>
        </p:spPr>
        <p:txBody>
          <a:bodyPr wrap="square" rtlCol="0" anchor="ctr"/>
          <a:lstStyle/>
          <a:p>
            <a:pPr indent="0" marL="0">
              <a:buNone/>
            </a:pPr>
            <a:r>
              <a:rPr lang="en-US" sz="1400" dirty="0">
                <a:solidFill>
                  <a:srgbClr val="0F172A"/>
                </a:solidFill>
                <a:latin typeface="Calibri" pitchFamily="34" charset="0"/>
                <a:ea typeface="Calibri" pitchFamily="34" charset="-122"/>
                <a:cs typeface="Calibri" pitchFamily="34" charset="-120"/>
              </a:rPr>
              <a:t>Emergency Notification</a:t>
            </a:r>
            <a:endParaRPr lang="en-US" sz="1400" dirty="0"/>
          </a:p>
        </p:txBody>
      </p:sp>
      <p:sp>
        <p:nvSpPr>
          <p:cNvPr id="28" name="Shape 26"/>
          <p:cNvSpPr/>
          <p:nvPr/>
        </p:nvSpPr>
        <p:spPr>
          <a:xfrm>
            <a:off x="6217920" y="3063240"/>
            <a:ext cx="502920" cy="502920"/>
          </a:xfrm>
          <a:prstGeom prst="rect">
            <a:avLst/>
          </a:prstGeom>
          <a:solidFill>
            <a:srgbClr val="16A34A"/>
          </a:solidFill>
          <a:ln w="12700">
            <a:solidFill>
              <a:srgbClr val="16A34A"/>
            </a:solidFill>
            <a:prstDash val="solid"/>
          </a:ln>
        </p:spPr>
      </p:sp>
      <p:sp>
        <p:nvSpPr>
          <p:cNvPr id="29" name="Text 27"/>
          <p:cNvSpPr/>
          <p:nvPr/>
        </p:nvSpPr>
        <p:spPr>
          <a:xfrm>
            <a:off x="6217920" y="3063240"/>
            <a:ext cx="502920"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08</a:t>
            </a:r>
            <a:endParaRPr lang="en-US" sz="1400" dirty="0"/>
          </a:p>
        </p:txBody>
      </p:sp>
      <p:sp>
        <p:nvSpPr>
          <p:cNvPr id="30" name="Text 28"/>
          <p:cNvSpPr/>
          <p:nvPr/>
        </p:nvSpPr>
        <p:spPr>
          <a:xfrm>
            <a:off x="6812280" y="3136392"/>
            <a:ext cx="5029200" cy="365760"/>
          </a:xfrm>
          <a:prstGeom prst="rect">
            <a:avLst/>
          </a:prstGeom>
          <a:noFill/>
          <a:ln/>
        </p:spPr>
        <p:txBody>
          <a:bodyPr wrap="square" rtlCol="0" anchor="ctr"/>
          <a:lstStyle/>
          <a:p>
            <a:pPr indent="0" marL="0">
              <a:buNone/>
            </a:pPr>
            <a:r>
              <a:rPr lang="en-US" sz="1400" dirty="0">
                <a:solidFill>
                  <a:srgbClr val="0F172A"/>
                </a:solidFill>
                <a:latin typeface="Calibri" pitchFamily="34" charset="0"/>
                <a:ea typeface="Calibri" pitchFamily="34" charset="-122"/>
                <a:cs typeface="Calibri" pitchFamily="34" charset="-120"/>
              </a:rPr>
              <a:t>Methodology &amp; Evaluation</a:t>
            </a:r>
            <a:endParaRPr lang="en-US" sz="1400" dirty="0"/>
          </a:p>
        </p:txBody>
      </p:sp>
      <p:sp>
        <p:nvSpPr>
          <p:cNvPr id="31" name="Shape 29"/>
          <p:cNvSpPr/>
          <p:nvPr/>
        </p:nvSpPr>
        <p:spPr>
          <a:xfrm>
            <a:off x="6217920" y="4023360"/>
            <a:ext cx="502920" cy="502920"/>
          </a:xfrm>
          <a:prstGeom prst="rect">
            <a:avLst/>
          </a:prstGeom>
          <a:solidFill>
            <a:srgbClr val="16A34A"/>
          </a:solidFill>
          <a:ln w="12700">
            <a:solidFill>
              <a:srgbClr val="16A34A"/>
            </a:solidFill>
            <a:prstDash val="solid"/>
          </a:ln>
        </p:spPr>
      </p:sp>
      <p:sp>
        <p:nvSpPr>
          <p:cNvPr id="32" name="Text 30"/>
          <p:cNvSpPr/>
          <p:nvPr/>
        </p:nvSpPr>
        <p:spPr>
          <a:xfrm>
            <a:off x="6217920" y="4023360"/>
            <a:ext cx="502920"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09</a:t>
            </a:r>
            <a:endParaRPr lang="en-US" sz="1400" dirty="0"/>
          </a:p>
        </p:txBody>
      </p:sp>
      <p:sp>
        <p:nvSpPr>
          <p:cNvPr id="33" name="Text 31"/>
          <p:cNvSpPr/>
          <p:nvPr/>
        </p:nvSpPr>
        <p:spPr>
          <a:xfrm>
            <a:off x="6812280" y="4096512"/>
            <a:ext cx="5029200" cy="365760"/>
          </a:xfrm>
          <a:prstGeom prst="rect">
            <a:avLst/>
          </a:prstGeom>
          <a:noFill/>
          <a:ln/>
        </p:spPr>
        <p:txBody>
          <a:bodyPr wrap="square" rtlCol="0" anchor="ctr"/>
          <a:lstStyle/>
          <a:p>
            <a:pPr indent="0" marL="0">
              <a:buNone/>
            </a:pPr>
            <a:r>
              <a:rPr lang="en-US" sz="1400" dirty="0">
                <a:solidFill>
                  <a:srgbClr val="0F172A"/>
                </a:solidFill>
                <a:latin typeface="Calibri" pitchFamily="34" charset="0"/>
                <a:ea typeface="Calibri" pitchFamily="34" charset="-122"/>
                <a:cs typeface="Calibri" pitchFamily="34" charset="-120"/>
              </a:rPr>
              <a:t>Results &amp; Conclusions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FFFFF"/>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Text 3"/>
          <p:cNvSpPr/>
          <p:nvPr/>
        </p:nvSpPr>
        <p:spPr>
          <a:xfrm>
            <a:off x="457200" y="274320"/>
            <a:ext cx="11274552" cy="548640"/>
          </a:xfrm>
          <a:prstGeom prst="rect">
            <a:avLst/>
          </a:prstGeom>
          <a:noFill/>
          <a:ln/>
        </p:spPr>
        <p:txBody>
          <a:bodyPr wrap="square" rtlCol="0" anchor="ctr"/>
          <a:lstStyle/>
          <a:p>
            <a:pPr indent="0" marL="0">
              <a:buNone/>
            </a:pPr>
            <a:r>
              <a:rPr lang="en-US" sz="2800" b="1" dirty="0">
                <a:solidFill>
                  <a:srgbClr val="1B2A4A"/>
                </a:solidFill>
                <a:latin typeface="Calibri" pitchFamily="34" charset="0"/>
                <a:ea typeface="Calibri" pitchFamily="34" charset="-122"/>
                <a:cs typeface="Calibri" pitchFamily="34" charset="-120"/>
              </a:rPr>
              <a:t>Background</a:t>
            </a:r>
            <a:endParaRPr lang="en-US" sz="2800" dirty="0"/>
          </a:p>
        </p:txBody>
      </p:sp>
      <p:sp>
        <p:nvSpPr>
          <p:cNvPr id="6" name="Shape 4"/>
          <p:cNvSpPr/>
          <p:nvPr/>
        </p:nvSpPr>
        <p:spPr>
          <a:xfrm>
            <a:off x="457200" y="960120"/>
            <a:ext cx="11274552" cy="0"/>
          </a:xfrm>
          <a:prstGeom prst="line">
            <a:avLst/>
          </a:prstGeom>
          <a:noFill/>
          <a:ln w="19050">
            <a:solidFill>
              <a:srgbClr val="38BDF8"/>
            </a:solidFill>
            <a:prstDash val="solid"/>
          </a:ln>
        </p:spPr>
      </p:sp>
      <p:sp>
        <p:nvSpPr>
          <p:cNvPr id="7" name="Shape 5"/>
          <p:cNvSpPr/>
          <p:nvPr/>
        </p:nvSpPr>
        <p:spPr>
          <a:xfrm>
            <a:off x="457200" y="1188720"/>
            <a:ext cx="73152" cy="73152"/>
          </a:xfrm>
          <a:prstGeom prst="rect">
            <a:avLst/>
          </a:prstGeom>
          <a:solidFill>
            <a:srgbClr val="2563EB"/>
          </a:solidFill>
          <a:ln/>
        </p:spPr>
      </p:sp>
      <p:sp>
        <p:nvSpPr>
          <p:cNvPr id="8" name="Text 6"/>
          <p:cNvSpPr/>
          <p:nvPr/>
        </p:nvSpPr>
        <p:spPr>
          <a:xfrm>
            <a:off x="685800" y="1097280"/>
            <a:ext cx="10789920" cy="685800"/>
          </a:xfrm>
          <a:prstGeom prst="rect">
            <a:avLst/>
          </a:prstGeom>
          <a:noFill/>
          <a:ln/>
        </p:spPr>
        <p:txBody>
          <a:bodyPr wrap="square"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Drowsy driving contributes to ~20% of all motorway accidents (Horne &amp; Reyner, 1995)</a:t>
            </a:r>
            <a:endParaRPr lang="en-US" sz="1350" dirty="0"/>
          </a:p>
        </p:txBody>
      </p:sp>
      <p:sp>
        <p:nvSpPr>
          <p:cNvPr id="9" name="Shape 7"/>
          <p:cNvSpPr/>
          <p:nvPr/>
        </p:nvSpPr>
        <p:spPr>
          <a:xfrm>
            <a:off x="457200" y="2011680"/>
            <a:ext cx="73152" cy="73152"/>
          </a:xfrm>
          <a:prstGeom prst="rect">
            <a:avLst/>
          </a:prstGeom>
          <a:solidFill>
            <a:srgbClr val="2563EB"/>
          </a:solidFill>
          <a:ln/>
        </p:spPr>
      </p:sp>
      <p:sp>
        <p:nvSpPr>
          <p:cNvPr id="10" name="Text 8"/>
          <p:cNvSpPr/>
          <p:nvPr/>
        </p:nvSpPr>
        <p:spPr>
          <a:xfrm>
            <a:off x="685800" y="1920240"/>
            <a:ext cx="10789920" cy="685800"/>
          </a:xfrm>
          <a:prstGeom prst="rect">
            <a:avLst/>
          </a:prstGeom>
          <a:noFill/>
          <a:ln/>
        </p:spPr>
        <p:txBody>
          <a:bodyPr wrap="square"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WHO (2023): road traffic injuries are the 8th leading cause of death globally</a:t>
            </a:r>
            <a:endParaRPr lang="en-US" sz="1350" dirty="0"/>
          </a:p>
        </p:txBody>
      </p:sp>
      <p:sp>
        <p:nvSpPr>
          <p:cNvPr id="11" name="Shape 9"/>
          <p:cNvSpPr/>
          <p:nvPr/>
        </p:nvSpPr>
        <p:spPr>
          <a:xfrm>
            <a:off x="457200" y="2834640"/>
            <a:ext cx="73152" cy="73152"/>
          </a:xfrm>
          <a:prstGeom prst="rect">
            <a:avLst/>
          </a:prstGeom>
          <a:solidFill>
            <a:srgbClr val="2563EB"/>
          </a:solidFill>
          <a:ln/>
        </p:spPr>
      </p:sp>
      <p:sp>
        <p:nvSpPr>
          <p:cNvPr id="12" name="Text 10"/>
          <p:cNvSpPr/>
          <p:nvPr/>
        </p:nvSpPr>
        <p:spPr>
          <a:xfrm>
            <a:off x="685800" y="2743200"/>
            <a:ext cx="10789920" cy="685800"/>
          </a:xfrm>
          <a:prstGeom prst="rect">
            <a:avLst/>
          </a:prstGeom>
          <a:noFill/>
          <a:ln/>
        </p:spPr>
        <p:txBody>
          <a:bodyPr wrap="square"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Microsleep episodes (3–30 seconds) cause vehicles to travel 100+ meters uncontrolled</a:t>
            </a:r>
            <a:endParaRPr lang="en-US" sz="1350" dirty="0"/>
          </a:p>
        </p:txBody>
      </p:sp>
      <p:sp>
        <p:nvSpPr>
          <p:cNvPr id="13" name="Shape 11"/>
          <p:cNvSpPr/>
          <p:nvPr/>
        </p:nvSpPr>
        <p:spPr>
          <a:xfrm>
            <a:off x="457200" y="3657600"/>
            <a:ext cx="73152" cy="73152"/>
          </a:xfrm>
          <a:prstGeom prst="rect">
            <a:avLst/>
          </a:prstGeom>
          <a:solidFill>
            <a:srgbClr val="2563EB"/>
          </a:solidFill>
          <a:ln/>
        </p:spPr>
      </p:sp>
      <p:sp>
        <p:nvSpPr>
          <p:cNvPr id="14" name="Text 12"/>
          <p:cNvSpPr/>
          <p:nvPr/>
        </p:nvSpPr>
        <p:spPr>
          <a:xfrm>
            <a:off x="685800" y="3566160"/>
            <a:ext cx="10789920" cy="685800"/>
          </a:xfrm>
          <a:prstGeom prst="rect">
            <a:avLst/>
          </a:prstGeom>
          <a:noFill/>
          <a:ln/>
        </p:spPr>
        <p:txBody>
          <a:bodyPr wrap="square"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Commercial Driver Monitoring Systems (DMS) are prohibitively expensive for most drivers</a:t>
            </a:r>
            <a:endParaRPr lang="en-US" sz="1350" dirty="0"/>
          </a:p>
        </p:txBody>
      </p:sp>
      <p:sp>
        <p:nvSpPr>
          <p:cNvPr id="15" name="Shape 13"/>
          <p:cNvSpPr/>
          <p:nvPr/>
        </p:nvSpPr>
        <p:spPr>
          <a:xfrm>
            <a:off x="457200" y="4480560"/>
            <a:ext cx="73152" cy="73152"/>
          </a:xfrm>
          <a:prstGeom prst="rect">
            <a:avLst/>
          </a:prstGeom>
          <a:solidFill>
            <a:srgbClr val="2563EB"/>
          </a:solidFill>
          <a:ln/>
        </p:spPr>
      </p:sp>
      <p:sp>
        <p:nvSpPr>
          <p:cNvPr id="16" name="Text 14"/>
          <p:cNvSpPr/>
          <p:nvPr/>
        </p:nvSpPr>
        <p:spPr>
          <a:xfrm>
            <a:off x="685800" y="4389120"/>
            <a:ext cx="10789920" cy="685800"/>
          </a:xfrm>
          <a:prstGeom prst="rect">
            <a:avLst/>
          </a:prstGeom>
          <a:noFill/>
          <a:ln/>
        </p:spPr>
        <p:txBody>
          <a:bodyPr wrap="square"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Smartphone-based detection offers an accessible, vehicle-agnostic alternative</a:t>
            </a:r>
            <a:endParaRPr lang="en-US" sz="1350" dirty="0"/>
          </a:p>
        </p:txBody>
      </p:sp>
      <p:sp>
        <p:nvSpPr>
          <p:cNvPr id="17" name="Shape 15"/>
          <p:cNvSpPr/>
          <p:nvPr/>
        </p:nvSpPr>
        <p:spPr>
          <a:xfrm>
            <a:off x="457200" y="5303520"/>
            <a:ext cx="73152" cy="73152"/>
          </a:xfrm>
          <a:prstGeom prst="rect">
            <a:avLst/>
          </a:prstGeom>
          <a:solidFill>
            <a:srgbClr val="2563EB"/>
          </a:solidFill>
          <a:ln/>
        </p:spPr>
      </p:sp>
      <p:sp>
        <p:nvSpPr>
          <p:cNvPr id="18" name="Text 16"/>
          <p:cNvSpPr/>
          <p:nvPr/>
        </p:nvSpPr>
        <p:spPr>
          <a:xfrm>
            <a:off x="685800" y="5212080"/>
            <a:ext cx="10789920" cy="685800"/>
          </a:xfrm>
          <a:prstGeom prst="rect">
            <a:avLst/>
          </a:prstGeom>
          <a:noFill/>
          <a:ln/>
        </p:spPr>
        <p:txBody>
          <a:bodyPr wrap="square"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No existing low-cost system combines multi-signal detection + IoT alerts + emergency notification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FFFFF"/>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Text 3"/>
          <p:cNvSpPr/>
          <p:nvPr/>
        </p:nvSpPr>
        <p:spPr>
          <a:xfrm>
            <a:off x="457200" y="274320"/>
            <a:ext cx="11274552" cy="548640"/>
          </a:xfrm>
          <a:prstGeom prst="rect">
            <a:avLst/>
          </a:prstGeom>
          <a:noFill/>
          <a:ln/>
        </p:spPr>
        <p:txBody>
          <a:bodyPr wrap="square" rtlCol="0" anchor="ctr"/>
          <a:lstStyle/>
          <a:p>
            <a:pPr indent="0" marL="0">
              <a:buNone/>
            </a:pPr>
            <a:r>
              <a:rPr lang="en-US" sz="2800" b="1" dirty="0">
                <a:solidFill>
                  <a:srgbClr val="1B2A4A"/>
                </a:solidFill>
                <a:latin typeface="Calibri" pitchFamily="34" charset="0"/>
                <a:ea typeface="Calibri" pitchFamily="34" charset="-122"/>
                <a:cs typeface="Calibri" pitchFamily="34" charset="-120"/>
              </a:rPr>
              <a:t>Statement of the Problem</a:t>
            </a:r>
            <a:endParaRPr lang="en-US" sz="2800" dirty="0"/>
          </a:p>
        </p:txBody>
      </p:sp>
      <p:sp>
        <p:nvSpPr>
          <p:cNvPr id="6" name="Shape 4"/>
          <p:cNvSpPr/>
          <p:nvPr/>
        </p:nvSpPr>
        <p:spPr>
          <a:xfrm>
            <a:off x="457200" y="960120"/>
            <a:ext cx="11274552" cy="0"/>
          </a:xfrm>
          <a:prstGeom prst="line">
            <a:avLst/>
          </a:prstGeom>
          <a:noFill/>
          <a:ln w="19050">
            <a:solidFill>
              <a:srgbClr val="38BDF8"/>
            </a:solidFill>
            <a:prstDash val="solid"/>
          </a:ln>
        </p:spPr>
      </p:sp>
      <p:sp>
        <p:nvSpPr>
          <p:cNvPr id="7" name="Shape 5"/>
          <p:cNvSpPr/>
          <p:nvPr/>
        </p:nvSpPr>
        <p:spPr>
          <a:xfrm>
            <a:off x="457200" y="1097280"/>
            <a:ext cx="457200" cy="457200"/>
          </a:xfrm>
          <a:prstGeom prst="rect">
            <a:avLst/>
          </a:prstGeom>
          <a:solidFill>
            <a:srgbClr val="2563EB"/>
          </a:solidFill>
          <a:ln w="12700">
            <a:solidFill>
              <a:srgbClr val="2563EB"/>
            </a:solidFill>
            <a:prstDash val="solid"/>
          </a:ln>
        </p:spPr>
      </p:sp>
      <p:sp>
        <p:nvSpPr>
          <p:cNvPr id="8" name="Text 6"/>
          <p:cNvSpPr/>
          <p:nvPr/>
        </p:nvSpPr>
        <p:spPr>
          <a:xfrm>
            <a:off x="457200" y="1097280"/>
            <a:ext cx="457200"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051560" y="1097280"/>
            <a:ext cx="10515600" cy="64008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How can a smartphone reliably detect drowsiness using multiple physiological signals (yawn, head nod, tilt, brake)?</a:t>
            </a:r>
            <a:endParaRPr lang="en-US" sz="1300" dirty="0"/>
          </a:p>
        </p:txBody>
      </p:sp>
      <p:sp>
        <p:nvSpPr>
          <p:cNvPr id="10" name="Shape 8"/>
          <p:cNvSpPr/>
          <p:nvPr/>
        </p:nvSpPr>
        <p:spPr>
          <a:xfrm>
            <a:off x="457200" y="2103120"/>
            <a:ext cx="457200" cy="457200"/>
          </a:xfrm>
          <a:prstGeom prst="rect">
            <a:avLst/>
          </a:prstGeom>
          <a:solidFill>
            <a:srgbClr val="2563EB"/>
          </a:solidFill>
          <a:ln w="12700">
            <a:solidFill>
              <a:srgbClr val="2563EB"/>
            </a:solidFill>
            <a:prstDash val="solid"/>
          </a:ln>
        </p:spPr>
      </p:sp>
      <p:sp>
        <p:nvSpPr>
          <p:cNvPr id="11" name="Text 9"/>
          <p:cNvSpPr/>
          <p:nvPr/>
        </p:nvSpPr>
        <p:spPr>
          <a:xfrm>
            <a:off x="457200" y="2103120"/>
            <a:ext cx="457200"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051560" y="2103120"/>
            <a:ext cx="10515600" cy="64008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How can drowsiness severity be quantified into a 10-level model driving proportional alert responses?</a:t>
            </a:r>
            <a:endParaRPr lang="en-US" sz="1300" dirty="0"/>
          </a:p>
        </p:txBody>
      </p:sp>
      <p:sp>
        <p:nvSpPr>
          <p:cNvPr id="13" name="Shape 11"/>
          <p:cNvSpPr/>
          <p:nvPr/>
        </p:nvSpPr>
        <p:spPr>
          <a:xfrm>
            <a:off x="457200" y="3108960"/>
            <a:ext cx="457200" cy="457200"/>
          </a:xfrm>
          <a:prstGeom prst="rect">
            <a:avLst/>
          </a:prstGeom>
          <a:solidFill>
            <a:srgbClr val="2563EB"/>
          </a:solidFill>
          <a:ln w="12700">
            <a:solidFill>
              <a:srgbClr val="2563EB"/>
            </a:solidFill>
            <a:prstDash val="solid"/>
          </a:ln>
        </p:spPr>
      </p:sp>
      <p:sp>
        <p:nvSpPr>
          <p:cNvPr id="14" name="Text 12"/>
          <p:cNvSpPr/>
          <p:nvPr/>
        </p:nvSpPr>
        <p:spPr>
          <a:xfrm>
            <a:off x="457200" y="3108960"/>
            <a:ext cx="457200"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5" name="Text 13"/>
          <p:cNvSpPr/>
          <p:nvPr/>
        </p:nvSpPr>
        <p:spPr>
          <a:xfrm>
            <a:off x="1051560" y="3108960"/>
            <a:ext cx="10515600" cy="64008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How can a low-cost IoT device augment alerts with audio, vibration, and LED patterns per level?</a:t>
            </a:r>
            <a:endParaRPr lang="en-US" sz="1300" dirty="0"/>
          </a:p>
        </p:txBody>
      </p:sp>
      <p:sp>
        <p:nvSpPr>
          <p:cNvPr id="16" name="Shape 14"/>
          <p:cNvSpPr/>
          <p:nvPr/>
        </p:nvSpPr>
        <p:spPr>
          <a:xfrm>
            <a:off x="457200" y="4114800"/>
            <a:ext cx="457200" cy="457200"/>
          </a:xfrm>
          <a:prstGeom prst="rect">
            <a:avLst/>
          </a:prstGeom>
          <a:solidFill>
            <a:srgbClr val="2563EB"/>
          </a:solidFill>
          <a:ln w="12700">
            <a:solidFill>
              <a:srgbClr val="2563EB"/>
            </a:solidFill>
            <a:prstDash val="solid"/>
          </a:ln>
        </p:spPr>
      </p:sp>
      <p:sp>
        <p:nvSpPr>
          <p:cNvPr id="17" name="Text 15"/>
          <p:cNvSpPr/>
          <p:nvPr/>
        </p:nvSpPr>
        <p:spPr>
          <a:xfrm>
            <a:off x="457200" y="4114800"/>
            <a:ext cx="457200"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51560" y="4114800"/>
            <a:ext cx="10515600" cy="64008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How can an emergency pipeline reliably notify a guardian even under intermittent connectivity?</a:t>
            </a:r>
            <a:endParaRPr lang="en-US" sz="1300" dirty="0"/>
          </a:p>
        </p:txBody>
      </p:sp>
      <p:sp>
        <p:nvSpPr>
          <p:cNvPr id="19" name="Shape 17"/>
          <p:cNvSpPr/>
          <p:nvPr/>
        </p:nvSpPr>
        <p:spPr>
          <a:xfrm>
            <a:off x="457200" y="5120640"/>
            <a:ext cx="457200" cy="457200"/>
          </a:xfrm>
          <a:prstGeom prst="rect">
            <a:avLst/>
          </a:prstGeom>
          <a:solidFill>
            <a:srgbClr val="2563EB"/>
          </a:solidFill>
          <a:ln w="12700">
            <a:solidFill>
              <a:srgbClr val="2563EB"/>
            </a:solidFill>
            <a:prstDash val="solid"/>
          </a:ln>
        </p:spPr>
      </p:sp>
      <p:sp>
        <p:nvSpPr>
          <p:cNvPr id="20" name="Text 18"/>
          <p:cNvSpPr/>
          <p:nvPr/>
        </p:nvSpPr>
        <p:spPr>
          <a:xfrm>
            <a:off x="457200" y="5120640"/>
            <a:ext cx="457200"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1" name="Text 19"/>
          <p:cNvSpPr/>
          <p:nvPr/>
        </p:nvSpPr>
        <p:spPr>
          <a:xfrm>
            <a:off x="1051560" y="5120640"/>
            <a:ext cx="10515600" cy="64008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To what extent does SnoozeGuard meet ISO/IEC 25010 software quality requirements?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FFFFF"/>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Text 3"/>
          <p:cNvSpPr/>
          <p:nvPr/>
        </p:nvSpPr>
        <p:spPr>
          <a:xfrm>
            <a:off x="457200" y="274320"/>
            <a:ext cx="11274552" cy="548640"/>
          </a:xfrm>
          <a:prstGeom prst="rect">
            <a:avLst/>
          </a:prstGeom>
          <a:noFill/>
          <a:ln/>
        </p:spPr>
        <p:txBody>
          <a:bodyPr wrap="square" rtlCol="0" anchor="ctr"/>
          <a:lstStyle/>
          <a:p>
            <a:pPr indent="0" marL="0">
              <a:buNone/>
            </a:pPr>
            <a:r>
              <a:rPr lang="en-US" sz="2800" b="1" dirty="0">
                <a:solidFill>
                  <a:srgbClr val="1B2A4A"/>
                </a:solidFill>
                <a:latin typeface="Calibri" pitchFamily="34" charset="0"/>
                <a:ea typeface="Calibri" pitchFamily="34" charset="-122"/>
                <a:cs typeface="Calibri" pitchFamily="34" charset="-120"/>
              </a:rPr>
              <a:t>Objectives of the Study</a:t>
            </a:r>
            <a:endParaRPr lang="en-US" sz="2800" dirty="0"/>
          </a:p>
        </p:txBody>
      </p:sp>
      <p:sp>
        <p:nvSpPr>
          <p:cNvPr id="6" name="Shape 4"/>
          <p:cNvSpPr/>
          <p:nvPr/>
        </p:nvSpPr>
        <p:spPr>
          <a:xfrm>
            <a:off x="457200" y="960120"/>
            <a:ext cx="11274552" cy="0"/>
          </a:xfrm>
          <a:prstGeom prst="line">
            <a:avLst/>
          </a:prstGeom>
          <a:noFill/>
          <a:ln w="19050">
            <a:solidFill>
              <a:srgbClr val="38BDF8"/>
            </a:solidFill>
            <a:prstDash val="solid"/>
          </a:ln>
        </p:spPr>
      </p:sp>
      <p:sp>
        <p:nvSpPr>
          <p:cNvPr id="7" name="Text 5"/>
          <p:cNvSpPr/>
          <p:nvPr/>
        </p:nvSpPr>
        <p:spPr>
          <a:xfrm>
            <a:off x="457200" y="1051560"/>
            <a:ext cx="11274552" cy="365760"/>
          </a:xfrm>
          <a:prstGeom prst="rect">
            <a:avLst/>
          </a:prstGeom>
          <a:noFill/>
          <a:ln/>
        </p:spPr>
        <p:txBody>
          <a:bodyPr wrap="square" rtlCol="0" anchor="ctr"/>
          <a:lstStyle/>
          <a:p>
            <a:pPr indent="0" marL="0">
              <a:buNone/>
            </a:pPr>
            <a:r>
              <a:rPr lang="en-US" sz="1600" b="1" dirty="0">
                <a:solidFill>
                  <a:srgbClr val="2563EB"/>
                </a:solidFill>
                <a:latin typeface="Calibri" pitchFamily="34" charset="0"/>
                <a:ea typeface="Calibri" pitchFamily="34" charset="-122"/>
                <a:cs typeface="Calibri" pitchFamily="34" charset="-120"/>
              </a:rPr>
              <a:t>General Objective</a:t>
            </a:r>
            <a:endParaRPr lang="en-US" sz="1600" dirty="0"/>
          </a:p>
        </p:txBody>
      </p:sp>
      <p:sp>
        <p:nvSpPr>
          <p:cNvPr id="8" name="Text 6"/>
          <p:cNvSpPr/>
          <p:nvPr/>
        </p:nvSpPr>
        <p:spPr>
          <a:xfrm>
            <a:off x="457200" y="1417320"/>
            <a:ext cx="11274552" cy="77724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To design, develop, and evaluate SnoozeGuard — a multi-platform AI-driven real-time drowsiness monitoring system — capable of detecting driver fatigue, delivering graduated alerts, and triggering emergency contact notifications at critical levels.</a:t>
            </a:r>
            <a:endParaRPr lang="en-US" sz="1300" dirty="0"/>
          </a:p>
        </p:txBody>
      </p:sp>
      <p:sp>
        <p:nvSpPr>
          <p:cNvPr id="9" name="Text 7"/>
          <p:cNvSpPr/>
          <p:nvPr/>
        </p:nvSpPr>
        <p:spPr>
          <a:xfrm>
            <a:off x="457200" y="2240280"/>
            <a:ext cx="11274552" cy="365760"/>
          </a:xfrm>
          <a:prstGeom prst="rect">
            <a:avLst/>
          </a:prstGeom>
          <a:noFill/>
          <a:ln/>
        </p:spPr>
        <p:txBody>
          <a:bodyPr wrap="square" rtlCol="0" anchor="ctr"/>
          <a:lstStyle/>
          <a:p>
            <a:pPr indent="0" marL="0">
              <a:buNone/>
            </a:pPr>
            <a:r>
              <a:rPr lang="en-US" sz="1600" b="1" dirty="0">
                <a:solidFill>
                  <a:srgbClr val="2563EB"/>
                </a:solidFill>
                <a:latin typeface="Calibri" pitchFamily="34" charset="0"/>
                <a:ea typeface="Calibri" pitchFamily="34" charset="-122"/>
                <a:cs typeface="Calibri" pitchFamily="34" charset="-120"/>
              </a:rPr>
              <a:t>Specific Objectives</a:t>
            </a:r>
            <a:endParaRPr lang="en-US" sz="1600" dirty="0"/>
          </a:p>
        </p:txBody>
      </p:sp>
      <p:sp>
        <p:nvSpPr>
          <p:cNvPr id="10" name="Shape 8"/>
          <p:cNvSpPr/>
          <p:nvPr/>
        </p:nvSpPr>
        <p:spPr>
          <a:xfrm>
            <a:off x="457200" y="2761488"/>
            <a:ext cx="73152" cy="73152"/>
          </a:xfrm>
          <a:prstGeom prst="rect">
            <a:avLst/>
          </a:prstGeom>
          <a:solidFill>
            <a:srgbClr val="38BDF8"/>
          </a:solidFill>
          <a:ln/>
        </p:spPr>
      </p:sp>
      <p:sp>
        <p:nvSpPr>
          <p:cNvPr id="11" name="Text 9"/>
          <p:cNvSpPr/>
          <p:nvPr/>
        </p:nvSpPr>
        <p:spPr>
          <a:xfrm>
            <a:off x="685800" y="2651760"/>
            <a:ext cx="10789920" cy="59436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Implement multi-signal detection: yawn (jawOpen blend shape), head nod (pitch/roll), sustained tilt (10s), sudden brake (accelerometer)</a:t>
            </a:r>
            <a:endParaRPr lang="en-US" sz="1250" dirty="0"/>
          </a:p>
        </p:txBody>
      </p:sp>
      <p:sp>
        <p:nvSpPr>
          <p:cNvPr id="12" name="Shape 10"/>
          <p:cNvSpPr/>
          <p:nvPr/>
        </p:nvSpPr>
        <p:spPr>
          <a:xfrm>
            <a:off x="457200" y="3429000"/>
            <a:ext cx="73152" cy="73152"/>
          </a:xfrm>
          <a:prstGeom prst="rect">
            <a:avLst/>
          </a:prstGeom>
          <a:solidFill>
            <a:srgbClr val="38BDF8"/>
          </a:solidFill>
          <a:ln/>
        </p:spPr>
      </p:sp>
      <p:sp>
        <p:nvSpPr>
          <p:cNvPr id="13" name="Text 11"/>
          <p:cNvSpPr/>
          <p:nvPr/>
        </p:nvSpPr>
        <p:spPr>
          <a:xfrm>
            <a:off x="685800" y="3319272"/>
            <a:ext cx="10789920" cy="59436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Develop a configurable 10-level drowsiness scoring model with administrator-controlled thresholds</a:t>
            </a:r>
            <a:endParaRPr lang="en-US" sz="1250" dirty="0"/>
          </a:p>
        </p:txBody>
      </p:sp>
      <p:sp>
        <p:nvSpPr>
          <p:cNvPr id="14" name="Shape 12"/>
          <p:cNvSpPr/>
          <p:nvPr/>
        </p:nvSpPr>
        <p:spPr>
          <a:xfrm>
            <a:off x="457200" y="4096512"/>
            <a:ext cx="73152" cy="73152"/>
          </a:xfrm>
          <a:prstGeom prst="rect">
            <a:avLst/>
          </a:prstGeom>
          <a:solidFill>
            <a:srgbClr val="38BDF8"/>
          </a:solidFill>
          <a:ln/>
        </p:spPr>
      </p:sp>
      <p:sp>
        <p:nvSpPr>
          <p:cNvPr id="15" name="Text 13"/>
          <p:cNvSpPr/>
          <p:nvPr/>
        </p:nvSpPr>
        <p:spPr>
          <a:xfrm>
            <a:off x="685800" y="3986784"/>
            <a:ext cx="10789920" cy="59436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Build an ESP32 IoT alert device with MQTT + BLE communication and level-specific audio/vibration/LED patterns</a:t>
            </a:r>
            <a:endParaRPr lang="en-US" sz="1250" dirty="0"/>
          </a:p>
        </p:txBody>
      </p:sp>
      <p:sp>
        <p:nvSpPr>
          <p:cNvPr id="16" name="Shape 14"/>
          <p:cNvSpPr/>
          <p:nvPr/>
        </p:nvSpPr>
        <p:spPr>
          <a:xfrm>
            <a:off x="457200" y="4764024"/>
            <a:ext cx="73152" cy="73152"/>
          </a:xfrm>
          <a:prstGeom prst="rect">
            <a:avLst/>
          </a:prstGeom>
          <a:solidFill>
            <a:srgbClr val="38BDF8"/>
          </a:solidFill>
          <a:ln/>
        </p:spPr>
      </p:sp>
      <p:sp>
        <p:nvSpPr>
          <p:cNvPr id="17" name="Text 15"/>
          <p:cNvSpPr/>
          <p:nvPr/>
        </p:nvSpPr>
        <p:spPr>
          <a:xfrm>
            <a:off x="685800" y="4654296"/>
            <a:ext cx="10789920" cy="59436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Implement an emergency notification pipeline via Expo Push + PhilSMS SMS to the active emergency contact</a:t>
            </a:r>
            <a:endParaRPr lang="en-US" sz="1250" dirty="0"/>
          </a:p>
        </p:txBody>
      </p:sp>
      <p:sp>
        <p:nvSpPr>
          <p:cNvPr id="18" name="Shape 16"/>
          <p:cNvSpPr/>
          <p:nvPr/>
        </p:nvSpPr>
        <p:spPr>
          <a:xfrm>
            <a:off x="457200" y="5431536"/>
            <a:ext cx="73152" cy="73152"/>
          </a:xfrm>
          <a:prstGeom prst="rect">
            <a:avLst/>
          </a:prstGeom>
          <a:solidFill>
            <a:srgbClr val="38BDF8"/>
          </a:solidFill>
          <a:ln/>
        </p:spPr>
      </p:sp>
      <p:sp>
        <p:nvSpPr>
          <p:cNvPr id="19" name="Text 17"/>
          <p:cNvSpPr/>
          <p:nvPr/>
        </p:nvSpPr>
        <p:spPr>
          <a:xfrm>
            <a:off x="685800" y="5321808"/>
            <a:ext cx="10789920" cy="59436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Implement an offline-first SQLite architecture with automatic Supabase cloud synchronization</a:t>
            </a:r>
            <a:endParaRPr lang="en-US" sz="1250" dirty="0"/>
          </a:p>
        </p:txBody>
      </p:sp>
      <p:sp>
        <p:nvSpPr>
          <p:cNvPr id="20" name="Shape 18"/>
          <p:cNvSpPr/>
          <p:nvPr/>
        </p:nvSpPr>
        <p:spPr>
          <a:xfrm>
            <a:off x="457200" y="6099048"/>
            <a:ext cx="73152" cy="73152"/>
          </a:xfrm>
          <a:prstGeom prst="rect">
            <a:avLst/>
          </a:prstGeom>
          <a:solidFill>
            <a:srgbClr val="38BDF8"/>
          </a:solidFill>
          <a:ln/>
        </p:spPr>
      </p:sp>
      <p:sp>
        <p:nvSpPr>
          <p:cNvPr id="21" name="Text 19"/>
          <p:cNvSpPr/>
          <p:nvPr/>
        </p:nvSpPr>
        <p:spPr>
          <a:xfrm>
            <a:off x="685800" y="5989320"/>
            <a:ext cx="10789920" cy="59436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Evaluate the system against ISO/IEC 25010 across 8 quality characteristics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FFFFF"/>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Text 3"/>
          <p:cNvSpPr/>
          <p:nvPr/>
        </p:nvSpPr>
        <p:spPr>
          <a:xfrm>
            <a:off x="457200" y="274320"/>
            <a:ext cx="11274552" cy="548640"/>
          </a:xfrm>
          <a:prstGeom prst="rect">
            <a:avLst/>
          </a:prstGeom>
          <a:noFill/>
          <a:ln/>
        </p:spPr>
        <p:txBody>
          <a:bodyPr wrap="square" rtlCol="0" anchor="ctr"/>
          <a:lstStyle/>
          <a:p>
            <a:pPr indent="0" marL="0">
              <a:buNone/>
            </a:pPr>
            <a:r>
              <a:rPr lang="en-US" sz="2800" b="1" dirty="0">
                <a:solidFill>
                  <a:srgbClr val="1B2A4A"/>
                </a:solidFill>
                <a:latin typeface="Calibri" pitchFamily="34" charset="0"/>
                <a:ea typeface="Calibri" pitchFamily="34" charset="-122"/>
                <a:cs typeface="Calibri" pitchFamily="34" charset="-120"/>
              </a:rPr>
              <a:t>System Architecture Overview</a:t>
            </a:r>
            <a:endParaRPr lang="en-US" sz="2800" dirty="0"/>
          </a:p>
        </p:txBody>
      </p:sp>
      <p:sp>
        <p:nvSpPr>
          <p:cNvPr id="6" name="Shape 4"/>
          <p:cNvSpPr/>
          <p:nvPr/>
        </p:nvSpPr>
        <p:spPr>
          <a:xfrm>
            <a:off x="457200" y="960120"/>
            <a:ext cx="11274552" cy="0"/>
          </a:xfrm>
          <a:prstGeom prst="line">
            <a:avLst/>
          </a:prstGeom>
          <a:noFill/>
          <a:ln w="19050">
            <a:solidFill>
              <a:srgbClr val="38BDF8"/>
            </a:solidFill>
            <a:prstDash val="solid"/>
          </a:ln>
        </p:spPr>
      </p:sp>
      <p:sp>
        <p:nvSpPr>
          <p:cNvPr id="7" name="Shape 5"/>
          <p:cNvSpPr/>
          <p:nvPr/>
        </p:nvSpPr>
        <p:spPr>
          <a:xfrm>
            <a:off x="365760" y="1188720"/>
            <a:ext cx="2560320" cy="1005840"/>
          </a:xfrm>
          <a:prstGeom prst="rect">
            <a:avLst/>
          </a:prstGeom>
          <a:solidFill>
            <a:srgbClr val="2563EB"/>
          </a:solidFill>
          <a:ln w="12700">
            <a:solidFill>
              <a:srgbClr val="2563EB"/>
            </a:solidFill>
            <a:prstDash val="solid"/>
          </a:ln>
        </p:spPr>
      </p:sp>
      <p:sp>
        <p:nvSpPr>
          <p:cNvPr id="8" name="Text 6"/>
          <p:cNvSpPr/>
          <p:nvPr/>
        </p:nvSpPr>
        <p:spPr>
          <a:xfrm>
            <a:off x="365760" y="1188720"/>
            <a:ext cx="2560320" cy="100584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Mobile App</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(React Native / Expo SDK 54)</a:t>
            </a:r>
            <a:endParaRPr lang="en-US" sz="1200" dirty="0"/>
          </a:p>
        </p:txBody>
      </p:sp>
      <p:sp>
        <p:nvSpPr>
          <p:cNvPr id="9" name="Shape 7"/>
          <p:cNvSpPr/>
          <p:nvPr/>
        </p:nvSpPr>
        <p:spPr>
          <a:xfrm>
            <a:off x="3108960" y="1188720"/>
            <a:ext cx="2560320" cy="1005840"/>
          </a:xfrm>
          <a:prstGeom prst="rect">
            <a:avLst/>
          </a:prstGeom>
          <a:solidFill>
            <a:srgbClr val="1B2A4A"/>
          </a:solidFill>
          <a:ln w="12700">
            <a:solidFill>
              <a:srgbClr val="1B2A4A"/>
            </a:solidFill>
            <a:prstDash val="solid"/>
          </a:ln>
        </p:spPr>
      </p:sp>
      <p:sp>
        <p:nvSpPr>
          <p:cNvPr id="10" name="Text 8"/>
          <p:cNvSpPr/>
          <p:nvPr/>
        </p:nvSpPr>
        <p:spPr>
          <a:xfrm>
            <a:off x="3108960" y="1188720"/>
            <a:ext cx="2560320" cy="100584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 Dashboard</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(React + Vite / Firebase)</a:t>
            </a:r>
            <a:endParaRPr lang="en-US" sz="1200" dirty="0"/>
          </a:p>
        </p:txBody>
      </p:sp>
      <p:sp>
        <p:nvSpPr>
          <p:cNvPr id="11" name="Shape 9"/>
          <p:cNvSpPr/>
          <p:nvPr/>
        </p:nvSpPr>
        <p:spPr>
          <a:xfrm>
            <a:off x="5852160" y="1188720"/>
            <a:ext cx="2560320" cy="1005840"/>
          </a:xfrm>
          <a:prstGeom prst="rect">
            <a:avLst/>
          </a:prstGeom>
          <a:solidFill>
            <a:srgbClr val="EA580C"/>
          </a:solidFill>
          <a:ln w="12700">
            <a:solidFill>
              <a:srgbClr val="EA580C"/>
            </a:solidFill>
            <a:prstDash val="solid"/>
          </a:ln>
        </p:spPr>
      </p:sp>
      <p:sp>
        <p:nvSpPr>
          <p:cNvPr id="12" name="Text 10"/>
          <p:cNvSpPr/>
          <p:nvPr/>
        </p:nvSpPr>
        <p:spPr>
          <a:xfrm>
            <a:off x="5852160" y="1188720"/>
            <a:ext cx="2560320" cy="100584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IoT Alert Device</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(ESP32 + DFPlayer Mini)</a:t>
            </a:r>
            <a:endParaRPr lang="en-US" sz="1200" dirty="0"/>
          </a:p>
        </p:txBody>
      </p:sp>
      <p:sp>
        <p:nvSpPr>
          <p:cNvPr id="13" name="Shape 11"/>
          <p:cNvSpPr/>
          <p:nvPr/>
        </p:nvSpPr>
        <p:spPr>
          <a:xfrm>
            <a:off x="8595360" y="1188720"/>
            <a:ext cx="2560320" cy="1005840"/>
          </a:xfrm>
          <a:prstGeom prst="rect">
            <a:avLst/>
          </a:prstGeom>
          <a:solidFill>
            <a:srgbClr val="16A34A"/>
          </a:solidFill>
          <a:ln w="12700">
            <a:solidFill>
              <a:srgbClr val="16A34A"/>
            </a:solidFill>
            <a:prstDash val="solid"/>
          </a:ln>
        </p:spPr>
      </p:sp>
      <p:sp>
        <p:nvSpPr>
          <p:cNvPr id="14" name="Text 12"/>
          <p:cNvSpPr/>
          <p:nvPr/>
        </p:nvSpPr>
        <p:spPr>
          <a:xfrm>
            <a:off x="8595360" y="1188720"/>
            <a:ext cx="2560320" cy="100584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IoT API + MQTT Bridge</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(Node.js / Hono / Railway)</a:t>
            </a:r>
            <a:endParaRPr lang="en-US" sz="1200" dirty="0"/>
          </a:p>
        </p:txBody>
      </p:sp>
      <p:sp>
        <p:nvSpPr>
          <p:cNvPr id="15" name="Shape 13"/>
          <p:cNvSpPr/>
          <p:nvPr/>
        </p:nvSpPr>
        <p:spPr>
          <a:xfrm>
            <a:off x="1645920" y="2240280"/>
            <a:ext cx="0" cy="320040"/>
          </a:xfrm>
          <a:prstGeom prst="line">
            <a:avLst/>
          </a:prstGeom>
          <a:noFill/>
          <a:ln w="19050">
            <a:solidFill>
              <a:srgbClr val="64748B"/>
            </a:solidFill>
            <a:prstDash val="solid"/>
          </a:ln>
        </p:spPr>
      </p:sp>
      <p:sp>
        <p:nvSpPr>
          <p:cNvPr id="16" name="Shape 14"/>
          <p:cNvSpPr/>
          <p:nvPr/>
        </p:nvSpPr>
        <p:spPr>
          <a:xfrm>
            <a:off x="4389120" y="2240280"/>
            <a:ext cx="0" cy="320040"/>
          </a:xfrm>
          <a:prstGeom prst="line">
            <a:avLst/>
          </a:prstGeom>
          <a:noFill/>
          <a:ln w="19050">
            <a:solidFill>
              <a:srgbClr val="64748B"/>
            </a:solidFill>
            <a:prstDash val="solid"/>
          </a:ln>
        </p:spPr>
      </p:sp>
      <p:sp>
        <p:nvSpPr>
          <p:cNvPr id="17" name="Shape 15"/>
          <p:cNvSpPr/>
          <p:nvPr/>
        </p:nvSpPr>
        <p:spPr>
          <a:xfrm>
            <a:off x="7132320" y="2240280"/>
            <a:ext cx="0" cy="320040"/>
          </a:xfrm>
          <a:prstGeom prst="line">
            <a:avLst/>
          </a:prstGeom>
          <a:noFill/>
          <a:ln w="19050">
            <a:solidFill>
              <a:srgbClr val="64748B"/>
            </a:solidFill>
            <a:prstDash val="solid"/>
          </a:ln>
        </p:spPr>
      </p:sp>
      <p:sp>
        <p:nvSpPr>
          <p:cNvPr id="18" name="Shape 16"/>
          <p:cNvSpPr/>
          <p:nvPr/>
        </p:nvSpPr>
        <p:spPr>
          <a:xfrm>
            <a:off x="9875520" y="2240280"/>
            <a:ext cx="0" cy="320040"/>
          </a:xfrm>
          <a:prstGeom prst="line">
            <a:avLst/>
          </a:prstGeom>
          <a:noFill/>
          <a:ln w="19050">
            <a:solidFill>
              <a:srgbClr val="64748B"/>
            </a:solidFill>
            <a:prstDash val="solid"/>
          </a:ln>
        </p:spPr>
      </p:sp>
      <p:sp>
        <p:nvSpPr>
          <p:cNvPr id="19" name="Shape 17"/>
          <p:cNvSpPr/>
          <p:nvPr/>
        </p:nvSpPr>
        <p:spPr>
          <a:xfrm>
            <a:off x="1645920" y="2606040"/>
            <a:ext cx="8897112" cy="822960"/>
          </a:xfrm>
          <a:prstGeom prst="rect">
            <a:avLst/>
          </a:prstGeom>
          <a:solidFill>
            <a:srgbClr val="1B2A4A"/>
          </a:solidFill>
          <a:ln w="12700">
            <a:solidFill>
              <a:srgbClr val="1B2A4A"/>
            </a:solidFill>
            <a:prstDash val="solid"/>
          </a:ln>
        </p:spPr>
      </p:sp>
      <p:sp>
        <p:nvSpPr>
          <p:cNvPr id="20" name="Text 18"/>
          <p:cNvSpPr/>
          <p:nvPr/>
        </p:nvSpPr>
        <p:spPr>
          <a:xfrm>
            <a:off x="1645920" y="2606040"/>
            <a:ext cx="8897112" cy="8229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Supabase Cloud Backend  (PostgreSQL · Auth · Realtime · Edge Functions)</a:t>
            </a:r>
            <a:endParaRPr lang="en-US" sz="1400" dirty="0"/>
          </a:p>
        </p:txBody>
      </p:sp>
      <p:sp>
        <p:nvSpPr>
          <p:cNvPr id="21" name="Shape 19"/>
          <p:cNvSpPr/>
          <p:nvPr/>
        </p:nvSpPr>
        <p:spPr>
          <a:xfrm>
            <a:off x="365760" y="3703320"/>
            <a:ext cx="3474720" cy="640080"/>
          </a:xfrm>
          <a:prstGeom prst="rect">
            <a:avLst/>
          </a:prstGeom>
          <a:solidFill>
            <a:srgbClr val="38BDF8"/>
          </a:solidFill>
          <a:ln w="12700">
            <a:solidFill>
              <a:srgbClr val="38BDF8"/>
            </a:solidFill>
            <a:prstDash val="solid"/>
          </a:ln>
        </p:spPr>
      </p:sp>
      <p:sp>
        <p:nvSpPr>
          <p:cNvPr id="22" name="Text 20"/>
          <p:cNvSpPr/>
          <p:nvPr/>
        </p:nvSpPr>
        <p:spPr>
          <a:xfrm>
            <a:off x="365760" y="3703320"/>
            <a:ext cx="3474720" cy="64008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MQTT Broker — HiveMQ Cloud TLS 8883</a:t>
            </a:r>
            <a:endParaRPr lang="en-US" sz="1200" dirty="0"/>
          </a:p>
        </p:txBody>
      </p:sp>
      <p:sp>
        <p:nvSpPr>
          <p:cNvPr id="23" name="Shape 21"/>
          <p:cNvSpPr/>
          <p:nvPr/>
        </p:nvSpPr>
        <p:spPr>
          <a:xfrm>
            <a:off x="4114800" y="3703320"/>
            <a:ext cx="3474720" cy="640080"/>
          </a:xfrm>
          <a:prstGeom prst="rect">
            <a:avLst/>
          </a:prstGeom>
          <a:solidFill>
            <a:srgbClr val="2563EB"/>
          </a:solidFill>
          <a:ln w="12700">
            <a:solidFill>
              <a:srgbClr val="2563EB"/>
            </a:solidFill>
            <a:prstDash val="solid"/>
          </a:ln>
        </p:spPr>
      </p:sp>
      <p:sp>
        <p:nvSpPr>
          <p:cNvPr id="24" name="Text 22"/>
          <p:cNvSpPr/>
          <p:nvPr/>
        </p:nvSpPr>
        <p:spPr>
          <a:xfrm>
            <a:off x="4114800" y="3703320"/>
            <a:ext cx="3474720" cy="64008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SMS — PhilSMS via Supabase Edge Function</a:t>
            </a:r>
            <a:endParaRPr lang="en-US" sz="1200" dirty="0"/>
          </a:p>
        </p:txBody>
      </p:sp>
      <p:sp>
        <p:nvSpPr>
          <p:cNvPr id="25" name="Shape 23"/>
          <p:cNvSpPr/>
          <p:nvPr/>
        </p:nvSpPr>
        <p:spPr>
          <a:xfrm>
            <a:off x="7863840" y="3703320"/>
            <a:ext cx="3840480" cy="640080"/>
          </a:xfrm>
          <a:prstGeom prst="rect">
            <a:avLst/>
          </a:prstGeom>
          <a:solidFill>
            <a:srgbClr val="16A34A"/>
          </a:solidFill>
          <a:ln w="12700">
            <a:solidFill>
              <a:srgbClr val="16A34A"/>
            </a:solidFill>
            <a:prstDash val="solid"/>
          </a:ln>
        </p:spPr>
      </p:sp>
      <p:sp>
        <p:nvSpPr>
          <p:cNvPr id="26" name="Text 24"/>
          <p:cNvSpPr/>
          <p:nvPr/>
        </p:nvSpPr>
        <p:spPr>
          <a:xfrm>
            <a:off x="7863840" y="3703320"/>
            <a:ext cx="3840480" cy="64008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Push Notifications — Expo Push (APNs / FCM)</a:t>
            </a:r>
            <a:endParaRPr lang="en-US" sz="1200" dirty="0"/>
          </a:p>
        </p:txBody>
      </p:sp>
      <p:sp>
        <p:nvSpPr>
          <p:cNvPr id="27" name="Text 25"/>
          <p:cNvSpPr/>
          <p:nvPr/>
        </p:nvSpPr>
        <p:spPr>
          <a:xfrm>
            <a:off x="457200" y="4617720"/>
            <a:ext cx="11274552" cy="365760"/>
          </a:xfrm>
          <a:prstGeom prst="rect">
            <a:avLst/>
          </a:prstGeom>
          <a:noFill/>
          <a:ln/>
        </p:spPr>
        <p:txBody>
          <a:bodyPr wrap="square" rtlCol="0" anchor="ctr"/>
          <a:lstStyle/>
          <a:p>
            <a:pPr indent="0" marL="0">
              <a:buNone/>
            </a:pPr>
            <a:r>
              <a:rPr lang="en-US" sz="1600" b="1" dirty="0">
                <a:solidFill>
                  <a:srgbClr val="2563EB"/>
                </a:solidFill>
                <a:latin typeface="Calibri" pitchFamily="34" charset="0"/>
                <a:ea typeface="Calibri" pitchFamily="34" charset="-122"/>
                <a:cs typeface="Calibri" pitchFamily="34" charset="-120"/>
              </a:rPr>
              <a:t>Deployment</a:t>
            </a:r>
            <a:endParaRPr lang="en-US" sz="1600" dirty="0"/>
          </a:p>
        </p:txBody>
      </p:sp>
      <p:sp>
        <p:nvSpPr>
          <p:cNvPr id="28" name="Shape 26"/>
          <p:cNvSpPr/>
          <p:nvPr/>
        </p:nvSpPr>
        <p:spPr>
          <a:xfrm>
            <a:off x="365760" y="4983480"/>
            <a:ext cx="1463040" cy="347472"/>
          </a:xfrm>
          <a:prstGeom prst="rect">
            <a:avLst/>
          </a:prstGeom>
          <a:solidFill>
            <a:srgbClr val="2563EB"/>
          </a:solidFill>
          <a:ln w="12700">
            <a:solidFill>
              <a:srgbClr val="2563EB"/>
            </a:solidFill>
            <a:prstDash val="solid"/>
          </a:ln>
        </p:spPr>
      </p:sp>
      <p:sp>
        <p:nvSpPr>
          <p:cNvPr id="29" name="Text 27"/>
          <p:cNvSpPr/>
          <p:nvPr/>
        </p:nvSpPr>
        <p:spPr>
          <a:xfrm>
            <a:off x="365760" y="4983480"/>
            <a:ext cx="146304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Mobile</a:t>
            </a:r>
            <a:endParaRPr lang="en-US" sz="1000" dirty="0"/>
          </a:p>
        </p:txBody>
      </p:sp>
      <p:sp>
        <p:nvSpPr>
          <p:cNvPr id="30" name="Text 28"/>
          <p:cNvSpPr/>
          <p:nvPr/>
        </p:nvSpPr>
        <p:spPr>
          <a:xfrm>
            <a:off x="365760" y="5376672"/>
            <a:ext cx="1463040" cy="320040"/>
          </a:xfrm>
          <a:prstGeom prst="rect">
            <a:avLst/>
          </a:prstGeom>
          <a:noFill/>
          <a:ln/>
        </p:spPr>
        <p:txBody>
          <a:bodyPr wrap="square" rtlCol="0" anchor="t"/>
          <a:lstStyle/>
          <a:p>
            <a:pPr algn="ctr" indent="0" marL="0">
              <a:buNone/>
            </a:pPr>
            <a:r>
              <a:rPr lang="en-US" sz="1000" dirty="0">
                <a:solidFill>
                  <a:srgbClr val="64748B"/>
                </a:solidFill>
                <a:latin typeface="Calibri" pitchFamily="34" charset="0"/>
                <a:ea typeface="Calibri" pitchFamily="34" charset="-122"/>
                <a:cs typeface="Calibri" pitchFamily="34" charset="-120"/>
              </a:rPr>
              <a:t>Expo EAS (expo.dev)</a:t>
            </a:r>
            <a:endParaRPr lang="en-US" sz="1000" dirty="0"/>
          </a:p>
        </p:txBody>
      </p:sp>
      <p:sp>
        <p:nvSpPr>
          <p:cNvPr id="31" name="Shape 29"/>
          <p:cNvSpPr/>
          <p:nvPr/>
        </p:nvSpPr>
        <p:spPr>
          <a:xfrm>
            <a:off x="2286000" y="4983480"/>
            <a:ext cx="1463040" cy="347472"/>
          </a:xfrm>
          <a:prstGeom prst="rect">
            <a:avLst/>
          </a:prstGeom>
          <a:solidFill>
            <a:srgbClr val="EA580C"/>
          </a:solidFill>
          <a:ln w="12700">
            <a:solidFill>
              <a:srgbClr val="EA580C"/>
            </a:solidFill>
            <a:prstDash val="solid"/>
          </a:ln>
        </p:spPr>
      </p:sp>
      <p:sp>
        <p:nvSpPr>
          <p:cNvPr id="32" name="Text 30"/>
          <p:cNvSpPr/>
          <p:nvPr/>
        </p:nvSpPr>
        <p:spPr>
          <a:xfrm>
            <a:off x="2286000" y="4983480"/>
            <a:ext cx="146304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Web</a:t>
            </a:r>
            <a:endParaRPr lang="en-US" sz="1000" dirty="0"/>
          </a:p>
        </p:txBody>
      </p:sp>
      <p:sp>
        <p:nvSpPr>
          <p:cNvPr id="33" name="Text 31"/>
          <p:cNvSpPr/>
          <p:nvPr/>
        </p:nvSpPr>
        <p:spPr>
          <a:xfrm>
            <a:off x="2286000" y="5376672"/>
            <a:ext cx="1463040" cy="320040"/>
          </a:xfrm>
          <a:prstGeom prst="rect">
            <a:avLst/>
          </a:prstGeom>
          <a:noFill/>
          <a:ln/>
        </p:spPr>
        <p:txBody>
          <a:bodyPr wrap="square" rtlCol="0" anchor="t"/>
          <a:lstStyle/>
          <a:p>
            <a:pPr algn="ctr" indent="0" marL="0">
              <a:buNone/>
            </a:pPr>
            <a:r>
              <a:rPr lang="en-US" sz="1000" dirty="0">
                <a:solidFill>
                  <a:srgbClr val="64748B"/>
                </a:solidFill>
                <a:latin typeface="Calibri" pitchFamily="34" charset="0"/>
                <a:ea typeface="Calibri" pitchFamily="34" charset="-122"/>
                <a:cs typeface="Calibri" pitchFamily="34" charset="-120"/>
              </a:rPr>
              <a:t>Firebase Hosting</a:t>
            </a:r>
            <a:endParaRPr lang="en-US" sz="1000" dirty="0"/>
          </a:p>
        </p:txBody>
      </p:sp>
      <p:sp>
        <p:nvSpPr>
          <p:cNvPr id="34" name="Shape 32"/>
          <p:cNvSpPr/>
          <p:nvPr/>
        </p:nvSpPr>
        <p:spPr>
          <a:xfrm>
            <a:off x="4206240" y="4983480"/>
            <a:ext cx="1463040" cy="347472"/>
          </a:xfrm>
          <a:prstGeom prst="rect">
            <a:avLst/>
          </a:prstGeom>
          <a:solidFill>
            <a:srgbClr val="16A34A"/>
          </a:solidFill>
          <a:ln w="12700">
            <a:solidFill>
              <a:srgbClr val="16A34A"/>
            </a:solidFill>
            <a:prstDash val="solid"/>
          </a:ln>
        </p:spPr>
      </p:sp>
      <p:sp>
        <p:nvSpPr>
          <p:cNvPr id="35" name="Text 33"/>
          <p:cNvSpPr/>
          <p:nvPr/>
        </p:nvSpPr>
        <p:spPr>
          <a:xfrm>
            <a:off x="4206240" y="4983480"/>
            <a:ext cx="146304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API</a:t>
            </a:r>
            <a:endParaRPr lang="en-US" sz="1000" dirty="0"/>
          </a:p>
        </p:txBody>
      </p:sp>
      <p:sp>
        <p:nvSpPr>
          <p:cNvPr id="36" name="Text 34"/>
          <p:cNvSpPr/>
          <p:nvPr/>
        </p:nvSpPr>
        <p:spPr>
          <a:xfrm>
            <a:off x="4206240" y="5376672"/>
            <a:ext cx="1463040" cy="320040"/>
          </a:xfrm>
          <a:prstGeom prst="rect">
            <a:avLst/>
          </a:prstGeom>
          <a:noFill/>
          <a:ln/>
        </p:spPr>
        <p:txBody>
          <a:bodyPr wrap="square" rtlCol="0" anchor="t"/>
          <a:lstStyle/>
          <a:p>
            <a:pPr algn="ctr" indent="0" marL="0">
              <a:buNone/>
            </a:pPr>
            <a:r>
              <a:rPr lang="en-US" sz="1000" dirty="0">
                <a:solidFill>
                  <a:srgbClr val="64748B"/>
                </a:solidFill>
                <a:latin typeface="Calibri" pitchFamily="34" charset="0"/>
                <a:ea typeface="Calibri" pitchFamily="34" charset="-122"/>
                <a:cs typeface="Calibri" pitchFamily="34" charset="-120"/>
              </a:rPr>
              <a:t>Railway</a:t>
            </a:r>
            <a:endParaRPr lang="en-US" sz="1000" dirty="0"/>
          </a:p>
        </p:txBody>
      </p:sp>
      <p:sp>
        <p:nvSpPr>
          <p:cNvPr id="37" name="Shape 35"/>
          <p:cNvSpPr/>
          <p:nvPr/>
        </p:nvSpPr>
        <p:spPr>
          <a:xfrm>
            <a:off x="6126480" y="4983480"/>
            <a:ext cx="1463040" cy="347472"/>
          </a:xfrm>
          <a:prstGeom prst="rect">
            <a:avLst/>
          </a:prstGeom>
          <a:solidFill>
            <a:srgbClr val="1B2A4A"/>
          </a:solidFill>
          <a:ln w="12700">
            <a:solidFill>
              <a:srgbClr val="1B2A4A"/>
            </a:solidFill>
            <a:prstDash val="solid"/>
          </a:ln>
        </p:spPr>
      </p:sp>
      <p:sp>
        <p:nvSpPr>
          <p:cNvPr id="38" name="Text 36"/>
          <p:cNvSpPr/>
          <p:nvPr/>
        </p:nvSpPr>
        <p:spPr>
          <a:xfrm>
            <a:off x="6126480" y="4983480"/>
            <a:ext cx="146304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Backend</a:t>
            </a:r>
            <a:endParaRPr lang="en-US" sz="1000" dirty="0"/>
          </a:p>
        </p:txBody>
      </p:sp>
      <p:sp>
        <p:nvSpPr>
          <p:cNvPr id="39" name="Text 37"/>
          <p:cNvSpPr/>
          <p:nvPr/>
        </p:nvSpPr>
        <p:spPr>
          <a:xfrm>
            <a:off x="6126480" y="5376672"/>
            <a:ext cx="1463040" cy="320040"/>
          </a:xfrm>
          <a:prstGeom prst="rect">
            <a:avLst/>
          </a:prstGeom>
          <a:noFill/>
          <a:ln/>
        </p:spPr>
        <p:txBody>
          <a:bodyPr wrap="square" rtlCol="0" anchor="t"/>
          <a:lstStyle/>
          <a:p>
            <a:pPr algn="ctr" indent="0" marL="0">
              <a:buNone/>
            </a:pPr>
            <a:r>
              <a:rPr lang="en-US" sz="1000" dirty="0">
                <a:solidFill>
                  <a:srgbClr val="64748B"/>
                </a:solidFill>
                <a:latin typeface="Calibri" pitchFamily="34" charset="0"/>
                <a:ea typeface="Calibri" pitchFamily="34" charset="-122"/>
                <a:cs typeface="Calibri" pitchFamily="34" charset="-120"/>
              </a:rPr>
              <a:t>Supabase</a:t>
            </a:r>
            <a:endParaRPr lang="en-US" sz="1000" dirty="0"/>
          </a:p>
        </p:txBody>
      </p:sp>
      <p:sp>
        <p:nvSpPr>
          <p:cNvPr id="40" name="Shape 38"/>
          <p:cNvSpPr/>
          <p:nvPr/>
        </p:nvSpPr>
        <p:spPr>
          <a:xfrm>
            <a:off x="8046720" y="4983480"/>
            <a:ext cx="1463040" cy="347472"/>
          </a:xfrm>
          <a:prstGeom prst="rect">
            <a:avLst/>
          </a:prstGeom>
          <a:solidFill>
            <a:srgbClr val="38BDF8"/>
          </a:solidFill>
          <a:ln w="12700">
            <a:solidFill>
              <a:srgbClr val="38BDF8"/>
            </a:solidFill>
            <a:prstDash val="solid"/>
          </a:ln>
        </p:spPr>
      </p:sp>
      <p:sp>
        <p:nvSpPr>
          <p:cNvPr id="41" name="Text 39"/>
          <p:cNvSpPr/>
          <p:nvPr/>
        </p:nvSpPr>
        <p:spPr>
          <a:xfrm>
            <a:off x="8046720" y="4983480"/>
            <a:ext cx="146304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MQTT</a:t>
            </a:r>
            <a:endParaRPr lang="en-US" sz="1000" dirty="0"/>
          </a:p>
        </p:txBody>
      </p:sp>
      <p:sp>
        <p:nvSpPr>
          <p:cNvPr id="42" name="Text 40"/>
          <p:cNvSpPr/>
          <p:nvPr/>
        </p:nvSpPr>
        <p:spPr>
          <a:xfrm>
            <a:off x="8046720" y="5376672"/>
            <a:ext cx="1463040" cy="320040"/>
          </a:xfrm>
          <a:prstGeom prst="rect">
            <a:avLst/>
          </a:prstGeom>
          <a:noFill/>
          <a:ln/>
        </p:spPr>
        <p:txBody>
          <a:bodyPr wrap="square" rtlCol="0" anchor="t"/>
          <a:lstStyle/>
          <a:p>
            <a:pPr algn="ctr" indent="0" marL="0">
              <a:buNone/>
            </a:pPr>
            <a:r>
              <a:rPr lang="en-US" sz="1000" dirty="0">
                <a:solidFill>
                  <a:srgbClr val="64748B"/>
                </a:solidFill>
                <a:latin typeface="Calibri" pitchFamily="34" charset="0"/>
                <a:ea typeface="Calibri" pitchFamily="34" charset="-122"/>
                <a:cs typeface="Calibri" pitchFamily="34" charset="-120"/>
              </a:rPr>
              <a:t>HiveMQ Cloud</a:t>
            </a:r>
            <a:endParaRPr lang="en-US" sz="1000" dirty="0"/>
          </a:p>
        </p:txBody>
      </p:sp>
      <p:sp>
        <p:nvSpPr>
          <p:cNvPr id="43" name="Shape 41"/>
          <p:cNvSpPr/>
          <p:nvPr/>
        </p:nvSpPr>
        <p:spPr>
          <a:xfrm>
            <a:off x="9966960" y="4983480"/>
            <a:ext cx="1463040" cy="347472"/>
          </a:xfrm>
          <a:prstGeom prst="rect">
            <a:avLst/>
          </a:prstGeom>
          <a:solidFill>
            <a:srgbClr val="DC2626"/>
          </a:solidFill>
          <a:ln w="12700">
            <a:solidFill>
              <a:srgbClr val="DC2626"/>
            </a:solidFill>
            <a:prstDash val="solid"/>
          </a:ln>
        </p:spPr>
      </p:sp>
      <p:sp>
        <p:nvSpPr>
          <p:cNvPr id="44" name="Text 42"/>
          <p:cNvSpPr/>
          <p:nvPr/>
        </p:nvSpPr>
        <p:spPr>
          <a:xfrm>
            <a:off x="9966960" y="4983480"/>
            <a:ext cx="146304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SMS</a:t>
            </a:r>
            <a:endParaRPr lang="en-US" sz="1000" dirty="0"/>
          </a:p>
        </p:txBody>
      </p:sp>
      <p:sp>
        <p:nvSpPr>
          <p:cNvPr id="45" name="Text 43"/>
          <p:cNvSpPr/>
          <p:nvPr/>
        </p:nvSpPr>
        <p:spPr>
          <a:xfrm>
            <a:off x="9966960" y="5376672"/>
            <a:ext cx="1463040" cy="320040"/>
          </a:xfrm>
          <a:prstGeom prst="rect">
            <a:avLst/>
          </a:prstGeom>
          <a:noFill/>
          <a:ln/>
        </p:spPr>
        <p:txBody>
          <a:bodyPr wrap="square" rtlCol="0" anchor="t"/>
          <a:lstStyle/>
          <a:p>
            <a:pPr algn="ctr" indent="0" marL="0">
              <a:buNone/>
            </a:pPr>
            <a:r>
              <a:rPr lang="en-US" sz="1000" dirty="0">
                <a:solidFill>
                  <a:srgbClr val="64748B"/>
                </a:solidFill>
                <a:latin typeface="Calibri" pitchFamily="34" charset="0"/>
                <a:ea typeface="Calibri" pitchFamily="34" charset="-122"/>
                <a:cs typeface="Calibri" pitchFamily="34" charset="-120"/>
              </a:rPr>
              <a:t>PhilSMS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FFFFF"/>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Text 3"/>
          <p:cNvSpPr/>
          <p:nvPr/>
        </p:nvSpPr>
        <p:spPr>
          <a:xfrm>
            <a:off x="457200" y="274320"/>
            <a:ext cx="11274552" cy="548640"/>
          </a:xfrm>
          <a:prstGeom prst="rect">
            <a:avLst/>
          </a:prstGeom>
          <a:noFill/>
          <a:ln/>
        </p:spPr>
        <p:txBody>
          <a:bodyPr wrap="square" rtlCol="0" anchor="ctr"/>
          <a:lstStyle/>
          <a:p>
            <a:pPr indent="0" marL="0">
              <a:buNone/>
            </a:pPr>
            <a:r>
              <a:rPr lang="en-US" sz="2800" b="1" dirty="0">
                <a:solidFill>
                  <a:srgbClr val="1B2A4A"/>
                </a:solidFill>
                <a:latin typeface="Calibri" pitchFamily="34" charset="0"/>
                <a:ea typeface="Calibri" pitchFamily="34" charset="-122"/>
                <a:cs typeface="Calibri" pitchFamily="34" charset="-120"/>
              </a:rPr>
              <a:t>Drowsiness Detection Algorithm</a:t>
            </a:r>
            <a:endParaRPr lang="en-US" sz="2800" dirty="0"/>
          </a:p>
        </p:txBody>
      </p:sp>
      <p:sp>
        <p:nvSpPr>
          <p:cNvPr id="6" name="Shape 4"/>
          <p:cNvSpPr/>
          <p:nvPr/>
        </p:nvSpPr>
        <p:spPr>
          <a:xfrm>
            <a:off x="457200" y="960120"/>
            <a:ext cx="11274552" cy="0"/>
          </a:xfrm>
          <a:prstGeom prst="line">
            <a:avLst/>
          </a:prstGeom>
          <a:noFill/>
          <a:ln w="19050">
            <a:solidFill>
              <a:srgbClr val="38BDF8"/>
            </a:solidFill>
            <a:prstDash val="solid"/>
          </a:ln>
        </p:spPr>
      </p:sp>
      <p:sp>
        <p:nvSpPr>
          <p:cNvPr id="7" name="Text 5"/>
          <p:cNvSpPr/>
          <p:nvPr/>
        </p:nvSpPr>
        <p:spPr>
          <a:xfrm>
            <a:off x="457200" y="1051560"/>
            <a:ext cx="11274552" cy="365760"/>
          </a:xfrm>
          <a:prstGeom prst="rect">
            <a:avLst/>
          </a:prstGeom>
          <a:noFill/>
          <a:ln/>
        </p:spPr>
        <p:txBody>
          <a:bodyPr wrap="square" rtlCol="0" anchor="ctr"/>
          <a:lstStyle/>
          <a:p>
            <a:pPr indent="0" marL="0">
              <a:buNone/>
            </a:pPr>
            <a:r>
              <a:rPr lang="en-US" sz="1600" b="1" dirty="0">
                <a:solidFill>
                  <a:srgbClr val="2563EB"/>
                </a:solidFill>
                <a:latin typeface="Calibri" pitchFamily="34" charset="0"/>
                <a:ea typeface="Calibri" pitchFamily="34" charset="-122"/>
                <a:cs typeface="Calibri" pitchFamily="34" charset="-120"/>
              </a:rPr>
              <a:t>MediaPipe Face Landmarker</a:t>
            </a:r>
            <a:endParaRPr lang="en-US" sz="1600" dirty="0"/>
          </a:p>
        </p:txBody>
      </p:sp>
      <p:sp>
        <p:nvSpPr>
          <p:cNvPr id="8" name="Text 6"/>
          <p:cNvSpPr/>
          <p:nvPr/>
        </p:nvSpPr>
        <p:spPr>
          <a:xfrm>
            <a:off x="457200" y="1417320"/>
            <a:ext cx="11274552" cy="457200"/>
          </a:xfrm>
          <a:prstGeom prst="rect">
            <a:avLst/>
          </a:prstGeom>
          <a:noFill/>
          <a:ln/>
        </p:spPr>
        <p:txBody>
          <a:bodyPr wrap="square" rtlCol="0" anchor="t"/>
          <a:lstStyle/>
          <a:p>
            <a:pPr algn="l" indent="0" marL="0">
              <a:buNone/>
            </a:pPr>
            <a:r>
              <a:rPr lang="en-US" sz="1250" dirty="0">
                <a:solidFill>
                  <a:srgbClr val="64748B"/>
                </a:solidFill>
                <a:latin typeface="Calibri" pitchFamily="34" charset="0"/>
                <a:ea typeface="Calibri" pitchFamily="34" charset="-122"/>
                <a:cs typeface="Calibri" pitchFamily="34" charset="-120"/>
              </a:rPr>
              <a:t>478 facial landmarks + 52 blend shape coefficients  ·  Mobile: IMAGE mode @ 600ms  ·  Web: VIDEO mode @ 130ms (WASM)</a:t>
            </a:r>
            <a:endParaRPr lang="en-US" sz="1250" dirty="0"/>
          </a:p>
        </p:txBody>
      </p:sp>
      <p:sp>
        <p:nvSpPr>
          <p:cNvPr id="9" name="Shape 7"/>
          <p:cNvSpPr/>
          <p:nvPr/>
        </p:nvSpPr>
        <p:spPr>
          <a:xfrm>
            <a:off x="365760" y="2011680"/>
            <a:ext cx="2606040" cy="457200"/>
          </a:xfrm>
          <a:prstGeom prst="rect">
            <a:avLst/>
          </a:prstGeom>
          <a:solidFill>
            <a:srgbClr val="2563EB"/>
          </a:solidFill>
          <a:ln w="12700">
            <a:solidFill>
              <a:srgbClr val="2563EB"/>
            </a:solidFill>
            <a:prstDash val="solid"/>
          </a:ln>
        </p:spPr>
      </p:sp>
      <p:sp>
        <p:nvSpPr>
          <p:cNvPr id="10" name="Text 8"/>
          <p:cNvSpPr/>
          <p:nvPr/>
        </p:nvSpPr>
        <p:spPr>
          <a:xfrm>
            <a:off x="365760" y="2011680"/>
            <a:ext cx="260604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Yawn Detection</a:t>
            </a:r>
            <a:endParaRPr lang="en-US" sz="1300" dirty="0"/>
          </a:p>
        </p:txBody>
      </p:sp>
      <p:sp>
        <p:nvSpPr>
          <p:cNvPr id="11" name="Text 9"/>
          <p:cNvSpPr/>
          <p:nvPr/>
        </p:nvSpPr>
        <p:spPr>
          <a:xfrm>
            <a:off x="365760" y="2514600"/>
            <a:ext cx="2606040" cy="1188720"/>
          </a:xfrm>
          <a:prstGeom prst="rect">
            <a:avLst/>
          </a:prstGeom>
          <a:noFill/>
          <a:ln/>
        </p:spPr>
        <p:txBody>
          <a:bodyPr wrap="square" rtlCol="0" anchor="t"/>
          <a:lstStyle/>
          <a:p>
            <a:pPr algn="l" indent="0" marL="0">
              <a:buNone/>
            </a:pPr>
            <a:r>
              <a:rPr lang="en-US" sz="1150" dirty="0">
                <a:solidFill>
                  <a:srgbClr val="0F172A"/>
                </a:solidFill>
                <a:latin typeface="Calibri" pitchFamily="34" charset="0"/>
                <a:ea typeface="Calibri" pitchFamily="34" charset="-122"/>
                <a:cs typeface="Calibri" pitchFamily="34" charset="-120"/>
              </a:rPr>
              <a:t>jawOpen blend shape ≥ 0.70 → open</a:t>
            </a:r>
            <a:endParaRPr lang="en-US" sz="1150" dirty="0"/>
          </a:p>
          <a:p>
            <a:pPr algn="l" indent="0" marL="0">
              <a:buNone/>
            </a:pPr>
            <a:r>
              <a:rPr lang="en-US" sz="1150" dirty="0">
                <a:solidFill>
                  <a:srgbClr val="0F172A"/>
                </a:solidFill>
                <a:latin typeface="Calibri" pitchFamily="34" charset="0"/>
                <a:ea typeface="Calibri" pitchFamily="34" charset="-122"/>
                <a:cs typeface="Calibri" pitchFamily="34" charset="-120"/>
              </a:rPr>
              <a:t>jawOpen ≤ 0.40 → yawn confirmed</a:t>
            </a:r>
            <a:endParaRPr lang="en-US" sz="1150" dirty="0"/>
          </a:p>
          <a:p>
            <a:pPr algn="l" indent="0" marL="0">
              <a:buNone/>
            </a:pPr>
            <a:r>
              <a:rPr lang="en-US" sz="1150" dirty="0">
                <a:solidFill>
                  <a:srgbClr val="0F172A"/>
                </a:solidFill>
                <a:latin typeface="Calibri" pitchFamily="34" charset="0"/>
                <a:ea typeface="Calibri" pitchFamily="34" charset="-122"/>
                <a:cs typeface="Calibri" pitchFamily="34" charset="-120"/>
              </a:rPr>
              <a:t>Cooldown: 2,000ms</a:t>
            </a:r>
            <a:endParaRPr lang="en-US" sz="1150" dirty="0"/>
          </a:p>
        </p:txBody>
      </p:sp>
      <p:sp>
        <p:nvSpPr>
          <p:cNvPr id="12" name="Shape 10"/>
          <p:cNvSpPr/>
          <p:nvPr/>
        </p:nvSpPr>
        <p:spPr>
          <a:xfrm>
            <a:off x="3200400" y="2011680"/>
            <a:ext cx="2606040" cy="457200"/>
          </a:xfrm>
          <a:prstGeom prst="rect">
            <a:avLst/>
          </a:prstGeom>
          <a:solidFill>
            <a:srgbClr val="1B2A4A"/>
          </a:solidFill>
          <a:ln w="12700">
            <a:solidFill>
              <a:srgbClr val="1B2A4A"/>
            </a:solidFill>
            <a:prstDash val="solid"/>
          </a:ln>
        </p:spPr>
      </p:sp>
      <p:sp>
        <p:nvSpPr>
          <p:cNvPr id="13" name="Text 11"/>
          <p:cNvSpPr/>
          <p:nvPr/>
        </p:nvSpPr>
        <p:spPr>
          <a:xfrm>
            <a:off x="3200400" y="2011680"/>
            <a:ext cx="260604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Head Nodding</a:t>
            </a:r>
            <a:endParaRPr lang="en-US" sz="1300" dirty="0"/>
          </a:p>
        </p:txBody>
      </p:sp>
      <p:sp>
        <p:nvSpPr>
          <p:cNvPr id="14" name="Text 12"/>
          <p:cNvSpPr/>
          <p:nvPr/>
        </p:nvSpPr>
        <p:spPr>
          <a:xfrm>
            <a:off x="3200400" y="2514600"/>
            <a:ext cx="2606040" cy="1188720"/>
          </a:xfrm>
          <a:prstGeom prst="rect">
            <a:avLst/>
          </a:prstGeom>
          <a:noFill/>
          <a:ln/>
        </p:spPr>
        <p:txBody>
          <a:bodyPr wrap="square" rtlCol="0" anchor="t"/>
          <a:lstStyle/>
          <a:p>
            <a:pPr algn="l" indent="0" marL="0">
              <a:buNone/>
            </a:pPr>
            <a:r>
              <a:rPr lang="en-US" sz="1150" dirty="0">
                <a:solidFill>
                  <a:srgbClr val="0F172A"/>
                </a:solidFill>
                <a:latin typeface="Calibri" pitchFamily="34" charset="0"/>
                <a:ea typeface="Calibri" pitchFamily="34" charset="-122"/>
                <a:cs typeface="Calibri" pitchFamily="34" charset="-120"/>
              </a:rPr>
              <a:t>Pitch &gt; 0.35 or Roll &gt; 0.25 rad</a:t>
            </a:r>
            <a:endParaRPr lang="en-US" sz="1150" dirty="0"/>
          </a:p>
          <a:p>
            <a:pPr algn="l" indent="0" marL="0">
              <a:buNone/>
            </a:pPr>
            <a:r>
              <a:rPr lang="en-US" sz="1150" dirty="0">
                <a:solidFill>
                  <a:srgbClr val="0F172A"/>
                </a:solidFill>
                <a:latin typeface="Calibri" pitchFamily="34" charset="0"/>
                <a:ea typeface="Calibri" pitchFamily="34" charset="-122"/>
                <a:cs typeface="Calibri" pitchFamily="34" charset="-120"/>
              </a:rPr>
              <a:t>Fires on centered→offCenter transition</a:t>
            </a:r>
            <a:endParaRPr lang="en-US" sz="1150" dirty="0"/>
          </a:p>
          <a:p>
            <a:pPr algn="l" indent="0" marL="0">
              <a:buNone/>
            </a:pPr>
            <a:r>
              <a:rPr lang="en-US" sz="1150" dirty="0">
                <a:solidFill>
                  <a:srgbClr val="0F172A"/>
                </a:solidFill>
                <a:latin typeface="Calibri" pitchFamily="34" charset="0"/>
                <a:ea typeface="Calibri" pitchFamily="34" charset="-122"/>
                <a:cs typeface="Calibri" pitchFamily="34" charset="-120"/>
              </a:rPr>
              <a:t>Cooldown: 500ms</a:t>
            </a:r>
            <a:endParaRPr lang="en-US" sz="1150" dirty="0"/>
          </a:p>
        </p:txBody>
      </p:sp>
      <p:sp>
        <p:nvSpPr>
          <p:cNvPr id="15" name="Shape 13"/>
          <p:cNvSpPr/>
          <p:nvPr/>
        </p:nvSpPr>
        <p:spPr>
          <a:xfrm>
            <a:off x="6035040" y="2011680"/>
            <a:ext cx="2606040" cy="457200"/>
          </a:xfrm>
          <a:prstGeom prst="rect">
            <a:avLst/>
          </a:prstGeom>
          <a:solidFill>
            <a:srgbClr val="EA580C"/>
          </a:solidFill>
          <a:ln w="12700">
            <a:solidFill>
              <a:srgbClr val="EA580C"/>
            </a:solidFill>
            <a:prstDash val="solid"/>
          </a:ln>
        </p:spPr>
      </p:sp>
      <p:sp>
        <p:nvSpPr>
          <p:cNvPr id="16" name="Text 14"/>
          <p:cNvSpPr/>
          <p:nvPr/>
        </p:nvSpPr>
        <p:spPr>
          <a:xfrm>
            <a:off x="6035040" y="2011680"/>
            <a:ext cx="260604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Sustained Tilt</a:t>
            </a:r>
            <a:endParaRPr lang="en-US" sz="1300" dirty="0"/>
          </a:p>
        </p:txBody>
      </p:sp>
      <p:sp>
        <p:nvSpPr>
          <p:cNvPr id="17" name="Text 15"/>
          <p:cNvSpPr/>
          <p:nvPr/>
        </p:nvSpPr>
        <p:spPr>
          <a:xfrm>
            <a:off x="6035040" y="2514600"/>
            <a:ext cx="2606040" cy="1188720"/>
          </a:xfrm>
          <a:prstGeom prst="rect">
            <a:avLst/>
          </a:prstGeom>
          <a:noFill/>
          <a:ln/>
        </p:spPr>
        <p:txBody>
          <a:bodyPr wrap="square" rtlCol="0" anchor="t"/>
          <a:lstStyle/>
          <a:p>
            <a:pPr algn="l" indent="0" marL="0">
              <a:buNone/>
            </a:pPr>
            <a:r>
              <a:rPr lang="en-US" sz="1150" dirty="0">
                <a:solidFill>
                  <a:srgbClr val="0F172A"/>
                </a:solidFill>
                <a:latin typeface="Calibri" pitchFamily="34" charset="0"/>
                <a:ea typeface="Calibri" pitchFamily="34" charset="-122"/>
                <a:cs typeface="Calibri" pitchFamily="34" charset="-120"/>
              </a:rPr>
              <a:t>Off-center for ≥ 10 seconds</a:t>
            </a:r>
            <a:endParaRPr lang="en-US" sz="1150" dirty="0"/>
          </a:p>
          <a:p>
            <a:pPr algn="l" indent="0" marL="0">
              <a:buNone/>
            </a:pPr>
            <a:r>
              <a:rPr lang="en-US" sz="1150" dirty="0">
                <a:solidFill>
                  <a:srgbClr val="0F172A"/>
                </a:solidFill>
                <a:latin typeface="Calibri" pitchFamily="34" charset="0"/>
                <a:ea typeface="Calibri" pitchFamily="34" charset="-122"/>
                <a:cs typeface="Calibri" pitchFamily="34" charset="-120"/>
              </a:rPr>
              <a:t>(4 grace frames allowed)</a:t>
            </a:r>
            <a:endParaRPr lang="en-US" sz="1150" dirty="0"/>
          </a:p>
          <a:p>
            <a:pPr algn="l" indent="0" marL="0">
              <a:buNone/>
            </a:pPr>
            <a:r>
              <a:rPr lang="en-US" sz="1150" dirty="0">
                <a:solidFill>
                  <a:srgbClr val="0F172A"/>
                </a:solidFill>
                <a:latin typeface="Calibri" pitchFamily="34" charset="0"/>
                <a:ea typeface="Calibri" pitchFamily="34" charset="-122"/>
                <a:cs typeface="Calibri" pitchFamily="34" charset="-120"/>
              </a:rPr>
              <a:t>→ Independent Level 8 alert modal</a:t>
            </a:r>
            <a:endParaRPr lang="en-US" sz="1150" dirty="0"/>
          </a:p>
        </p:txBody>
      </p:sp>
      <p:sp>
        <p:nvSpPr>
          <p:cNvPr id="18" name="Shape 16"/>
          <p:cNvSpPr/>
          <p:nvPr/>
        </p:nvSpPr>
        <p:spPr>
          <a:xfrm>
            <a:off x="8869680" y="2011680"/>
            <a:ext cx="2606040" cy="457200"/>
          </a:xfrm>
          <a:prstGeom prst="rect">
            <a:avLst/>
          </a:prstGeom>
          <a:solidFill>
            <a:srgbClr val="DC2626"/>
          </a:solidFill>
          <a:ln w="12700">
            <a:solidFill>
              <a:srgbClr val="DC2626"/>
            </a:solidFill>
            <a:prstDash val="solid"/>
          </a:ln>
        </p:spPr>
      </p:sp>
      <p:sp>
        <p:nvSpPr>
          <p:cNvPr id="19" name="Text 17"/>
          <p:cNvSpPr/>
          <p:nvPr/>
        </p:nvSpPr>
        <p:spPr>
          <a:xfrm>
            <a:off x="8869680" y="2011680"/>
            <a:ext cx="260604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Sudden Brake</a:t>
            </a:r>
            <a:endParaRPr lang="en-US" sz="1300" dirty="0"/>
          </a:p>
        </p:txBody>
      </p:sp>
      <p:sp>
        <p:nvSpPr>
          <p:cNvPr id="20" name="Text 18"/>
          <p:cNvSpPr/>
          <p:nvPr/>
        </p:nvSpPr>
        <p:spPr>
          <a:xfrm>
            <a:off x="8869680" y="2514600"/>
            <a:ext cx="2606040" cy="1188720"/>
          </a:xfrm>
          <a:prstGeom prst="rect">
            <a:avLst/>
          </a:prstGeom>
          <a:noFill/>
          <a:ln/>
        </p:spPr>
        <p:txBody>
          <a:bodyPr wrap="square" rtlCol="0" anchor="t"/>
          <a:lstStyle/>
          <a:p>
            <a:pPr algn="l" indent="0" marL="0">
              <a:buNone/>
            </a:pPr>
            <a:r>
              <a:rPr lang="en-US" sz="1150" dirty="0">
                <a:solidFill>
                  <a:srgbClr val="0F172A"/>
                </a:solidFill>
                <a:latin typeface="Calibri" pitchFamily="34" charset="0"/>
                <a:ea typeface="Calibri" pitchFamily="34" charset="-122"/>
                <a:cs typeface="Calibri" pitchFamily="34" charset="-120"/>
              </a:rPr>
              <a:t>Accelerometer delta &gt; 0.45 g</a:t>
            </a:r>
            <a:endParaRPr lang="en-US" sz="1150" dirty="0"/>
          </a:p>
          <a:p>
            <a:pPr algn="l" indent="0" marL="0">
              <a:buNone/>
            </a:pPr>
            <a:r>
              <a:rPr lang="en-US" sz="1150" dirty="0">
                <a:solidFill>
                  <a:srgbClr val="0F172A"/>
                </a:solidFill>
                <a:latin typeface="Calibri" pitchFamily="34" charset="0"/>
                <a:ea typeface="Calibri" pitchFamily="34" charset="-122"/>
                <a:cs typeface="Calibri" pitchFamily="34" charset="-120"/>
              </a:rPr>
              <a:t>2 qualifying events within 3,000ms</a:t>
            </a:r>
            <a:endParaRPr lang="en-US" sz="1150" dirty="0"/>
          </a:p>
          <a:p>
            <a:pPr algn="l" indent="0" marL="0">
              <a:buNone/>
            </a:pPr>
            <a:r>
              <a:rPr lang="en-US" sz="1150" dirty="0">
                <a:solidFill>
                  <a:srgbClr val="0F172A"/>
                </a:solidFill>
                <a:latin typeface="Calibri" pitchFamily="34" charset="0"/>
                <a:ea typeface="Calibri" pitchFamily="34" charset="-122"/>
                <a:cs typeface="Calibri" pitchFamily="34" charset="-120"/>
              </a:rPr>
              <a:t>→ Independent brake alert modal</a:t>
            </a:r>
            <a:endParaRPr lang="en-US" sz="1150" dirty="0"/>
          </a:p>
        </p:txBody>
      </p:sp>
      <p:sp>
        <p:nvSpPr>
          <p:cNvPr id="21" name="Shape 19"/>
          <p:cNvSpPr/>
          <p:nvPr/>
        </p:nvSpPr>
        <p:spPr>
          <a:xfrm>
            <a:off x="457200" y="3840480"/>
            <a:ext cx="11274552" cy="0"/>
          </a:xfrm>
          <a:prstGeom prst="line">
            <a:avLst/>
          </a:prstGeom>
          <a:noFill/>
          <a:ln w="19050">
            <a:solidFill>
              <a:srgbClr val="38BDF8"/>
            </a:solidFill>
            <a:prstDash val="solid"/>
          </a:ln>
        </p:spPr>
      </p:sp>
      <p:sp>
        <p:nvSpPr>
          <p:cNvPr id="22" name="Text 20"/>
          <p:cNvSpPr/>
          <p:nvPr/>
        </p:nvSpPr>
        <p:spPr>
          <a:xfrm>
            <a:off x="457200" y="3931920"/>
            <a:ext cx="11274552" cy="365760"/>
          </a:xfrm>
          <a:prstGeom prst="rect">
            <a:avLst/>
          </a:prstGeom>
          <a:noFill/>
          <a:ln/>
        </p:spPr>
        <p:txBody>
          <a:bodyPr wrap="square"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Drowsiness Level Computation</a:t>
            </a:r>
            <a:endParaRPr lang="en-US" sz="1600" dirty="0"/>
          </a:p>
        </p:txBody>
      </p:sp>
      <p:sp>
        <p:nvSpPr>
          <p:cNvPr id="23" name="Shape 21"/>
          <p:cNvSpPr/>
          <p:nvPr/>
        </p:nvSpPr>
        <p:spPr>
          <a:xfrm>
            <a:off x="457200" y="4315968"/>
            <a:ext cx="11274552" cy="502920"/>
          </a:xfrm>
          <a:prstGeom prst="rect">
            <a:avLst/>
          </a:prstGeom>
          <a:solidFill>
            <a:srgbClr val="F0F6FF"/>
          </a:solidFill>
          <a:ln w="12700">
            <a:solidFill>
              <a:srgbClr val="F0F6FF"/>
            </a:solidFill>
            <a:prstDash val="solid"/>
          </a:ln>
        </p:spPr>
      </p:sp>
      <p:sp>
        <p:nvSpPr>
          <p:cNvPr id="24" name="Text 22"/>
          <p:cNvSpPr/>
          <p:nvPr/>
        </p:nvSpPr>
        <p:spPr>
          <a:xfrm>
            <a:off x="457200" y="4315968"/>
            <a:ext cx="11274552" cy="502920"/>
          </a:xfrm>
          <a:prstGeom prst="rect">
            <a:avLst/>
          </a:prstGeom>
          <a:noFill/>
          <a:ln/>
        </p:spPr>
        <p:txBody>
          <a:bodyPr wrap="square"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computeLevelFromAlertMap( yawnAcc, headAcc, alertMap )  →  Level 0–10</a:t>
            </a:r>
            <a:endParaRPr lang="en-US" sz="1400" dirty="0"/>
          </a:p>
        </p:txBody>
      </p:sp>
      <p:sp>
        <p:nvSpPr>
          <p:cNvPr id="25" name="Text 23"/>
          <p:cNvSpPr/>
          <p:nvPr/>
        </p:nvSpPr>
        <p:spPr>
          <a:xfrm>
            <a:off x="457200" y="4892040"/>
            <a:ext cx="11274552" cy="594360"/>
          </a:xfrm>
          <a:prstGeom prst="rect">
            <a:avLst/>
          </a:prstGeom>
          <a:noFill/>
          <a:ln/>
        </p:spPr>
        <p:txBody>
          <a:bodyPr wrap="square" rtlCol="0" anchor="t"/>
          <a:lstStyle/>
          <a:p>
            <a:pPr algn="l" indent="0" marL="0">
              <a:buNone/>
            </a:pPr>
            <a:r>
              <a:rPr lang="en-US" sz="1200" dirty="0">
                <a:solidFill>
                  <a:srgbClr val="64748B"/>
                </a:solidFill>
                <a:latin typeface="Calibri" pitchFamily="34" charset="0"/>
                <a:ea typeface="Calibri" pitchFamily="34" charset="-122"/>
                <a:cs typeface="Calibri" pitchFamily="34" charset="-120"/>
              </a:rPr>
              <a:t>For each level 1→10: if yawnAcc ≥ threshold OR headAcc ≥ threshold → set computedLevel. Returns highest matched level. Thresholds are administrator-configurable via Admin Config screen.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FFFFF"/>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Text 3"/>
          <p:cNvSpPr/>
          <p:nvPr/>
        </p:nvSpPr>
        <p:spPr>
          <a:xfrm>
            <a:off x="457200" y="274320"/>
            <a:ext cx="11274552" cy="548640"/>
          </a:xfrm>
          <a:prstGeom prst="rect">
            <a:avLst/>
          </a:prstGeom>
          <a:noFill/>
          <a:ln/>
        </p:spPr>
        <p:txBody>
          <a:bodyPr wrap="square" rtlCol="0" anchor="ctr"/>
          <a:lstStyle/>
          <a:p>
            <a:pPr indent="0" marL="0">
              <a:buNone/>
            </a:pPr>
            <a:r>
              <a:rPr lang="en-US" sz="2800" b="1" dirty="0">
                <a:solidFill>
                  <a:srgbClr val="1B2A4A"/>
                </a:solidFill>
                <a:latin typeface="Calibri" pitchFamily="34" charset="0"/>
                <a:ea typeface="Calibri" pitchFamily="34" charset="-122"/>
                <a:cs typeface="Calibri" pitchFamily="34" charset="-120"/>
              </a:rPr>
              <a:t>Alert Escalation System</a:t>
            </a:r>
            <a:endParaRPr lang="en-US" sz="2800" dirty="0"/>
          </a:p>
        </p:txBody>
      </p:sp>
      <p:sp>
        <p:nvSpPr>
          <p:cNvPr id="6" name="Shape 4"/>
          <p:cNvSpPr/>
          <p:nvPr/>
        </p:nvSpPr>
        <p:spPr>
          <a:xfrm>
            <a:off x="457200" y="960120"/>
            <a:ext cx="11274552" cy="0"/>
          </a:xfrm>
          <a:prstGeom prst="line">
            <a:avLst/>
          </a:prstGeom>
          <a:noFill/>
          <a:ln w="19050">
            <a:solidFill>
              <a:srgbClr val="38BDF8"/>
            </a:solidFill>
            <a:prstDash val="solid"/>
          </a:ln>
        </p:spPr>
      </p:sp>
      <p:sp>
        <p:nvSpPr>
          <p:cNvPr id="7" name="Shape 5"/>
          <p:cNvSpPr/>
          <p:nvPr/>
        </p:nvSpPr>
        <p:spPr>
          <a:xfrm>
            <a:off x="365760" y="1097280"/>
            <a:ext cx="2011680" cy="777240"/>
          </a:xfrm>
          <a:prstGeom prst="rect">
            <a:avLst/>
          </a:prstGeom>
          <a:solidFill>
            <a:srgbClr val="22C55E"/>
          </a:solidFill>
          <a:ln w="12700">
            <a:solidFill>
              <a:srgbClr val="22C55E"/>
            </a:solidFill>
            <a:prstDash val="solid"/>
          </a:ln>
        </p:spPr>
      </p:sp>
      <p:sp>
        <p:nvSpPr>
          <p:cNvPr id="8" name="Text 6"/>
          <p:cNvSpPr/>
          <p:nvPr/>
        </p:nvSpPr>
        <p:spPr>
          <a:xfrm>
            <a:off x="365760" y="1143000"/>
            <a:ext cx="2011680" cy="36576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Levels 1–2</a:t>
            </a:r>
            <a:endParaRPr lang="en-US" sz="1300" dirty="0"/>
          </a:p>
        </p:txBody>
      </p:sp>
      <p:sp>
        <p:nvSpPr>
          <p:cNvPr id="9" name="Text 7"/>
          <p:cNvSpPr/>
          <p:nvPr/>
        </p:nvSpPr>
        <p:spPr>
          <a:xfrm>
            <a:off x="365760" y="1508760"/>
            <a:ext cx="2011680" cy="32004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Very Low / Low</a:t>
            </a:r>
            <a:endParaRPr lang="en-US" sz="1100" dirty="0"/>
          </a:p>
        </p:txBody>
      </p:sp>
      <p:sp>
        <p:nvSpPr>
          <p:cNvPr id="10" name="Text 8"/>
          <p:cNvSpPr/>
          <p:nvPr/>
        </p:nvSpPr>
        <p:spPr>
          <a:xfrm>
            <a:off x="2514600" y="1280160"/>
            <a:ext cx="9326880" cy="45720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Voice warning</a:t>
            </a:r>
            <a:endParaRPr lang="en-US" sz="1300" dirty="0"/>
          </a:p>
        </p:txBody>
      </p:sp>
      <p:sp>
        <p:nvSpPr>
          <p:cNvPr id="11" name="Shape 9"/>
          <p:cNvSpPr/>
          <p:nvPr/>
        </p:nvSpPr>
        <p:spPr>
          <a:xfrm>
            <a:off x="365760" y="2103120"/>
            <a:ext cx="2011680" cy="777240"/>
          </a:xfrm>
          <a:prstGeom prst="rect">
            <a:avLst/>
          </a:prstGeom>
          <a:solidFill>
            <a:srgbClr val="84CC16"/>
          </a:solidFill>
          <a:ln w="12700">
            <a:solidFill>
              <a:srgbClr val="84CC16"/>
            </a:solidFill>
            <a:prstDash val="solid"/>
          </a:ln>
        </p:spPr>
      </p:sp>
      <p:sp>
        <p:nvSpPr>
          <p:cNvPr id="12" name="Text 10"/>
          <p:cNvSpPr/>
          <p:nvPr/>
        </p:nvSpPr>
        <p:spPr>
          <a:xfrm>
            <a:off x="365760" y="2148840"/>
            <a:ext cx="2011680" cy="36576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Levels 3–4</a:t>
            </a:r>
            <a:endParaRPr lang="en-US" sz="1300" dirty="0"/>
          </a:p>
        </p:txBody>
      </p:sp>
      <p:sp>
        <p:nvSpPr>
          <p:cNvPr id="13" name="Text 11"/>
          <p:cNvSpPr/>
          <p:nvPr/>
        </p:nvSpPr>
        <p:spPr>
          <a:xfrm>
            <a:off x="365760" y="2514600"/>
            <a:ext cx="2011680" cy="32004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Mild / Moderate</a:t>
            </a:r>
            <a:endParaRPr lang="en-US" sz="1100" dirty="0"/>
          </a:p>
        </p:txBody>
      </p:sp>
      <p:sp>
        <p:nvSpPr>
          <p:cNvPr id="14" name="Text 12"/>
          <p:cNvSpPr/>
          <p:nvPr/>
        </p:nvSpPr>
        <p:spPr>
          <a:xfrm>
            <a:off x="2514600" y="2286000"/>
            <a:ext cx="9326880" cy="45720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Voice + Vibration</a:t>
            </a:r>
            <a:endParaRPr lang="en-US" sz="1300" dirty="0"/>
          </a:p>
        </p:txBody>
      </p:sp>
      <p:sp>
        <p:nvSpPr>
          <p:cNvPr id="15" name="Shape 13"/>
          <p:cNvSpPr/>
          <p:nvPr/>
        </p:nvSpPr>
        <p:spPr>
          <a:xfrm>
            <a:off x="365760" y="3108960"/>
            <a:ext cx="2011680" cy="777240"/>
          </a:xfrm>
          <a:prstGeom prst="rect">
            <a:avLst/>
          </a:prstGeom>
          <a:solidFill>
            <a:srgbClr val="EAB308"/>
          </a:solidFill>
          <a:ln w="12700">
            <a:solidFill>
              <a:srgbClr val="EAB308"/>
            </a:solidFill>
            <a:prstDash val="solid"/>
          </a:ln>
        </p:spPr>
      </p:sp>
      <p:sp>
        <p:nvSpPr>
          <p:cNvPr id="16" name="Text 14"/>
          <p:cNvSpPr/>
          <p:nvPr/>
        </p:nvSpPr>
        <p:spPr>
          <a:xfrm>
            <a:off x="365760" y="3154680"/>
            <a:ext cx="2011680" cy="36576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Level 5</a:t>
            </a:r>
            <a:endParaRPr lang="en-US" sz="1300" dirty="0"/>
          </a:p>
        </p:txBody>
      </p:sp>
      <p:sp>
        <p:nvSpPr>
          <p:cNvPr id="17" name="Text 15"/>
          <p:cNvSpPr/>
          <p:nvPr/>
        </p:nvSpPr>
        <p:spPr>
          <a:xfrm>
            <a:off x="365760" y="3520440"/>
            <a:ext cx="2011680" cy="32004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Moderate-High</a:t>
            </a:r>
            <a:endParaRPr lang="en-US" sz="1100" dirty="0"/>
          </a:p>
        </p:txBody>
      </p:sp>
      <p:sp>
        <p:nvSpPr>
          <p:cNvPr id="18" name="Text 16"/>
          <p:cNvSpPr/>
          <p:nvPr/>
        </p:nvSpPr>
        <p:spPr>
          <a:xfrm>
            <a:off x="2514600" y="3291840"/>
            <a:ext cx="9326880" cy="45720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Voice + Vibration + Alarm</a:t>
            </a:r>
            <a:endParaRPr lang="en-US" sz="1300" dirty="0"/>
          </a:p>
        </p:txBody>
      </p:sp>
      <p:sp>
        <p:nvSpPr>
          <p:cNvPr id="19" name="Shape 17"/>
          <p:cNvSpPr/>
          <p:nvPr/>
        </p:nvSpPr>
        <p:spPr>
          <a:xfrm>
            <a:off x="365760" y="4114800"/>
            <a:ext cx="2011680" cy="777240"/>
          </a:xfrm>
          <a:prstGeom prst="rect">
            <a:avLst/>
          </a:prstGeom>
          <a:solidFill>
            <a:srgbClr val="F97316"/>
          </a:solidFill>
          <a:ln w="12700">
            <a:solidFill>
              <a:srgbClr val="F97316"/>
            </a:solidFill>
            <a:prstDash val="solid"/>
          </a:ln>
        </p:spPr>
      </p:sp>
      <p:sp>
        <p:nvSpPr>
          <p:cNvPr id="20" name="Text 18"/>
          <p:cNvSpPr/>
          <p:nvPr/>
        </p:nvSpPr>
        <p:spPr>
          <a:xfrm>
            <a:off x="365760" y="4160520"/>
            <a:ext cx="2011680" cy="36576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Levels 6–8</a:t>
            </a:r>
            <a:endParaRPr lang="en-US" sz="1300" dirty="0"/>
          </a:p>
        </p:txBody>
      </p:sp>
      <p:sp>
        <p:nvSpPr>
          <p:cNvPr id="21" name="Text 19"/>
          <p:cNvSpPr/>
          <p:nvPr/>
        </p:nvSpPr>
        <p:spPr>
          <a:xfrm>
            <a:off x="365760" y="4526280"/>
            <a:ext cx="2011680" cy="32004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High / Severe</a:t>
            </a:r>
            <a:endParaRPr lang="en-US" sz="1100" dirty="0"/>
          </a:p>
        </p:txBody>
      </p:sp>
      <p:sp>
        <p:nvSpPr>
          <p:cNvPr id="22" name="Text 20"/>
          <p:cNvSpPr/>
          <p:nvPr/>
        </p:nvSpPr>
        <p:spPr>
          <a:xfrm>
            <a:off x="2514600" y="4297680"/>
            <a:ext cx="9326880" cy="45720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Voice + Vibration + Alarm + IoT Device</a:t>
            </a:r>
            <a:endParaRPr lang="en-US" sz="1300" dirty="0"/>
          </a:p>
        </p:txBody>
      </p:sp>
      <p:sp>
        <p:nvSpPr>
          <p:cNvPr id="23" name="Shape 21"/>
          <p:cNvSpPr/>
          <p:nvPr/>
        </p:nvSpPr>
        <p:spPr>
          <a:xfrm>
            <a:off x="365760" y="5120640"/>
            <a:ext cx="2011680" cy="777240"/>
          </a:xfrm>
          <a:prstGeom prst="rect">
            <a:avLst/>
          </a:prstGeom>
          <a:solidFill>
            <a:srgbClr val="DC2626"/>
          </a:solidFill>
          <a:ln w="12700">
            <a:solidFill>
              <a:srgbClr val="DC2626"/>
            </a:solidFill>
            <a:prstDash val="solid"/>
          </a:ln>
        </p:spPr>
      </p:sp>
      <p:sp>
        <p:nvSpPr>
          <p:cNvPr id="24" name="Text 22"/>
          <p:cNvSpPr/>
          <p:nvPr/>
        </p:nvSpPr>
        <p:spPr>
          <a:xfrm>
            <a:off x="365760" y="5166360"/>
            <a:ext cx="2011680" cy="36576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Levels 9–10</a:t>
            </a:r>
            <a:endParaRPr lang="en-US" sz="1300" dirty="0"/>
          </a:p>
        </p:txBody>
      </p:sp>
      <p:sp>
        <p:nvSpPr>
          <p:cNvPr id="25" name="Text 23"/>
          <p:cNvSpPr/>
          <p:nvPr/>
        </p:nvSpPr>
        <p:spPr>
          <a:xfrm>
            <a:off x="365760" y="5532120"/>
            <a:ext cx="2011680" cy="32004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Critical / Extreme</a:t>
            </a:r>
            <a:endParaRPr lang="en-US" sz="1100" dirty="0"/>
          </a:p>
        </p:txBody>
      </p:sp>
      <p:sp>
        <p:nvSpPr>
          <p:cNvPr id="26" name="Text 24"/>
          <p:cNvSpPr/>
          <p:nvPr/>
        </p:nvSpPr>
        <p:spPr>
          <a:xfrm>
            <a:off x="2514600" y="5303520"/>
            <a:ext cx="9326880" cy="45720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All above + Emergency Notification (120s timer)</a:t>
            </a:r>
            <a:endParaRPr lang="en-US" sz="1300" dirty="0"/>
          </a:p>
        </p:txBody>
      </p:sp>
      <p:sp>
        <p:nvSpPr>
          <p:cNvPr id="27" name="Shape 25"/>
          <p:cNvSpPr/>
          <p:nvPr/>
        </p:nvSpPr>
        <p:spPr>
          <a:xfrm>
            <a:off x="457200" y="6217920"/>
            <a:ext cx="11274552" cy="0"/>
          </a:xfrm>
          <a:prstGeom prst="line">
            <a:avLst/>
          </a:prstGeom>
          <a:noFill/>
          <a:ln w="19050">
            <a:solidFill>
              <a:srgbClr val="38BDF8"/>
            </a:solidFill>
            <a:prstDash val="solid"/>
          </a:ln>
        </p:spPr>
      </p:sp>
      <p:sp>
        <p:nvSpPr>
          <p:cNvPr id="28" name="Text 26"/>
          <p:cNvSpPr/>
          <p:nvPr/>
        </p:nvSpPr>
        <p:spPr>
          <a:xfrm>
            <a:off x="457200" y="6291072"/>
            <a:ext cx="11274552" cy="365760"/>
          </a:xfrm>
          <a:prstGeom prst="rect">
            <a:avLst/>
          </a:prstGeom>
          <a:noFill/>
          <a:ln/>
        </p:spPr>
        <p:txBody>
          <a:bodyPr wrap="square" rtlCol="0" anchor="t"/>
          <a:lstStyle/>
          <a:p>
            <a:pPr algn="l" indent="0" marL="0">
              <a:buNone/>
            </a:pPr>
            <a:r>
              <a:rPr lang="en-US" sz="1100" dirty="0">
                <a:solidFill>
                  <a:srgbClr val="64748B"/>
                </a:solidFill>
                <a:latin typeface="Calibri" pitchFamily="34" charset="0"/>
                <a:ea typeface="Calibri" pitchFamily="34" charset="-122"/>
                <a:cs typeface="Calibri" pitchFamily="34" charset="-120"/>
              </a:rPr>
              <a:t>Dismiss Guard: dismissedLevelsRef prevents same level re-firing per session  ·  Level 10 re-triggers after 3 more yawns or 10 more head events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FFFFF"/>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Text 3"/>
          <p:cNvSpPr/>
          <p:nvPr/>
        </p:nvSpPr>
        <p:spPr>
          <a:xfrm>
            <a:off x="457200" y="274320"/>
            <a:ext cx="11274552" cy="548640"/>
          </a:xfrm>
          <a:prstGeom prst="rect">
            <a:avLst/>
          </a:prstGeom>
          <a:noFill/>
          <a:ln/>
        </p:spPr>
        <p:txBody>
          <a:bodyPr wrap="square" rtlCol="0" anchor="ctr"/>
          <a:lstStyle/>
          <a:p>
            <a:pPr indent="0" marL="0">
              <a:buNone/>
            </a:pPr>
            <a:r>
              <a:rPr lang="en-US" sz="2800" b="1" dirty="0">
                <a:solidFill>
                  <a:srgbClr val="1B2A4A"/>
                </a:solidFill>
                <a:latin typeface="Calibri" pitchFamily="34" charset="0"/>
                <a:ea typeface="Calibri" pitchFamily="34" charset="-122"/>
                <a:cs typeface="Calibri" pitchFamily="34" charset="-120"/>
              </a:rPr>
              <a:t>IoT Alert Device — ESP32</a:t>
            </a:r>
            <a:endParaRPr lang="en-US" sz="2800" dirty="0"/>
          </a:p>
        </p:txBody>
      </p:sp>
      <p:sp>
        <p:nvSpPr>
          <p:cNvPr id="6" name="Shape 4"/>
          <p:cNvSpPr/>
          <p:nvPr/>
        </p:nvSpPr>
        <p:spPr>
          <a:xfrm>
            <a:off x="457200" y="960120"/>
            <a:ext cx="11274552" cy="0"/>
          </a:xfrm>
          <a:prstGeom prst="line">
            <a:avLst/>
          </a:prstGeom>
          <a:noFill/>
          <a:ln w="19050">
            <a:solidFill>
              <a:srgbClr val="38BDF8"/>
            </a:solidFill>
            <a:prstDash val="solid"/>
          </a:ln>
        </p:spPr>
      </p:sp>
      <p:sp>
        <p:nvSpPr>
          <p:cNvPr id="7" name="Text 5"/>
          <p:cNvSpPr/>
          <p:nvPr/>
        </p:nvSpPr>
        <p:spPr>
          <a:xfrm>
            <a:off x="457200" y="1051560"/>
            <a:ext cx="11274552" cy="365760"/>
          </a:xfrm>
          <a:prstGeom prst="rect">
            <a:avLst/>
          </a:prstGeom>
          <a:noFill/>
          <a:ln/>
        </p:spPr>
        <p:txBody>
          <a:bodyPr wrap="square" rtlCol="0" anchor="ctr"/>
          <a:lstStyle/>
          <a:p>
            <a:pPr indent="0" marL="0">
              <a:buNone/>
            </a:pPr>
            <a:r>
              <a:rPr lang="en-US" sz="1600" b="1" dirty="0">
                <a:solidFill>
                  <a:srgbClr val="2563EB"/>
                </a:solidFill>
                <a:latin typeface="Calibri" pitchFamily="34" charset="0"/>
                <a:ea typeface="Calibri" pitchFamily="34" charset="-122"/>
                <a:cs typeface="Calibri" pitchFamily="34" charset="-120"/>
              </a:rPr>
              <a:t>Hardware Components</a:t>
            </a:r>
            <a:endParaRPr lang="en-US" sz="1600" dirty="0"/>
          </a:p>
        </p:txBody>
      </p:sp>
      <p:sp>
        <p:nvSpPr>
          <p:cNvPr id="8" name="Shape 6"/>
          <p:cNvSpPr/>
          <p:nvPr/>
        </p:nvSpPr>
        <p:spPr>
          <a:xfrm>
            <a:off x="457200" y="1554480"/>
            <a:ext cx="73152" cy="73152"/>
          </a:xfrm>
          <a:prstGeom prst="rect">
            <a:avLst/>
          </a:prstGeom>
          <a:solidFill>
            <a:srgbClr val="2563EB"/>
          </a:solidFill>
          <a:ln/>
        </p:spPr>
      </p:sp>
      <p:sp>
        <p:nvSpPr>
          <p:cNvPr id="9" name="Text 7"/>
          <p:cNvSpPr/>
          <p:nvPr/>
        </p:nvSpPr>
        <p:spPr>
          <a:xfrm>
            <a:off x="685800" y="1417320"/>
            <a:ext cx="10515600" cy="384048"/>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ESP32 DevKit — WiFi + BLE + GPIO (240MHz dual-core)</a:t>
            </a:r>
            <a:endParaRPr lang="en-US" sz="1250" dirty="0"/>
          </a:p>
        </p:txBody>
      </p:sp>
      <p:sp>
        <p:nvSpPr>
          <p:cNvPr id="10" name="Shape 8"/>
          <p:cNvSpPr/>
          <p:nvPr/>
        </p:nvSpPr>
        <p:spPr>
          <a:xfrm>
            <a:off x="457200" y="1965960"/>
            <a:ext cx="73152" cy="73152"/>
          </a:xfrm>
          <a:prstGeom prst="rect">
            <a:avLst/>
          </a:prstGeom>
          <a:solidFill>
            <a:srgbClr val="2563EB"/>
          </a:solidFill>
          <a:ln/>
        </p:spPr>
      </p:sp>
      <p:sp>
        <p:nvSpPr>
          <p:cNvPr id="11" name="Text 9"/>
          <p:cNvSpPr/>
          <p:nvPr/>
        </p:nvSpPr>
        <p:spPr>
          <a:xfrm>
            <a:off x="685800" y="1828800"/>
            <a:ext cx="10515600" cy="384048"/>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DFPlayer Mini — UART2 (GPIO 16/17) — plays 0001–0005.mp3 from MicroSD</a:t>
            </a:r>
            <a:endParaRPr lang="en-US" sz="1250" dirty="0"/>
          </a:p>
        </p:txBody>
      </p:sp>
      <p:sp>
        <p:nvSpPr>
          <p:cNvPr id="12" name="Shape 10"/>
          <p:cNvSpPr/>
          <p:nvPr/>
        </p:nvSpPr>
        <p:spPr>
          <a:xfrm>
            <a:off x="457200" y="2377440"/>
            <a:ext cx="73152" cy="73152"/>
          </a:xfrm>
          <a:prstGeom prst="rect">
            <a:avLst/>
          </a:prstGeom>
          <a:solidFill>
            <a:srgbClr val="2563EB"/>
          </a:solidFill>
          <a:ln/>
        </p:spPr>
      </p:sp>
      <p:sp>
        <p:nvSpPr>
          <p:cNvPr id="13" name="Text 11"/>
          <p:cNvSpPr/>
          <p:nvPr/>
        </p:nvSpPr>
        <p:spPr>
          <a:xfrm>
            <a:off x="685800" y="2240280"/>
            <a:ext cx="10515600" cy="384048"/>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Buzzer (GPIO 26) · LED Primary (GPIO 27) · LED Secondary (GPIO 32) · BLE LED (GPIO 33)</a:t>
            </a:r>
            <a:endParaRPr lang="en-US" sz="1250" dirty="0"/>
          </a:p>
        </p:txBody>
      </p:sp>
      <p:sp>
        <p:nvSpPr>
          <p:cNvPr id="14" name="Shape 12"/>
          <p:cNvSpPr/>
          <p:nvPr/>
        </p:nvSpPr>
        <p:spPr>
          <a:xfrm>
            <a:off x="457200" y="2788920"/>
            <a:ext cx="73152" cy="73152"/>
          </a:xfrm>
          <a:prstGeom prst="rect">
            <a:avLst/>
          </a:prstGeom>
          <a:solidFill>
            <a:srgbClr val="2563EB"/>
          </a:solidFill>
          <a:ln/>
        </p:spPr>
      </p:sp>
      <p:sp>
        <p:nvSpPr>
          <p:cNvPr id="15" name="Text 13"/>
          <p:cNvSpPr/>
          <p:nvPr/>
        </p:nvSpPr>
        <p:spPr>
          <a:xfrm>
            <a:off x="685800" y="2651760"/>
            <a:ext cx="10515600" cy="384048"/>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Dismiss Button — GPIO 25, INPUT_PULLUP, 200ms debounce</a:t>
            </a:r>
            <a:endParaRPr lang="en-US" sz="1250" dirty="0"/>
          </a:p>
        </p:txBody>
      </p:sp>
      <p:sp>
        <p:nvSpPr>
          <p:cNvPr id="16" name="Shape 14"/>
          <p:cNvSpPr/>
          <p:nvPr/>
        </p:nvSpPr>
        <p:spPr>
          <a:xfrm>
            <a:off x="457200" y="3246120"/>
            <a:ext cx="11274552" cy="0"/>
          </a:xfrm>
          <a:prstGeom prst="line">
            <a:avLst/>
          </a:prstGeom>
          <a:noFill/>
          <a:ln w="19050">
            <a:solidFill>
              <a:srgbClr val="38BDF8"/>
            </a:solidFill>
            <a:prstDash val="solid"/>
          </a:ln>
        </p:spPr>
      </p:sp>
      <p:sp>
        <p:nvSpPr>
          <p:cNvPr id="17" name="Text 15"/>
          <p:cNvSpPr/>
          <p:nvPr/>
        </p:nvSpPr>
        <p:spPr>
          <a:xfrm>
            <a:off x="457200" y="3337560"/>
            <a:ext cx="11274552" cy="365760"/>
          </a:xfrm>
          <a:prstGeom prst="rect">
            <a:avLst/>
          </a:prstGeom>
          <a:noFill/>
          <a:ln/>
        </p:spPr>
        <p:txBody>
          <a:bodyPr wrap="square" rtlCol="0" anchor="ctr"/>
          <a:lstStyle/>
          <a:p>
            <a:pPr indent="0" marL="0">
              <a:buNone/>
            </a:pPr>
            <a:r>
              <a:rPr lang="en-US" sz="1600" b="1" dirty="0">
                <a:solidFill>
                  <a:srgbClr val="EA580C"/>
                </a:solidFill>
                <a:latin typeface="Calibri" pitchFamily="34" charset="0"/>
                <a:ea typeface="Calibri" pitchFamily="34" charset="-122"/>
                <a:cs typeface="Calibri" pitchFamily="34" charset="-120"/>
              </a:rPr>
              <a:t>Alert Behavior by Level</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11274552" cy="2560320"/>
        </p:xfrm>
        <a:graphic>
          <a:graphicData uri="http://schemas.openxmlformats.org/drawingml/2006/table">
            <a:tbl>
              <a:tblPr/>
              <a:tblGrid>
                <a:gridCol w="2818638"/>
                <a:gridCol w="2818638"/>
                <a:gridCol w="2818638"/>
                <a:gridCol w="2818638"/>
              </a:tblGrid>
              <a:tr h="42672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Level</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B2A4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MP3 Track</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B2A4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Vibration Pattern</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B2A4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LED</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B2A4A"/>
                    </a:solidFill>
                  </a:tcPr>
                </a:tc>
              </a:tr>
              <a:tr h="426720">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0001.mp3</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3 short pulses (200ms on / 150ms off)</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Pulsed</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426720">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0002.mp3</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3 medium pulses (400ms on / 150ms off)</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Pulsed</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r>
              <a:tr h="426720">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0003.mp3</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3 long pulses (600ms on / 150ms off)</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Pulsed</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426720">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0004.mp3</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Continuous buzzer</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Continuous on</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r>
              <a:tr h="426720">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0005.mp3</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Continuous buzzer</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Flashing (400ms on/off)</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bl>
          </a:graphicData>
        </a:graphic>
      </p:graphicFrame>
      <p:sp>
        <p:nvSpPr>
          <p:cNvPr id="19" name="Text 16"/>
          <p:cNvSpPr/>
          <p:nvPr/>
        </p:nvSpPr>
        <p:spPr>
          <a:xfrm>
            <a:off x="457200" y="6355080"/>
            <a:ext cx="11274552" cy="365760"/>
          </a:xfrm>
          <a:prstGeom prst="rect">
            <a:avLst/>
          </a:prstGeom>
          <a:noFill/>
          <a:ln/>
        </p:spPr>
        <p:txBody>
          <a:bodyPr wrap="square" rtlCol="0" anchor="t"/>
          <a:lstStyle/>
          <a:p>
            <a:pPr algn="l" indent="0" marL="0">
              <a:buNone/>
            </a:pPr>
            <a:r>
              <a:rPr lang="en-US" sz="1100" dirty="0">
                <a:solidFill>
                  <a:srgbClr val="64748B"/>
                </a:solidFill>
                <a:latin typeface="Calibri" pitchFamily="34" charset="0"/>
                <a:ea typeface="Calibri" pitchFamily="34" charset="-122"/>
                <a:cs typeface="Calibri" pitchFamily="34" charset="-120"/>
              </a:rPr>
              <a:t>Dismiss button → MQTT publish snoozeguard/dismiss/{device_id} + BLE NOTIFY {event:dismiss} → server updates iot_alerts.status → Supabase Realtime → mobile dismiss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FFFFF"/>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Text 3"/>
          <p:cNvSpPr/>
          <p:nvPr/>
        </p:nvSpPr>
        <p:spPr>
          <a:xfrm>
            <a:off x="457200" y="274320"/>
            <a:ext cx="11274552" cy="548640"/>
          </a:xfrm>
          <a:prstGeom prst="rect">
            <a:avLst/>
          </a:prstGeom>
          <a:noFill/>
          <a:ln/>
        </p:spPr>
        <p:txBody>
          <a:bodyPr wrap="square" rtlCol="0" anchor="ctr"/>
          <a:lstStyle/>
          <a:p>
            <a:pPr indent="0" marL="0">
              <a:buNone/>
            </a:pPr>
            <a:r>
              <a:rPr lang="en-US" sz="2800" b="1" dirty="0">
                <a:solidFill>
                  <a:srgbClr val="1B2A4A"/>
                </a:solidFill>
                <a:latin typeface="Calibri" pitchFamily="34" charset="0"/>
                <a:ea typeface="Calibri" pitchFamily="34" charset="-122"/>
                <a:cs typeface="Calibri" pitchFamily="34" charset="-120"/>
              </a:rPr>
              <a:t>IoT Connectivity &amp; Communication</a:t>
            </a:r>
            <a:endParaRPr lang="en-US" sz="2800" dirty="0"/>
          </a:p>
        </p:txBody>
      </p:sp>
      <p:sp>
        <p:nvSpPr>
          <p:cNvPr id="6" name="Shape 4"/>
          <p:cNvSpPr/>
          <p:nvPr/>
        </p:nvSpPr>
        <p:spPr>
          <a:xfrm>
            <a:off x="457200" y="960120"/>
            <a:ext cx="11274552" cy="0"/>
          </a:xfrm>
          <a:prstGeom prst="line">
            <a:avLst/>
          </a:prstGeom>
          <a:noFill/>
          <a:ln w="19050">
            <a:solidFill>
              <a:srgbClr val="38BDF8"/>
            </a:solidFill>
            <a:prstDash val="solid"/>
          </a:ln>
        </p:spPr>
      </p:sp>
      <p:sp>
        <p:nvSpPr>
          <p:cNvPr id="7" name="Shape 5"/>
          <p:cNvSpPr/>
          <p:nvPr/>
        </p:nvSpPr>
        <p:spPr>
          <a:xfrm>
            <a:off x="365760" y="1188720"/>
            <a:ext cx="3474720" cy="2286000"/>
          </a:xfrm>
          <a:prstGeom prst="rect">
            <a:avLst/>
          </a:prstGeom>
          <a:solidFill>
            <a:srgbClr val="2563EB"/>
          </a:solidFill>
          <a:ln w="12700">
            <a:solidFill>
              <a:srgbClr val="2563EB"/>
            </a:solidFill>
            <a:prstDash val="solid"/>
          </a:ln>
        </p:spPr>
      </p:sp>
      <p:sp>
        <p:nvSpPr>
          <p:cNvPr id="8" name="Text 6"/>
          <p:cNvSpPr/>
          <p:nvPr/>
        </p:nvSpPr>
        <p:spPr>
          <a:xfrm>
            <a:off x="365760" y="1188720"/>
            <a:ext cx="3474720" cy="22860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Mobile App</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(React Native)</a:t>
            </a:r>
            <a:endParaRPr lang="en-US" sz="1400" dirty="0"/>
          </a:p>
        </p:txBody>
      </p:sp>
      <p:sp>
        <p:nvSpPr>
          <p:cNvPr id="9" name="Shape 7"/>
          <p:cNvSpPr/>
          <p:nvPr/>
        </p:nvSpPr>
        <p:spPr>
          <a:xfrm>
            <a:off x="4389120" y="1188720"/>
            <a:ext cx="3474720" cy="2286000"/>
          </a:xfrm>
          <a:prstGeom prst="rect">
            <a:avLst/>
          </a:prstGeom>
          <a:solidFill>
            <a:srgbClr val="1B2A4A"/>
          </a:solidFill>
          <a:ln w="12700">
            <a:solidFill>
              <a:srgbClr val="1B2A4A"/>
            </a:solidFill>
            <a:prstDash val="solid"/>
          </a:ln>
        </p:spPr>
      </p:sp>
      <p:sp>
        <p:nvSpPr>
          <p:cNvPr id="10" name="Text 8"/>
          <p:cNvSpPr/>
          <p:nvPr/>
        </p:nvSpPr>
        <p:spPr>
          <a:xfrm>
            <a:off x="4389120" y="1188720"/>
            <a:ext cx="3474720" cy="22860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HiveMQ Cloud</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MQTT TLS :8883</a:t>
            </a:r>
            <a:endParaRPr lang="en-US" sz="1400" dirty="0"/>
          </a:p>
        </p:txBody>
      </p:sp>
      <p:sp>
        <p:nvSpPr>
          <p:cNvPr id="11" name="Shape 9"/>
          <p:cNvSpPr/>
          <p:nvPr/>
        </p:nvSpPr>
        <p:spPr>
          <a:xfrm>
            <a:off x="8412480" y="1188720"/>
            <a:ext cx="3474720" cy="2286000"/>
          </a:xfrm>
          <a:prstGeom prst="rect">
            <a:avLst/>
          </a:prstGeom>
          <a:solidFill>
            <a:srgbClr val="EA580C"/>
          </a:solidFill>
          <a:ln w="12700">
            <a:solidFill>
              <a:srgbClr val="EA580C"/>
            </a:solidFill>
            <a:prstDash val="solid"/>
          </a:ln>
        </p:spPr>
      </p:sp>
      <p:sp>
        <p:nvSpPr>
          <p:cNvPr id="12" name="Text 10"/>
          <p:cNvSpPr/>
          <p:nvPr/>
        </p:nvSpPr>
        <p:spPr>
          <a:xfrm>
            <a:off x="8412480" y="1188720"/>
            <a:ext cx="3474720" cy="22860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ESP32</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IoT Device</a:t>
            </a:r>
            <a:endParaRPr lang="en-US" sz="1400" dirty="0"/>
          </a:p>
        </p:txBody>
      </p:sp>
      <p:sp>
        <p:nvSpPr>
          <p:cNvPr id="13" name="Shape 11"/>
          <p:cNvSpPr/>
          <p:nvPr/>
        </p:nvSpPr>
        <p:spPr>
          <a:xfrm>
            <a:off x="3840480" y="2331720"/>
            <a:ext cx="548640" cy="0"/>
          </a:xfrm>
          <a:prstGeom prst="line">
            <a:avLst/>
          </a:prstGeom>
          <a:noFill/>
          <a:ln w="25400">
            <a:solidFill>
              <a:srgbClr val="2563EB"/>
            </a:solidFill>
            <a:prstDash val="solid"/>
          </a:ln>
        </p:spPr>
      </p:sp>
      <p:sp>
        <p:nvSpPr>
          <p:cNvPr id="14" name="Text 12"/>
          <p:cNvSpPr/>
          <p:nvPr/>
        </p:nvSpPr>
        <p:spPr>
          <a:xfrm>
            <a:off x="3886200" y="1920240"/>
            <a:ext cx="457200" cy="731520"/>
          </a:xfrm>
          <a:prstGeom prst="rect">
            <a:avLst/>
          </a:prstGeom>
          <a:noFill/>
          <a:ln/>
        </p:spPr>
        <p:txBody>
          <a:bodyPr wrap="square" rtlCol="0" anchor="t"/>
          <a:lstStyle/>
          <a:p>
            <a:pPr algn="l" indent="0" marL="0">
              <a:buNone/>
            </a:pPr>
            <a:r>
              <a:rPr lang="en-US" sz="900" dirty="0">
                <a:solidFill>
                  <a:srgbClr val="2563EB"/>
                </a:solidFill>
                <a:latin typeface="Calibri" pitchFamily="34" charset="0"/>
                <a:ea typeface="Calibri" pitchFamily="34" charset="-122"/>
                <a:cs typeface="Calibri" pitchFamily="34" charset="-120"/>
              </a:rPr>
              <a:t>POST /v1/iot/buzz →</a:t>
            </a:r>
            <a:endParaRPr lang="en-US" sz="900" dirty="0"/>
          </a:p>
          <a:p>
            <a:pPr algn="l" indent="0" marL="0">
              <a:buNone/>
            </a:pPr>
            <a:r>
              <a:rPr lang="en-US" sz="900" dirty="0">
                <a:solidFill>
                  <a:srgbClr val="2563EB"/>
                </a:solidFill>
                <a:latin typeface="Calibri" pitchFamily="34" charset="0"/>
                <a:ea typeface="Calibri" pitchFamily="34" charset="-122"/>
                <a:cs typeface="Calibri" pitchFamily="34" charset="-120"/>
              </a:rPr>
              <a:t>MQTT publish</a:t>
            </a:r>
            <a:endParaRPr lang="en-US" sz="900" dirty="0"/>
          </a:p>
        </p:txBody>
      </p:sp>
      <p:sp>
        <p:nvSpPr>
          <p:cNvPr id="15" name="Shape 13"/>
          <p:cNvSpPr/>
          <p:nvPr/>
        </p:nvSpPr>
        <p:spPr>
          <a:xfrm>
            <a:off x="7863840" y="2331720"/>
            <a:ext cx="548640" cy="0"/>
          </a:xfrm>
          <a:prstGeom prst="line">
            <a:avLst/>
          </a:prstGeom>
          <a:noFill/>
          <a:ln w="25400">
            <a:solidFill>
              <a:srgbClr val="2563EB"/>
            </a:solidFill>
            <a:prstDash val="solid"/>
          </a:ln>
        </p:spPr>
      </p:sp>
      <p:sp>
        <p:nvSpPr>
          <p:cNvPr id="16" name="Text 14"/>
          <p:cNvSpPr/>
          <p:nvPr/>
        </p:nvSpPr>
        <p:spPr>
          <a:xfrm>
            <a:off x="7406640" y="1783080"/>
            <a:ext cx="1005840" cy="365760"/>
          </a:xfrm>
          <a:prstGeom prst="rect">
            <a:avLst/>
          </a:prstGeom>
          <a:noFill/>
          <a:ln/>
        </p:spPr>
        <p:txBody>
          <a:bodyPr wrap="square" rtlCol="0" anchor="t"/>
          <a:lstStyle/>
          <a:p>
            <a:pPr algn="l" indent="0" marL="0">
              <a:buNone/>
            </a:pPr>
            <a:r>
              <a:rPr lang="en-US" sz="900" dirty="0">
                <a:solidFill>
                  <a:srgbClr val="2563EB"/>
                </a:solidFill>
                <a:latin typeface="Calibri" pitchFamily="34" charset="0"/>
                <a:ea typeface="Calibri" pitchFamily="34" charset="-122"/>
                <a:cs typeface="Calibri" pitchFamily="34" charset="-120"/>
              </a:rPr>
              <a:t>snoozeguard/commands/{id}</a:t>
            </a:r>
            <a:endParaRPr lang="en-US" sz="900" dirty="0"/>
          </a:p>
        </p:txBody>
      </p:sp>
      <p:sp>
        <p:nvSpPr>
          <p:cNvPr id="17" name="Shape 15"/>
          <p:cNvSpPr/>
          <p:nvPr/>
        </p:nvSpPr>
        <p:spPr>
          <a:xfrm>
            <a:off x="3840480" y="3017520"/>
            <a:ext cx="4572000" cy="0"/>
          </a:xfrm>
          <a:prstGeom prst="line">
            <a:avLst/>
          </a:prstGeom>
          <a:noFill/>
          <a:ln w="19050">
            <a:solidFill>
              <a:srgbClr val="38BDF8"/>
            </a:solidFill>
            <a:prstDash val="solid"/>
          </a:ln>
        </p:spPr>
      </p:sp>
      <p:sp>
        <p:nvSpPr>
          <p:cNvPr id="18" name="Text 16"/>
          <p:cNvSpPr/>
          <p:nvPr/>
        </p:nvSpPr>
        <p:spPr>
          <a:xfrm>
            <a:off x="3657600" y="3090672"/>
            <a:ext cx="4937760" cy="365760"/>
          </a:xfrm>
          <a:prstGeom prst="rect">
            <a:avLst/>
          </a:prstGeom>
          <a:noFill/>
          <a:ln/>
        </p:spPr>
        <p:txBody>
          <a:bodyPr wrap="square" rtlCol="0" anchor="t"/>
          <a:lstStyle/>
          <a:p>
            <a:pPr algn="l" indent="0" marL="0">
              <a:buNone/>
            </a:pPr>
            <a:r>
              <a:rPr lang="en-US" sz="1000" dirty="0">
                <a:solidFill>
                  <a:srgbClr val="38BDF8"/>
                </a:solidFill>
                <a:latin typeface="Calibri" pitchFamily="34" charset="0"/>
                <a:ea typeface="Calibri" pitchFamily="34" charset="-122"/>
                <a:cs typeface="Calibri" pitchFamily="34" charset="-120"/>
              </a:rPr>
              <a:t>BLE Fallback (SG-{device_id})  CMD char: beb5483e-...  EVENT char: beb5483f-...</a:t>
            </a:r>
            <a:endParaRPr lang="en-US" sz="1000" dirty="0"/>
          </a:p>
        </p:txBody>
      </p:sp>
      <p:sp>
        <p:nvSpPr>
          <p:cNvPr id="19" name="Shape 17"/>
          <p:cNvSpPr/>
          <p:nvPr/>
        </p:nvSpPr>
        <p:spPr>
          <a:xfrm>
            <a:off x="457200" y="3931920"/>
            <a:ext cx="11274552" cy="0"/>
          </a:xfrm>
          <a:prstGeom prst="line">
            <a:avLst/>
          </a:prstGeom>
          <a:noFill/>
          <a:ln w="19050">
            <a:solidFill>
              <a:srgbClr val="38BDF8"/>
            </a:solidFill>
            <a:prstDash val="solid"/>
          </a:ln>
        </p:spPr>
      </p:sp>
      <p:sp>
        <p:nvSpPr>
          <p:cNvPr id="20" name="Text 18"/>
          <p:cNvSpPr/>
          <p:nvPr/>
        </p:nvSpPr>
        <p:spPr>
          <a:xfrm>
            <a:off x="457200" y="4023360"/>
            <a:ext cx="11274552" cy="365760"/>
          </a:xfrm>
          <a:prstGeom prst="rect">
            <a:avLst/>
          </a:prstGeom>
          <a:noFill/>
          <a:ln/>
        </p:spPr>
        <p:txBody>
          <a:bodyPr wrap="square"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Topic Structure</a:t>
            </a:r>
            <a:endParaRPr lang="en-US" sz="1600" dirty="0"/>
          </a:p>
        </p:txBody>
      </p:sp>
      <p:sp>
        <p:nvSpPr>
          <p:cNvPr id="21" name="Shape 19"/>
          <p:cNvSpPr/>
          <p:nvPr/>
        </p:nvSpPr>
        <p:spPr>
          <a:xfrm>
            <a:off x="365760" y="4434840"/>
            <a:ext cx="2011680" cy="502920"/>
          </a:xfrm>
          <a:prstGeom prst="rect">
            <a:avLst/>
          </a:prstGeom>
          <a:solidFill>
            <a:srgbClr val="2563EB"/>
          </a:solidFill>
          <a:ln w="12700">
            <a:solidFill>
              <a:srgbClr val="2563EB"/>
            </a:solidFill>
            <a:prstDash val="solid"/>
          </a:ln>
        </p:spPr>
      </p:sp>
      <p:sp>
        <p:nvSpPr>
          <p:cNvPr id="22" name="Text 20"/>
          <p:cNvSpPr/>
          <p:nvPr/>
        </p:nvSpPr>
        <p:spPr>
          <a:xfrm>
            <a:off x="365760" y="4434840"/>
            <a:ext cx="2011680" cy="5029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App → Device</a:t>
            </a:r>
            <a:endParaRPr lang="en-US" sz="1100" dirty="0"/>
          </a:p>
        </p:txBody>
      </p:sp>
      <p:sp>
        <p:nvSpPr>
          <p:cNvPr id="23" name="Text 21"/>
          <p:cNvSpPr/>
          <p:nvPr/>
        </p:nvSpPr>
        <p:spPr>
          <a:xfrm>
            <a:off x="2468880" y="4507992"/>
            <a:ext cx="4114800" cy="38404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snoozeguard/commands/{device_id}</a:t>
            </a:r>
            <a:endParaRPr lang="en-US" sz="1200" dirty="0"/>
          </a:p>
        </p:txBody>
      </p:sp>
      <p:sp>
        <p:nvSpPr>
          <p:cNvPr id="24" name="Text 22"/>
          <p:cNvSpPr/>
          <p:nvPr/>
        </p:nvSpPr>
        <p:spPr>
          <a:xfrm>
            <a:off x="6675120" y="4507992"/>
            <a:ext cx="5029200" cy="384048"/>
          </a:xfrm>
          <a:prstGeom prst="rect">
            <a:avLst/>
          </a:prstGeom>
          <a:noFill/>
          <a:ln/>
        </p:spPr>
        <p:txBody>
          <a:bodyPr wrap="square" rtlCol="0" anchor="t"/>
          <a:lstStyle/>
          <a:p>
            <a:pPr algn="l" indent="0" marL="0">
              <a:buNone/>
            </a:pPr>
            <a:r>
              <a:rPr lang="en-US" sz="1150" dirty="0">
                <a:solidFill>
                  <a:srgbClr val="64748B"/>
                </a:solidFill>
                <a:latin typeface="Calibri" pitchFamily="34" charset="0"/>
                <a:ea typeface="Calibri" pitchFamily="34" charset="-122"/>
                <a:cs typeface="Calibri" pitchFamily="34" charset="-120"/>
              </a:rPr>
              <a:t>buzz / all_clear JSON command</a:t>
            </a:r>
            <a:endParaRPr lang="en-US" sz="1150" dirty="0"/>
          </a:p>
        </p:txBody>
      </p:sp>
      <p:sp>
        <p:nvSpPr>
          <p:cNvPr id="25" name="Shape 23"/>
          <p:cNvSpPr/>
          <p:nvPr/>
        </p:nvSpPr>
        <p:spPr>
          <a:xfrm>
            <a:off x="365760" y="5120640"/>
            <a:ext cx="2011680" cy="502920"/>
          </a:xfrm>
          <a:prstGeom prst="rect">
            <a:avLst/>
          </a:prstGeom>
          <a:solidFill>
            <a:srgbClr val="EA580C"/>
          </a:solidFill>
          <a:ln w="12700">
            <a:solidFill>
              <a:srgbClr val="EA580C"/>
            </a:solidFill>
            <a:prstDash val="solid"/>
          </a:ln>
        </p:spPr>
      </p:sp>
      <p:sp>
        <p:nvSpPr>
          <p:cNvPr id="26" name="Text 24"/>
          <p:cNvSpPr/>
          <p:nvPr/>
        </p:nvSpPr>
        <p:spPr>
          <a:xfrm>
            <a:off x="365760" y="5120640"/>
            <a:ext cx="2011680" cy="5029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Device → Server</a:t>
            </a:r>
            <a:endParaRPr lang="en-US" sz="1100" dirty="0"/>
          </a:p>
        </p:txBody>
      </p:sp>
      <p:sp>
        <p:nvSpPr>
          <p:cNvPr id="27" name="Text 25"/>
          <p:cNvSpPr/>
          <p:nvPr/>
        </p:nvSpPr>
        <p:spPr>
          <a:xfrm>
            <a:off x="2468880" y="5193792"/>
            <a:ext cx="4114800" cy="38404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snoozeguard/dismiss/{device_id}</a:t>
            </a:r>
            <a:endParaRPr lang="en-US" sz="1200" dirty="0"/>
          </a:p>
        </p:txBody>
      </p:sp>
      <p:sp>
        <p:nvSpPr>
          <p:cNvPr id="28" name="Text 26"/>
          <p:cNvSpPr/>
          <p:nvPr/>
        </p:nvSpPr>
        <p:spPr>
          <a:xfrm>
            <a:off x="6675120" y="5193792"/>
            <a:ext cx="5029200" cy="384048"/>
          </a:xfrm>
          <a:prstGeom prst="rect">
            <a:avLst/>
          </a:prstGeom>
          <a:noFill/>
          <a:ln/>
        </p:spPr>
        <p:txBody>
          <a:bodyPr wrap="square" rtlCol="0" anchor="t"/>
          <a:lstStyle/>
          <a:p>
            <a:pPr algn="l" indent="0" marL="0">
              <a:buNone/>
            </a:pPr>
            <a:r>
              <a:rPr lang="en-US" sz="1150" dirty="0">
                <a:solidFill>
                  <a:srgbClr val="64748B"/>
                </a:solidFill>
                <a:latin typeface="Calibri" pitchFamily="34" charset="0"/>
                <a:ea typeface="Calibri" pitchFamily="34" charset="-122"/>
                <a:cs typeface="Calibri" pitchFamily="34" charset="-120"/>
              </a:rPr>
              <a:t>dismiss event from physical button</a:t>
            </a:r>
            <a:endParaRPr lang="en-US" sz="1150" dirty="0"/>
          </a:p>
        </p:txBody>
      </p:sp>
      <p:sp>
        <p:nvSpPr>
          <p:cNvPr id="29" name="Shape 27"/>
          <p:cNvSpPr/>
          <p:nvPr/>
        </p:nvSpPr>
        <p:spPr>
          <a:xfrm>
            <a:off x="365760" y="5806440"/>
            <a:ext cx="2011680" cy="502920"/>
          </a:xfrm>
          <a:prstGeom prst="rect">
            <a:avLst/>
          </a:prstGeom>
          <a:solidFill>
            <a:srgbClr val="16A34A"/>
          </a:solidFill>
          <a:ln w="12700">
            <a:solidFill>
              <a:srgbClr val="16A34A"/>
            </a:solidFill>
            <a:prstDash val="solid"/>
          </a:ln>
        </p:spPr>
      </p:sp>
      <p:sp>
        <p:nvSpPr>
          <p:cNvPr id="30" name="Text 28"/>
          <p:cNvSpPr/>
          <p:nvPr/>
        </p:nvSpPr>
        <p:spPr>
          <a:xfrm>
            <a:off x="365760" y="5806440"/>
            <a:ext cx="2011680" cy="5029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Device → Server</a:t>
            </a:r>
            <a:endParaRPr lang="en-US" sz="1100" dirty="0"/>
          </a:p>
        </p:txBody>
      </p:sp>
      <p:sp>
        <p:nvSpPr>
          <p:cNvPr id="31" name="Text 29"/>
          <p:cNvSpPr/>
          <p:nvPr/>
        </p:nvSpPr>
        <p:spPr>
          <a:xfrm>
            <a:off x="2468880" y="5879592"/>
            <a:ext cx="4114800" cy="384048"/>
          </a:xfrm>
          <a:prstGeom prst="rect">
            <a:avLst/>
          </a:prstGeom>
          <a:noFill/>
          <a:ln/>
        </p:spPr>
        <p:txBody>
          <a:bodyPr wrap="square" rtlCol="0" anchor="t"/>
          <a:lstStyle/>
          <a:p>
            <a:pPr algn="l" indent="0" marL="0">
              <a:buNone/>
            </a:pPr>
            <a:r>
              <a:rPr lang="en-US" sz="1200" b="1" dirty="0">
                <a:solidFill>
                  <a:srgbClr val="0F172A"/>
                </a:solidFill>
                <a:latin typeface="Calibri" pitchFamily="34" charset="0"/>
                <a:ea typeface="Calibri" pitchFamily="34" charset="-122"/>
                <a:cs typeface="Calibri" pitchFamily="34" charset="-120"/>
              </a:rPr>
              <a:t>snoozeguard/ping/{device_id}</a:t>
            </a:r>
            <a:endParaRPr lang="en-US" sz="1200" dirty="0"/>
          </a:p>
        </p:txBody>
      </p:sp>
      <p:sp>
        <p:nvSpPr>
          <p:cNvPr id="32" name="Text 30"/>
          <p:cNvSpPr/>
          <p:nvPr/>
        </p:nvSpPr>
        <p:spPr>
          <a:xfrm>
            <a:off x="6675120" y="5879592"/>
            <a:ext cx="5029200" cy="384048"/>
          </a:xfrm>
          <a:prstGeom prst="rect">
            <a:avLst/>
          </a:prstGeom>
          <a:noFill/>
          <a:ln/>
        </p:spPr>
        <p:txBody>
          <a:bodyPr wrap="square" rtlCol="0" anchor="t"/>
          <a:lstStyle/>
          <a:p>
            <a:pPr algn="l" indent="0" marL="0">
              <a:buNone/>
            </a:pPr>
            <a:r>
              <a:rPr lang="en-US" sz="1150" dirty="0">
                <a:solidFill>
                  <a:srgbClr val="64748B"/>
                </a:solidFill>
                <a:latin typeface="Calibri" pitchFamily="34" charset="0"/>
                <a:ea typeface="Calibri" pitchFamily="34" charset="-122"/>
                <a:cs typeface="Calibri" pitchFamily="34" charset="-120"/>
              </a:rPr>
              <a:t>heartbeat every 5s → updates last_seen</a:t>
            </a:r>
            <a:endParaRPr lang="en-US" sz="1150" dirty="0"/>
          </a:p>
        </p:txBody>
      </p:sp>
      <p:sp>
        <p:nvSpPr>
          <p:cNvPr id="33" name="Text 31"/>
          <p:cNvSpPr/>
          <p:nvPr/>
        </p:nvSpPr>
        <p:spPr>
          <a:xfrm>
            <a:off x="365760" y="6492240"/>
            <a:ext cx="11274552" cy="274320"/>
          </a:xfrm>
          <a:prstGeom prst="rect">
            <a:avLst/>
          </a:prstGeom>
          <a:noFill/>
          <a:ln/>
        </p:spPr>
        <p:txBody>
          <a:bodyPr wrap="square" rtlCol="0" anchor="t"/>
          <a:lstStyle/>
          <a:p>
            <a:pPr algn="l" indent="0" marL="0">
              <a:buNone/>
            </a:pPr>
            <a:r>
              <a:rPr lang="en-US" sz="1100" dirty="0">
                <a:solidFill>
                  <a:srgbClr val="64748B"/>
                </a:solidFill>
                <a:latin typeface="Calibri" pitchFamily="34" charset="0"/>
                <a:ea typeface="Calibri" pitchFamily="34" charset="-122"/>
                <a:cs typeface="Calibri" pitchFamily="34" charset="-120"/>
              </a:rPr>
              <a:t>Device online if last_seen &lt; 15s  ·  BLE used when WiFi/MQTT unavailable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FFFFF"/>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Text 3"/>
          <p:cNvSpPr/>
          <p:nvPr/>
        </p:nvSpPr>
        <p:spPr>
          <a:xfrm>
            <a:off x="457200" y="274320"/>
            <a:ext cx="11274552" cy="548640"/>
          </a:xfrm>
          <a:prstGeom prst="rect">
            <a:avLst/>
          </a:prstGeom>
          <a:noFill/>
          <a:ln/>
        </p:spPr>
        <p:txBody>
          <a:bodyPr wrap="square" rtlCol="0" anchor="ctr"/>
          <a:lstStyle/>
          <a:p>
            <a:pPr indent="0" marL="0">
              <a:buNone/>
            </a:pPr>
            <a:r>
              <a:rPr lang="en-US" sz="2800" b="1" dirty="0">
                <a:solidFill>
                  <a:srgbClr val="1B2A4A"/>
                </a:solidFill>
                <a:latin typeface="Calibri" pitchFamily="34" charset="0"/>
                <a:ea typeface="Calibri" pitchFamily="34" charset="-122"/>
                <a:cs typeface="Calibri" pitchFamily="34" charset="-120"/>
              </a:rPr>
              <a:t>Emergency Notification System</a:t>
            </a:r>
            <a:endParaRPr lang="en-US" sz="2800" dirty="0"/>
          </a:p>
        </p:txBody>
      </p:sp>
      <p:sp>
        <p:nvSpPr>
          <p:cNvPr id="6" name="Shape 4"/>
          <p:cNvSpPr/>
          <p:nvPr/>
        </p:nvSpPr>
        <p:spPr>
          <a:xfrm>
            <a:off x="457200" y="960120"/>
            <a:ext cx="11274552" cy="0"/>
          </a:xfrm>
          <a:prstGeom prst="line">
            <a:avLst/>
          </a:prstGeom>
          <a:noFill/>
          <a:ln w="19050">
            <a:solidFill>
              <a:srgbClr val="38BDF8"/>
            </a:solidFill>
            <a:prstDash val="solid"/>
          </a:ln>
        </p:spPr>
      </p:sp>
      <p:sp>
        <p:nvSpPr>
          <p:cNvPr id="7" name="Shape 5"/>
          <p:cNvSpPr/>
          <p:nvPr/>
        </p:nvSpPr>
        <p:spPr>
          <a:xfrm>
            <a:off x="365760" y="1097280"/>
            <a:ext cx="457200" cy="502920"/>
          </a:xfrm>
          <a:prstGeom prst="rect">
            <a:avLst/>
          </a:prstGeom>
          <a:solidFill>
            <a:srgbClr val="DC2626"/>
          </a:solidFill>
          <a:ln w="12700">
            <a:solidFill>
              <a:srgbClr val="DC2626"/>
            </a:solidFill>
            <a:prstDash val="solid"/>
          </a:ln>
        </p:spPr>
      </p:sp>
      <p:sp>
        <p:nvSpPr>
          <p:cNvPr id="8" name="Text 6"/>
          <p:cNvSpPr/>
          <p:nvPr/>
        </p:nvSpPr>
        <p:spPr>
          <a:xfrm>
            <a:off x="365760" y="1097280"/>
            <a:ext cx="4572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p:nvPr/>
        </p:nvSpPr>
        <p:spPr>
          <a:xfrm>
            <a:off x="960120" y="1143000"/>
            <a:ext cx="10698480" cy="45720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Driver reaches Level 9 or 10 — alert modal opens</a:t>
            </a:r>
            <a:endParaRPr lang="en-US" sz="1300" dirty="0"/>
          </a:p>
        </p:txBody>
      </p:sp>
      <p:sp>
        <p:nvSpPr>
          <p:cNvPr id="10" name="Shape 8"/>
          <p:cNvSpPr/>
          <p:nvPr/>
        </p:nvSpPr>
        <p:spPr>
          <a:xfrm>
            <a:off x="594360" y="1627632"/>
            <a:ext cx="0" cy="246888"/>
          </a:xfrm>
          <a:prstGeom prst="line">
            <a:avLst/>
          </a:prstGeom>
          <a:noFill/>
          <a:ln w="12700">
            <a:solidFill>
              <a:srgbClr val="64748B"/>
            </a:solidFill>
            <a:prstDash val="solid"/>
          </a:ln>
        </p:spPr>
      </p:sp>
      <p:sp>
        <p:nvSpPr>
          <p:cNvPr id="11" name="Shape 9"/>
          <p:cNvSpPr/>
          <p:nvPr/>
        </p:nvSpPr>
        <p:spPr>
          <a:xfrm>
            <a:off x="365760" y="1874520"/>
            <a:ext cx="457200" cy="502920"/>
          </a:xfrm>
          <a:prstGeom prst="rect">
            <a:avLst/>
          </a:prstGeom>
          <a:solidFill>
            <a:srgbClr val="EA580C"/>
          </a:solidFill>
          <a:ln w="12700">
            <a:solidFill>
              <a:srgbClr val="EA580C"/>
            </a:solidFill>
            <a:prstDash val="solid"/>
          </a:ln>
        </p:spPr>
      </p:sp>
      <p:sp>
        <p:nvSpPr>
          <p:cNvPr id="12" name="Text 10"/>
          <p:cNvSpPr/>
          <p:nvPr/>
        </p:nvSpPr>
        <p:spPr>
          <a:xfrm>
            <a:off x="365760" y="1874520"/>
            <a:ext cx="4572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960120" y="1920240"/>
            <a:ext cx="10698480" cy="45720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120-second countdown begins (30s on web)</a:t>
            </a:r>
            <a:endParaRPr lang="en-US" sz="1300" dirty="0"/>
          </a:p>
        </p:txBody>
      </p:sp>
      <p:sp>
        <p:nvSpPr>
          <p:cNvPr id="14" name="Shape 12"/>
          <p:cNvSpPr/>
          <p:nvPr/>
        </p:nvSpPr>
        <p:spPr>
          <a:xfrm>
            <a:off x="594360" y="2404872"/>
            <a:ext cx="0" cy="246888"/>
          </a:xfrm>
          <a:prstGeom prst="line">
            <a:avLst/>
          </a:prstGeom>
          <a:noFill/>
          <a:ln w="12700">
            <a:solidFill>
              <a:srgbClr val="64748B"/>
            </a:solidFill>
            <a:prstDash val="solid"/>
          </a:ln>
        </p:spPr>
      </p:sp>
      <p:sp>
        <p:nvSpPr>
          <p:cNvPr id="15" name="Shape 13"/>
          <p:cNvSpPr/>
          <p:nvPr/>
        </p:nvSpPr>
        <p:spPr>
          <a:xfrm>
            <a:off x="365760" y="2651760"/>
            <a:ext cx="457200" cy="502920"/>
          </a:xfrm>
          <a:prstGeom prst="rect">
            <a:avLst/>
          </a:prstGeom>
          <a:solidFill>
            <a:srgbClr val="EA580C"/>
          </a:solidFill>
          <a:ln w="12700">
            <a:solidFill>
              <a:srgbClr val="EA580C"/>
            </a:solidFill>
            <a:prstDash val="solid"/>
          </a:ln>
        </p:spPr>
      </p:sp>
      <p:sp>
        <p:nvSpPr>
          <p:cNvPr id="16" name="Text 14"/>
          <p:cNvSpPr/>
          <p:nvPr/>
        </p:nvSpPr>
        <p:spPr>
          <a:xfrm>
            <a:off x="365760" y="2651760"/>
            <a:ext cx="4572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960120" y="2697480"/>
            <a:ext cx="10698480" cy="45720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If driver does NOT dismiss → triggerEmergencyAlert() fires</a:t>
            </a:r>
            <a:endParaRPr lang="en-US" sz="1300" dirty="0"/>
          </a:p>
        </p:txBody>
      </p:sp>
      <p:sp>
        <p:nvSpPr>
          <p:cNvPr id="18" name="Shape 16"/>
          <p:cNvSpPr/>
          <p:nvPr/>
        </p:nvSpPr>
        <p:spPr>
          <a:xfrm>
            <a:off x="594360" y="3182112"/>
            <a:ext cx="0" cy="246888"/>
          </a:xfrm>
          <a:prstGeom prst="line">
            <a:avLst/>
          </a:prstGeom>
          <a:noFill/>
          <a:ln w="12700">
            <a:solidFill>
              <a:srgbClr val="64748B"/>
            </a:solidFill>
            <a:prstDash val="solid"/>
          </a:ln>
        </p:spPr>
      </p:sp>
      <p:sp>
        <p:nvSpPr>
          <p:cNvPr id="19" name="Shape 17"/>
          <p:cNvSpPr/>
          <p:nvPr/>
        </p:nvSpPr>
        <p:spPr>
          <a:xfrm>
            <a:off x="365760" y="3429000"/>
            <a:ext cx="457200" cy="502920"/>
          </a:xfrm>
          <a:prstGeom prst="rect">
            <a:avLst/>
          </a:prstGeom>
          <a:solidFill>
            <a:srgbClr val="2563EB"/>
          </a:solidFill>
          <a:ln w="12700">
            <a:solidFill>
              <a:srgbClr val="2563EB"/>
            </a:solidFill>
            <a:prstDash val="solid"/>
          </a:ln>
        </p:spPr>
      </p:sp>
      <p:sp>
        <p:nvSpPr>
          <p:cNvPr id="20" name="Text 18"/>
          <p:cNvSpPr/>
          <p:nvPr/>
        </p:nvSpPr>
        <p:spPr>
          <a:xfrm>
            <a:off x="365760" y="3429000"/>
            <a:ext cx="4572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1" name="Text 19"/>
          <p:cNvSpPr/>
          <p:nvPr/>
        </p:nvSpPr>
        <p:spPr>
          <a:xfrm>
            <a:off x="960120" y="3474720"/>
            <a:ext cx="10698480" cy="45720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Driver's GPS location captured → emergency_alert_events row inserted</a:t>
            </a:r>
            <a:endParaRPr lang="en-US" sz="1300" dirty="0"/>
          </a:p>
        </p:txBody>
      </p:sp>
      <p:sp>
        <p:nvSpPr>
          <p:cNvPr id="22" name="Shape 20"/>
          <p:cNvSpPr/>
          <p:nvPr/>
        </p:nvSpPr>
        <p:spPr>
          <a:xfrm>
            <a:off x="594360" y="3959352"/>
            <a:ext cx="0" cy="246888"/>
          </a:xfrm>
          <a:prstGeom prst="line">
            <a:avLst/>
          </a:prstGeom>
          <a:noFill/>
          <a:ln w="12700">
            <a:solidFill>
              <a:srgbClr val="64748B"/>
            </a:solidFill>
            <a:prstDash val="solid"/>
          </a:ln>
        </p:spPr>
      </p:sp>
      <p:sp>
        <p:nvSpPr>
          <p:cNvPr id="23" name="Shape 21"/>
          <p:cNvSpPr/>
          <p:nvPr/>
        </p:nvSpPr>
        <p:spPr>
          <a:xfrm>
            <a:off x="365760" y="4206240"/>
            <a:ext cx="457200" cy="502920"/>
          </a:xfrm>
          <a:prstGeom prst="rect">
            <a:avLst/>
          </a:prstGeom>
          <a:solidFill>
            <a:srgbClr val="2563EB"/>
          </a:solidFill>
          <a:ln w="12700">
            <a:solidFill>
              <a:srgbClr val="2563EB"/>
            </a:solidFill>
            <a:prstDash val="solid"/>
          </a:ln>
        </p:spPr>
      </p:sp>
      <p:sp>
        <p:nvSpPr>
          <p:cNvPr id="24" name="Text 22"/>
          <p:cNvSpPr/>
          <p:nvPr/>
        </p:nvSpPr>
        <p:spPr>
          <a:xfrm>
            <a:off x="365760" y="4206240"/>
            <a:ext cx="4572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5" name="Text 23"/>
          <p:cNvSpPr/>
          <p:nvPr/>
        </p:nvSpPr>
        <p:spPr>
          <a:xfrm>
            <a:off x="960120" y="4251960"/>
            <a:ext cx="10698480" cy="45720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Expo Push Notification sent to active emergency contact's device</a:t>
            </a:r>
            <a:endParaRPr lang="en-US" sz="1300" dirty="0"/>
          </a:p>
        </p:txBody>
      </p:sp>
      <p:sp>
        <p:nvSpPr>
          <p:cNvPr id="26" name="Shape 24"/>
          <p:cNvSpPr/>
          <p:nvPr/>
        </p:nvSpPr>
        <p:spPr>
          <a:xfrm>
            <a:off x="594360" y="4736592"/>
            <a:ext cx="0" cy="246888"/>
          </a:xfrm>
          <a:prstGeom prst="line">
            <a:avLst/>
          </a:prstGeom>
          <a:noFill/>
          <a:ln w="12700">
            <a:solidFill>
              <a:srgbClr val="64748B"/>
            </a:solidFill>
            <a:prstDash val="solid"/>
          </a:ln>
        </p:spPr>
      </p:sp>
      <p:sp>
        <p:nvSpPr>
          <p:cNvPr id="27" name="Shape 25"/>
          <p:cNvSpPr/>
          <p:nvPr/>
        </p:nvSpPr>
        <p:spPr>
          <a:xfrm>
            <a:off x="365760" y="4983480"/>
            <a:ext cx="457200" cy="502920"/>
          </a:xfrm>
          <a:prstGeom prst="rect">
            <a:avLst/>
          </a:prstGeom>
          <a:solidFill>
            <a:srgbClr val="1B2A4A"/>
          </a:solidFill>
          <a:ln w="12700">
            <a:solidFill>
              <a:srgbClr val="1B2A4A"/>
            </a:solidFill>
            <a:prstDash val="solid"/>
          </a:ln>
        </p:spPr>
      </p:sp>
      <p:sp>
        <p:nvSpPr>
          <p:cNvPr id="28" name="Text 26"/>
          <p:cNvSpPr/>
          <p:nvPr/>
        </p:nvSpPr>
        <p:spPr>
          <a:xfrm>
            <a:off x="365760" y="4983480"/>
            <a:ext cx="4572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9" name="Text 27"/>
          <p:cNvSpPr/>
          <p:nvPr/>
        </p:nvSpPr>
        <p:spPr>
          <a:xfrm>
            <a:off x="960120" y="5029200"/>
            <a:ext cx="10698480" cy="45720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If sms_enabled: POST to Supabase Edge Function → PhilSMS API → SMS delivered</a:t>
            </a:r>
            <a:endParaRPr lang="en-US" sz="1300" dirty="0"/>
          </a:p>
        </p:txBody>
      </p:sp>
      <p:sp>
        <p:nvSpPr>
          <p:cNvPr id="30" name="Shape 28"/>
          <p:cNvSpPr/>
          <p:nvPr/>
        </p:nvSpPr>
        <p:spPr>
          <a:xfrm>
            <a:off x="594360" y="5513832"/>
            <a:ext cx="0" cy="246888"/>
          </a:xfrm>
          <a:prstGeom prst="line">
            <a:avLst/>
          </a:prstGeom>
          <a:noFill/>
          <a:ln w="12700">
            <a:solidFill>
              <a:srgbClr val="64748B"/>
            </a:solidFill>
            <a:prstDash val="solid"/>
          </a:ln>
        </p:spPr>
      </p:sp>
      <p:sp>
        <p:nvSpPr>
          <p:cNvPr id="31" name="Shape 29"/>
          <p:cNvSpPr/>
          <p:nvPr/>
        </p:nvSpPr>
        <p:spPr>
          <a:xfrm>
            <a:off x="365760" y="5760720"/>
            <a:ext cx="457200" cy="502920"/>
          </a:xfrm>
          <a:prstGeom prst="rect">
            <a:avLst/>
          </a:prstGeom>
          <a:solidFill>
            <a:srgbClr val="16A34A"/>
          </a:solidFill>
          <a:ln w="12700">
            <a:solidFill>
              <a:srgbClr val="16A34A"/>
            </a:solidFill>
            <a:prstDash val="solid"/>
          </a:ln>
        </p:spPr>
      </p:sp>
      <p:sp>
        <p:nvSpPr>
          <p:cNvPr id="32" name="Text 30"/>
          <p:cNvSpPr/>
          <p:nvPr/>
        </p:nvSpPr>
        <p:spPr>
          <a:xfrm>
            <a:off x="365760" y="5760720"/>
            <a:ext cx="4572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33" name="Text 31"/>
          <p:cNvSpPr/>
          <p:nvPr/>
        </p:nvSpPr>
        <p:spPr>
          <a:xfrm>
            <a:off x="960120" y="5806440"/>
            <a:ext cx="10698480" cy="45720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Guardian opens EmergencyAlertMapScreen → sees live location → Accept / Dismiss</a:t>
            </a:r>
            <a:endParaRPr lang="en-US" sz="1300" dirty="0"/>
          </a:p>
        </p:txBody>
      </p:sp>
      <p:sp>
        <p:nvSpPr>
          <p:cNvPr id="34" name="Shape 32"/>
          <p:cNvSpPr/>
          <p:nvPr/>
        </p:nvSpPr>
        <p:spPr>
          <a:xfrm>
            <a:off x="457200" y="6492240"/>
            <a:ext cx="11274552" cy="0"/>
          </a:xfrm>
          <a:prstGeom prst="line">
            <a:avLst/>
          </a:prstGeom>
          <a:noFill/>
          <a:ln w="19050">
            <a:solidFill>
              <a:srgbClr val="38BDF8"/>
            </a:solidFill>
            <a:prstDash val="solid"/>
          </a:ln>
        </p:spPr>
      </p:sp>
      <p:sp>
        <p:nvSpPr>
          <p:cNvPr id="35" name="Text 33"/>
          <p:cNvSpPr/>
          <p:nvPr/>
        </p:nvSpPr>
        <p:spPr>
          <a:xfrm>
            <a:off x="365760" y="6565392"/>
            <a:ext cx="11274552" cy="274320"/>
          </a:xfrm>
          <a:prstGeom prst="rect">
            <a:avLst/>
          </a:prstGeom>
          <a:noFill/>
          <a:ln/>
        </p:spPr>
        <p:txBody>
          <a:bodyPr wrap="square" rtlCol="0" anchor="t"/>
          <a:lstStyle/>
          <a:p>
            <a:pPr algn="l" indent="0" marL="0">
              <a:buNone/>
            </a:pPr>
            <a:r>
              <a:rPr lang="en-US" sz="1100" dirty="0">
                <a:solidFill>
                  <a:srgbClr val="64748B"/>
                </a:solidFill>
                <a:latin typeface="Calibri" pitchFamily="34" charset="0"/>
                <a:ea typeface="Calibri" pitchFamily="34" charset="-122"/>
                <a:cs typeface="Calibri" pitchFamily="34" charset="-120"/>
              </a:rPr>
              <a:t>Multi-contact model: driver designates multiple guardians (is_active=1 selects active).  Real-time presence shown in "I Protect" tab.</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FFFFF"/>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Text 3"/>
          <p:cNvSpPr/>
          <p:nvPr/>
        </p:nvSpPr>
        <p:spPr>
          <a:xfrm>
            <a:off x="457200" y="274320"/>
            <a:ext cx="11274552" cy="548640"/>
          </a:xfrm>
          <a:prstGeom prst="rect">
            <a:avLst/>
          </a:prstGeom>
          <a:noFill/>
          <a:ln/>
        </p:spPr>
        <p:txBody>
          <a:bodyPr wrap="square" rtlCol="0" anchor="ctr"/>
          <a:lstStyle/>
          <a:p>
            <a:pPr indent="0" marL="0">
              <a:buNone/>
            </a:pPr>
            <a:r>
              <a:rPr lang="en-US" sz="2800" b="1" dirty="0">
                <a:solidFill>
                  <a:srgbClr val="1B2A4A"/>
                </a:solidFill>
                <a:latin typeface="Calibri" pitchFamily="34" charset="0"/>
                <a:ea typeface="Calibri" pitchFamily="34" charset="-122"/>
                <a:cs typeface="Calibri" pitchFamily="34" charset="-120"/>
              </a:rPr>
              <a:t>Offline-First Architecture</a:t>
            </a:r>
            <a:endParaRPr lang="en-US" sz="2800" dirty="0"/>
          </a:p>
        </p:txBody>
      </p:sp>
      <p:sp>
        <p:nvSpPr>
          <p:cNvPr id="6" name="Shape 4"/>
          <p:cNvSpPr/>
          <p:nvPr/>
        </p:nvSpPr>
        <p:spPr>
          <a:xfrm>
            <a:off x="457200" y="960120"/>
            <a:ext cx="11274552" cy="0"/>
          </a:xfrm>
          <a:prstGeom prst="line">
            <a:avLst/>
          </a:prstGeom>
          <a:noFill/>
          <a:ln w="19050">
            <a:solidFill>
              <a:srgbClr val="38BDF8"/>
            </a:solidFill>
            <a:prstDash val="solid"/>
          </a:ln>
        </p:spPr>
      </p:sp>
      <p:sp>
        <p:nvSpPr>
          <p:cNvPr id="7" name="Shape 5"/>
          <p:cNvSpPr/>
          <p:nvPr/>
        </p:nvSpPr>
        <p:spPr>
          <a:xfrm>
            <a:off x="365760" y="1143000"/>
            <a:ext cx="5029200" cy="914400"/>
          </a:xfrm>
          <a:prstGeom prst="rect">
            <a:avLst/>
          </a:prstGeom>
          <a:solidFill>
            <a:srgbClr val="2563EB"/>
          </a:solidFill>
          <a:ln w="12700">
            <a:solidFill>
              <a:srgbClr val="2563EB"/>
            </a:solidFill>
            <a:prstDash val="solid"/>
          </a:ln>
        </p:spPr>
      </p:sp>
      <p:sp>
        <p:nvSpPr>
          <p:cNvPr id="8" name="Text 6"/>
          <p:cNvSpPr/>
          <p:nvPr/>
        </p:nvSpPr>
        <p:spPr>
          <a:xfrm>
            <a:off x="365760" y="1143000"/>
            <a:ext cx="5029200" cy="9144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Local SQLite (expo-sqlite)</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Ground Truth — Always Available</a:t>
            </a:r>
            <a:endParaRPr lang="en-US" sz="1300" dirty="0"/>
          </a:p>
        </p:txBody>
      </p:sp>
      <p:sp>
        <p:nvSpPr>
          <p:cNvPr id="9" name="Shape 7"/>
          <p:cNvSpPr/>
          <p:nvPr/>
        </p:nvSpPr>
        <p:spPr>
          <a:xfrm>
            <a:off x="5394960" y="1600200"/>
            <a:ext cx="1371600" cy="0"/>
          </a:xfrm>
          <a:prstGeom prst="line">
            <a:avLst/>
          </a:prstGeom>
          <a:noFill/>
          <a:ln w="25400">
            <a:solidFill>
              <a:srgbClr val="38BDF8"/>
            </a:solidFill>
            <a:prstDash val="solid"/>
          </a:ln>
        </p:spPr>
      </p:sp>
      <p:sp>
        <p:nvSpPr>
          <p:cNvPr id="10" name="Text 8"/>
          <p:cNvSpPr/>
          <p:nvPr/>
        </p:nvSpPr>
        <p:spPr>
          <a:xfrm>
            <a:off x="5486400" y="1371600"/>
            <a:ext cx="1188720" cy="502920"/>
          </a:xfrm>
          <a:prstGeom prst="rect">
            <a:avLst/>
          </a:prstGeom>
          <a:noFill/>
          <a:ln/>
        </p:spPr>
        <p:txBody>
          <a:bodyPr wrap="square" rtlCol="0" anchor="t"/>
          <a:lstStyle/>
          <a:p>
            <a:pPr algn="ctr" indent="0" marL="0">
              <a:buNone/>
            </a:pPr>
            <a:r>
              <a:rPr lang="en-US" sz="1100" dirty="0">
                <a:solidFill>
                  <a:srgbClr val="38BDF8"/>
                </a:solidFill>
                <a:latin typeface="Calibri" pitchFamily="34" charset="0"/>
                <a:ea typeface="Calibri" pitchFamily="34" charset="-122"/>
                <a:cs typeface="Calibri" pitchFamily="34" charset="-120"/>
              </a:rPr>
              <a:t>Background</a:t>
            </a:r>
            <a:endParaRPr lang="en-US" sz="1100" dirty="0"/>
          </a:p>
          <a:p>
            <a:pPr algn="ctr" indent="0" marL="0">
              <a:buNone/>
            </a:pPr>
            <a:r>
              <a:rPr lang="en-US" sz="1100" dirty="0">
                <a:solidFill>
                  <a:srgbClr val="38BDF8"/>
                </a:solidFill>
                <a:latin typeface="Calibri" pitchFamily="34" charset="0"/>
                <a:ea typeface="Calibri" pitchFamily="34" charset="-122"/>
                <a:cs typeface="Calibri" pitchFamily="34" charset="-120"/>
              </a:rPr>
              <a:t>Sync</a:t>
            </a:r>
            <a:endParaRPr lang="en-US" sz="1100" dirty="0"/>
          </a:p>
        </p:txBody>
      </p:sp>
      <p:sp>
        <p:nvSpPr>
          <p:cNvPr id="11" name="Shape 9"/>
          <p:cNvSpPr/>
          <p:nvPr/>
        </p:nvSpPr>
        <p:spPr>
          <a:xfrm>
            <a:off x="6766560" y="1143000"/>
            <a:ext cx="5029200" cy="914400"/>
          </a:xfrm>
          <a:prstGeom prst="rect">
            <a:avLst/>
          </a:prstGeom>
          <a:solidFill>
            <a:srgbClr val="1B2A4A"/>
          </a:solidFill>
          <a:ln w="12700">
            <a:solidFill>
              <a:srgbClr val="1B2A4A"/>
            </a:solidFill>
            <a:prstDash val="solid"/>
          </a:ln>
        </p:spPr>
      </p:sp>
      <p:sp>
        <p:nvSpPr>
          <p:cNvPr id="12" name="Text 10"/>
          <p:cNvSpPr/>
          <p:nvPr/>
        </p:nvSpPr>
        <p:spPr>
          <a:xfrm>
            <a:off x="6766560" y="1143000"/>
            <a:ext cx="5029200" cy="9144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Supabase PostgreSQL</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Cloud Backup</a:t>
            </a:r>
            <a:endParaRPr lang="en-US" sz="1300" dirty="0"/>
          </a:p>
        </p:txBody>
      </p:sp>
      <p:sp>
        <p:nvSpPr>
          <p:cNvPr id="13" name="Shape 11"/>
          <p:cNvSpPr/>
          <p:nvPr/>
        </p:nvSpPr>
        <p:spPr>
          <a:xfrm>
            <a:off x="457200" y="2331720"/>
            <a:ext cx="11274552" cy="0"/>
          </a:xfrm>
          <a:prstGeom prst="line">
            <a:avLst/>
          </a:prstGeom>
          <a:noFill/>
          <a:ln w="19050">
            <a:solidFill>
              <a:srgbClr val="38BDF8"/>
            </a:solidFill>
            <a:prstDash val="solid"/>
          </a:ln>
        </p:spPr>
      </p:sp>
      <p:sp>
        <p:nvSpPr>
          <p:cNvPr id="14" name="Text 12"/>
          <p:cNvSpPr/>
          <p:nvPr/>
        </p:nvSpPr>
        <p:spPr>
          <a:xfrm>
            <a:off x="457200" y="2423160"/>
            <a:ext cx="11274552" cy="365760"/>
          </a:xfrm>
          <a:prstGeom prst="rect">
            <a:avLst/>
          </a:prstGeom>
          <a:noFill/>
          <a:ln/>
        </p:spPr>
        <p:txBody>
          <a:bodyPr wrap="square"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Offline-First Pattern</a:t>
            </a:r>
            <a:endParaRPr lang="en-US" sz="1600" dirty="0"/>
          </a:p>
        </p:txBody>
      </p:sp>
      <p:sp>
        <p:nvSpPr>
          <p:cNvPr id="15" name="Shape 13"/>
          <p:cNvSpPr/>
          <p:nvPr/>
        </p:nvSpPr>
        <p:spPr>
          <a:xfrm>
            <a:off x="365760" y="2834640"/>
            <a:ext cx="3200400" cy="594360"/>
          </a:xfrm>
          <a:prstGeom prst="rect">
            <a:avLst/>
          </a:prstGeom>
          <a:solidFill>
            <a:srgbClr val="2563EB"/>
          </a:solidFill>
          <a:ln w="12700">
            <a:solidFill>
              <a:srgbClr val="2563EB"/>
            </a:solidFill>
            <a:prstDash val="solid"/>
          </a:ln>
        </p:spPr>
      </p:sp>
      <p:sp>
        <p:nvSpPr>
          <p:cNvPr id="16" name="Text 14"/>
          <p:cNvSpPr/>
          <p:nvPr/>
        </p:nvSpPr>
        <p:spPr>
          <a:xfrm>
            <a:off x="365760" y="2834640"/>
            <a:ext cx="3200400" cy="5943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Read SQLite immediately</a:t>
            </a:r>
            <a:endParaRPr lang="en-US" sz="1200" dirty="0"/>
          </a:p>
        </p:txBody>
      </p:sp>
      <p:sp>
        <p:nvSpPr>
          <p:cNvPr id="17" name="Text 15"/>
          <p:cNvSpPr/>
          <p:nvPr/>
        </p:nvSpPr>
        <p:spPr>
          <a:xfrm>
            <a:off x="3749040" y="2926080"/>
            <a:ext cx="7955280" cy="45720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Show cached data to user with zero delay</a:t>
            </a:r>
            <a:endParaRPr lang="en-US" sz="1250" dirty="0"/>
          </a:p>
        </p:txBody>
      </p:sp>
      <p:sp>
        <p:nvSpPr>
          <p:cNvPr id="18" name="Shape 16"/>
          <p:cNvSpPr/>
          <p:nvPr/>
        </p:nvSpPr>
        <p:spPr>
          <a:xfrm>
            <a:off x="365760" y="3639312"/>
            <a:ext cx="3200400" cy="594360"/>
          </a:xfrm>
          <a:prstGeom prst="rect">
            <a:avLst/>
          </a:prstGeom>
          <a:solidFill>
            <a:srgbClr val="64748B"/>
          </a:solidFill>
          <a:ln w="12700">
            <a:solidFill>
              <a:srgbClr val="64748B"/>
            </a:solidFill>
            <a:prstDash val="solid"/>
          </a:ln>
        </p:spPr>
      </p:sp>
      <p:sp>
        <p:nvSpPr>
          <p:cNvPr id="19" name="Text 17"/>
          <p:cNvSpPr/>
          <p:nvPr/>
        </p:nvSpPr>
        <p:spPr>
          <a:xfrm>
            <a:off x="365760" y="3639312"/>
            <a:ext cx="3200400" cy="5943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Check connectivity</a:t>
            </a:r>
            <a:endParaRPr lang="en-US" sz="1200" dirty="0"/>
          </a:p>
        </p:txBody>
      </p:sp>
      <p:sp>
        <p:nvSpPr>
          <p:cNvPr id="20" name="Text 18"/>
          <p:cNvSpPr/>
          <p:nvPr/>
        </p:nvSpPr>
        <p:spPr>
          <a:xfrm>
            <a:off x="3749040" y="3730752"/>
            <a:ext cx="7955280" cy="45720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isOnline() from sync/flush.ts</a:t>
            </a:r>
            <a:endParaRPr lang="en-US" sz="1250" dirty="0"/>
          </a:p>
        </p:txBody>
      </p:sp>
      <p:sp>
        <p:nvSpPr>
          <p:cNvPr id="21" name="Shape 19"/>
          <p:cNvSpPr/>
          <p:nvPr/>
        </p:nvSpPr>
        <p:spPr>
          <a:xfrm>
            <a:off x="365760" y="4443984"/>
            <a:ext cx="3200400" cy="594360"/>
          </a:xfrm>
          <a:prstGeom prst="rect">
            <a:avLst/>
          </a:prstGeom>
          <a:solidFill>
            <a:srgbClr val="16A34A"/>
          </a:solidFill>
          <a:ln w="12700">
            <a:solidFill>
              <a:srgbClr val="16A34A"/>
            </a:solidFill>
            <a:prstDash val="solid"/>
          </a:ln>
        </p:spPr>
      </p:sp>
      <p:sp>
        <p:nvSpPr>
          <p:cNvPr id="22" name="Text 20"/>
          <p:cNvSpPr/>
          <p:nvPr/>
        </p:nvSpPr>
        <p:spPr>
          <a:xfrm>
            <a:off x="365760" y="4443984"/>
            <a:ext cx="3200400" cy="5943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If online: fetch Supabase</a:t>
            </a:r>
            <a:endParaRPr lang="en-US" sz="1200" dirty="0"/>
          </a:p>
        </p:txBody>
      </p:sp>
      <p:sp>
        <p:nvSpPr>
          <p:cNvPr id="23" name="Text 21"/>
          <p:cNvSpPr/>
          <p:nvPr/>
        </p:nvSpPr>
        <p:spPr>
          <a:xfrm>
            <a:off x="3749040" y="4535424"/>
            <a:ext cx="7955280" cy="45720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Update SQLite cache with fresh data</a:t>
            </a:r>
            <a:endParaRPr lang="en-US" sz="1250" dirty="0"/>
          </a:p>
        </p:txBody>
      </p:sp>
      <p:sp>
        <p:nvSpPr>
          <p:cNvPr id="24" name="Shape 22"/>
          <p:cNvSpPr/>
          <p:nvPr/>
        </p:nvSpPr>
        <p:spPr>
          <a:xfrm>
            <a:off x="365760" y="5248656"/>
            <a:ext cx="3200400" cy="594360"/>
          </a:xfrm>
          <a:prstGeom prst="rect">
            <a:avLst/>
          </a:prstGeom>
          <a:solidFill>
            <a:srgbClr val="EA580C"/>
          </a:solidFill>
          <a:ln w="12700">
            <a:solidFill>
              <a:srgbClr val="EA580C"/>
            </a:solidFill>
            <a:prstDash val="solid"/>
          </a:ln>
        </p:spPr>
      </p:sp>
      <p:sp>
        <p:nvSpPr>
          <p:cNvPr id="25" name="Text 23"/>
          <p:cNvSpPr/>
          <p:nvPr/>
        </p:nvSpPr>
        <p:spPr>
          <a:xfrm>
            <a:off x="365760" y="5248656"/>
            <a:ext cx="3200400" cy="5943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If offline: show banner</a:t>
            </a:r>
            <a:endParaRPr lang="en-US" sz="1200" dirty="0"/>
          </a:p>
        </p:txBody>
      </p:sp>
      <p:sp>
        <p:nvSpPr>
          <p:cNvPr id="26" name="Text 24"/>
          <p:cNvSpPr/>
          <p:nvPr/>
        </p:nvSpPr>
        <p:spPr>
          <a:xfrm>
            <a:off x="3749040" y="5340096"/>
            <a:ext cx="7955280" cy="45720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User sees offline warning; cached data still visible</a:t>
            </a:r>
            <a:endParaRPr lang="en-US" sz="1250" dirty="0"/>
          </a:p>
        </p:txBody>
      </p:sp>
      <p:sp>
        <p:nvSpPr>
          <p:cNvPr id="27" name="Shape 25"/>
          <p:cNvSpPr/>
          <p:nvPr/>
        </p:nvSpPr>
        <p:spPr>
          <a:xfrm>
            <a:off x="457200" y="6126480"/>
            <a:ext cx="11274552" cy="0"/>
          </a:xfrm>
          <a:prstGeom prst="line">
            <a:avLst/>
          </a:prstGeom>
          <a:noFill/>
          <a:ln w="19050">
            <a:solidFill>
              <a:srgbClr val="38BDF8"/>
            </a:solidFill>
            <a:prstDash val="solid"/>
          </a:ln>
        </p:spPr>
      </p:sp>
      <p:sp>
        <p:nvSpPr>
          <p:cNvPr id="28" name="Text 26"/>
          <p:cNvSpPr/>
          <p:nvPr/>
        </p:nvSpPr>
        <p:spPr>
          <a:xfrm>
            <a:off x="457200" y="6217920"/>
            <a:ext cx="11274552" cy="365760"/>
          </a:xfrm>
          <a:prstGeom prst="rect">
            <a:avLst/>
          </a:prstGeom>
          <a:noFill/>
          <a:ln/>
        </p:spPr>
        <p:txBody>
          <a:bodyPr wrap="square" rtlCol="0" anchor="ctr"/>
          <a:lstStyle/>
          <a:p>
            <a:pPr indent="0" marL="0">
              <a:buNone/>
            </a:pPr>
            <a:r>
              <a:rPr lang="en-US" sz="1600" b="1" dirty="0">
                <a:solidFill>
                  <a:srgbClr val="EA580C"/>
                </a:solidFill>
                <a:latin typeface="Calibri" pitchFamily="34" charset="0"/>
                <a:ea typeface="Calibri" pitchFamily="34" charset="-122"/>
                <a:cs typeface="Calibri" pitchFamily="34" charset="-120"/>
              </a:rPr>
              <a:t>Auth Fallback</a:t>
            </a:r>
            <a:endParaRPr lang="en-US" sz="1600" dirty="0"/>
          </a:p>
        </p:txBody>
      </p:sp>
      <p:sp>
        <p:nvSpPr>
          <p:cNvPr id="29" name="Text 27"/>
          <p:cNvSpPr/>
          <p:nvPr/>
        </p:nvSpPr>
        <p:spPr>
          <a:xfrm>
            <a:off x="457200" y="6492240"/>
            <a:ext cx="11274552" cy="274320"/>
          </a:xfrm>
          <a:prstGeom prst="rect">
            <a:avLst/>
          </a:prstGeom>
          <a:noFill/>
          <a:ln/>
        </p:spPr>
        <p:txBody>
          <a:bodyPr wrap="square" rtlCol="0" anchor="t"/>
          <a:lstStyle/>
          <a:p>
            <a:pPr algn="l" indent="0" marL="0">
              <a:buNone/>
            </a:pPr>
            <a:r>
              <a:rPr lang="en-US" sz="1200" dirty="0">
                <a:solidFill>
                  <a:srgbClr val="64748B"/>
                </a:solidFill>
                <a:latin typeface="Calibri" pitchFamily="34" charset="0"/>
                <a:ea typeface="Calibri" pitchFamily="34" charset="-122"/>
                <a:cs typeface="Calibri" pitchFamily="34" charset="-120"/>
              </a:rPr>
              <a:t>5-second timeout on session load → reads offline_session from SQLite → user logged in without network</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FFFFF"/>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Text 3"/>
          <p:cNvSpPr/>
          <p:nvPr/>
        </p:nvSpPr>
        <p:spPr>
          <a:xfrm>
            <a:off x="457200" y="274320"/>
            <a:ext cx="11274552" cy="548640"/>
          </a:xfrm>
          <a:prstGeom prst="rect">
            <a:avLst/>
          </a:prstGeom>
          <a:noFill/>
          <a:ln/>
        </p:spPr>
        <p:txBody>
          <a:bodyPr wrap="square" rtlCol="0" anchor="ctr"/>
          <a:lstStyle/>
          <a:p>
            <a:pPr indent="0" marL="0">
              <a:buNone/>
            </a:pPr>
            <a:r>
              <a:rPr lang="en-US" sz="2800" b="1" dirty="0">
                <a:solidFill>
                  <a:srgbClr val="1B2A4A"/>
                </a:solidFill>
                <a:latin typeface="Calibri" pitchFamily="34" charset="0"/>
                <a:ea typeface="Calibri" pitchFamily="34" charset="-122"/>
                <a:cs typeface="Calibri" pitchFamily="34" charset="-120"/>
              </a:rPr>
              <a:t>Research Methodology</a:t>
            </a:r>
            <a:endParaRPr lang="en-US" sz="2800" dirty="0"/>
          </a:p>
        </p:txBody>
      </p:sp>
      <p:sp>
        <p:nvSpPr>
          <p:cNvPr id="6" name="Shape 4"/>
          <p:cNvSpPr/>
          <p:nvPr/>
        </p:nvSpPr>
        <p:spPr>
          <a:xfrm>
            <a:off x="457200" y="960120"/>
            <a:ext cx="11274552" cy="0"/>
          </a:xfrm>
          <a:prstGeom prst="line">
            <a:avLst/>
          </a:prstGeom>
          <a:noFill/>
          <a:ln w="19050">
            <a:solidFill>
              <a:srgbClr val="38BDF8"/>
            </a:solidFill>
            <a:prstDash val="solid"/>
          </a:ln>
        </p:spPr>
      </p:sp>
      <p:sp>
        <p:nvSpPr>
          <p:cNvPr id="7" name="Shape 5"/>
          <p:cNvSpPr/>
          <p:nvPr/>
        </p:nvSpPr>
        <p:spPr>
          <a:xfrm>
            <a:off x="365760" y="1097280"/>
            <a:ext cx="11274552" cy="548640"/>
          </a:xfrm>
          <a:prstGeom prst="rect">
            <a:avLst/>
          </a:prstGeom>
          <a:solidFill>
            <a:srgbClr val="2563EB"/>
          </a:solidFill>
          <a:ln w="12700">
            <a:solidFill>
              <a:srgbClr val="2563EB"/>
            </a:solidFill>
            <a:prstDash val="solid"/>
          </a:ln>
        </p:spPr>
      </p:sp>
      <p:sp>
        <p:nvSpPr>
          <p:cNvPr id="8" name="Text 6"/>
          <p:cNvSpPr/>
          <p:nvPr/>
        </p:nvSpPr>
        <p:spPr>
          <a:xfrm>
            <a:off x="365760" y="1097280"/>
            <a:ext cx="11274552" cy="54864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Iterative Software Development Life Cycle (Iterative SDLC)</a:t>
            </a:r>
            <a:endParaRPr lang="en-US" sz="1600" dirty="0"/>
          </a:p>
        </p:txBody>
      </p:sp>
      <p:sp>
        <p:nvSpPr>
          <p:cNvPr id="9" name="Shape 7"/>
          <p:cNvSpPr/>
          <p:nvPr/>
        </p:nvSpPr>
        <p:spPr>
          <a:xfrm>
            <a:off x="365760" y="1828800"/>
            <a:ext cx="1280160" cy="365760"/>
          </a:xfrm>
          <a:prstGeom prst="rect">
            <a:avLst/>
          </a:prstGeom>
          <a:solidFill>
            <a:srgbClr val="2563EB"/>
          </a:solidFill>
          <a:ln w="12700">
            <a:solidFill>
              <a:srgbClr val="2563EB"/>
            </a:solidFill>
            <a:prstDash val="solid"/>
          </a:ln>
        </p:spPr>
      </p:sp>
      <p:sp>
        <p:nvSpPr>
          <p:cNvPr id="10" name="Text 8"/>
          <p:cNvSpPr/>
          <p:nvPr/>
        </p:nvSpPr>
        <p:spPr>
          <a:xfrm>
            <a:off x="365760" y="1828800"/>
            <a:ext cx="1280160" cy="36576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1</a:t>
            </a:r>
            <a:endParaRPr lang="en-US" sz="1000" dirty="0"/>
          </a:p>
        </p:txBody>
      </p:sp>
      <p:sp>
        <p:nvSpPr>
          <p:cNvPr id="11" name="Shape 9"/>
          <p:cNvSpPr/>
          <p:nvPr/>
        </p:nvSpPr>
        <p:spPr>
          <a:xfrm>
            <a:off x="365760" y="2240280"/>
            <a:ext cx="1280160" cy="822960"/>
          </a:xfrm>
          <a:prstGeom prst="rect">
            <a:avLst/>
          </a:prstGeom>
          <a:solidFill>
            <a:srgbClr val="EEF4FF"/>
          </a:solidFill>
          <a:ln w="12700">
            <a:solidFill>
              <a:srgbClr val="EEF4FF"/>
            </a:solidFill>
            <a:prstDash val="solid"/>
          </a:ln>
        </p:spPr>
      </p:sp>
      <p:sp>
        <p:nvSpPr>
          <p:cNvPr id="12" name="Text 10"/>
          <p:cNvSpPr/>
          <p:nvPr/>
        </p:nvSpPr>
        <p:spPr>
          <a:xfrm>
            <a:off x="365760" y="2240280"/>
            <a:ext cx="1280160" cy="822960"/>
          </a:xfrm>
          <a:prstGeom prst="rect">
            <a:avLst/>
          </a:prstGeom>
          <a:noFill/>
          <a:ln/>
        </p:spPr>
        <p:txBody>
          <a:bodyPr wrap="square" rtlCol="0" anchor="ctr"/>
          <a:lstStyle/>
          <a:p>
            <a:pPr algn="ctr" indent="0" marL="0">
              <a:buNone/>
            </a:pPr>
            <a:r>
              <a:rPr lang="en-US" sz="1000" b="1" dirty="0">
                <a:solidFill>
                  <a:srgbClr val="0F172A"/>
                </a:solidFill>
                <a:latin typeface="Calibri" pitchFamily="34" charset="0"/>
                <a:ea typeface="Calibri" pitchFamily="34" charset="-122"/>
                <a:cs typeface="Calibri" pitchFamily="34" charset="-120"/>
              </a:rPr>
              <a:t>Requirements</a:t>
            </a:r>
            <a:endParaRPr lang="en-US" sz="1000" dirty="0"/>
          </a:p>
          <a:p>
            <a:pPr algn="ctr" indent="0" marL="0">
              <a:buNone/>
            </a:pPr>
            <a:r>
              <a:rPr lang="en-US" sz="1000" b="1" dirty="0">
                <a:solidFill>
                  <a:srgbClr val="0F172A"/>
                </a:solidFill>
                <a:latin typeface="Calibri" pitchFamily="34" charset="0"/>
                <a:ea typeface="Calibri" pitchFamily="34" charset="-122"/>
                <a:cs typeface="Calibri" pitchFamily="34" charset="-120"/>
              </a:rPr>
              <a:t>Analysis</a:t>
            </a:r>
            <a:endParaRPr lang="en-US" sz="1000" dirty="0"/>
          </a:p>
        </p:txBody>
      </p:sp>
      <p:sp>
        <p:nvSpPr>
          <p:cNvPr id="13" name="Text 11"/>
          <p:cNvSpPr/>
          <p:nvPr/>
        </p:nvSpPr>
        <p:spPr>
          <a:xfrm>
            <a:off x="365760" y="3108960"/>
            <a:ext cx="1280160" cy="320040"/>
          </a:xfrm>
          <a:prstGeom prst="rect">
            <a:avLst/>
          </a:prstGeom>
          <a:noFill/>
          <a:ln/>
        </p:spPr>
        <p:txBody>
          <a:bodyPr wrap="square" rtlCol="0" anchor="t"/>
          <a:lstStyle/>
          <a:p>
            <a:pPr algn="ctr" indent="0" marL="0">
              <a:buNone/>
            </a:pPr>
            <a:r>
              <a:rPr lang="en-US" sz="950" dirty="0">
                <a:solidFill>
                  <a:srgbClr val="64748B"/>
                </a:solidFill>
                <a:latin typeface="Calibri" pitchFamily="34" charset="0"/>
                <a:ea typeface="Calibri" pitchFamily="34" charset="-122"/>
                <a:cs typeface="Calibri" pitchFamily="34" charset="-120"/>
              </a:rPr>
              <a:t>Jan 1–15</a:t>
            </a:r>
            <a:endParaRPr lang="en-US" sz="950" dirty="0"/>
          </a:p>
        </p:txBody>
      </p:sp>
      <p:sp>
        <p:nvSpPr>
          <p:cNvPr id="14" name="Shape 12"/>
          <p:cNvSpPr/>
          <p:nvPr/>
        </p:nvSpPr>
        <p:spPr>
          <a:xfrm>
            <a:off x="1783080" y="1828800"/>
            <a:ext cx="1280160" cy="365760"/>
          </a:xfrm>
          <a:prstGeom prst="rect">
            <a:avLst/>
          </a:prstGeom>
          <a:solidFill>
            <a:srgbClr val="1B2A4A"/>
          </a:solidFill>
          <a:ln w="12700">
            <a:solidFill>
              <a:srgbClr val="1B2A4A"/>
            </a:solidFill>
            <a:prstDash val="solid"/>
          </a:ln>
        </p:spPr>
      </p:sp>
      <p:sp>
        <p:nvSpPr>
          <p:cNvPr id="15" name="Text 13"/>
          <p:cNvSpPr/>
          <p:nvPr/>
        </p:nvSpPr>
        <p:spPr>
          <a:xfrm>
            <a:off x="1783080" y="1828800"/>
            <a:ext cx="1280160" cy="36576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16" name="Shape 14"/>
          <p:cNvSpPr/>
          <p:nvPr/>
        </p:nvSpPr>
        <p:spPr>
          <a:xfrm>
            <a:off x="1783080" y="2240280"/>
            <a:ext cx="1280160" cy="822960"/>
          </a:xfrm>
          <a:prstGeom prst="rect">
            <a:avLst/>
          </a:prstGeom>
          <a:solidFill>
            <a:srgbClr val="EEF4FF"/>
          </a:solidFill>
          <a:ln w="12700">
            <a:solidFill>
              <a:srgbClr val="EEF4FF"/>
            </a:solidFill>
            <a:prstDash val="solid"/>
          </a:ln>
        </p:spPr>
      </p:sp>
      <p:sp>
        <p:nvSpPr>
          <p:cNvPr id="17" name="Text 15"/>
          <p:cNvSpPr/>
          <p:nvPr/>
        </p:nvSpPr>
        <p:spPr>
          <a:xfrm>
            <a:off x="1783080" y="2240280"/>
            <a:ext cx="1280160" cy="822960"/>
          </a:xfrm>
          <a:prstGeom prst="rect">
            <a:avLst/>
          </a:prstGeom>
          <a:noFill/>
          <a:ln/>
        </p:spPr>
        <p:txBody>
          <a:bodyPr wrap="square" rtlCol="0" anchor="ctr"/>
          <a:lstStyle/>
          <a:p>
            <a:pPr algn="ctr" indent="0" marL="0">
              <a:buNone/>
            </a:pPr>
            <a:r>
              <a:rPr lang="en-US" sz="1000" b="1" dirty="0">
                <a:solidFill>
                  <a:srgbClr val="0F172A"/>
                </a:solidFill>
                <a:latin typeface="Calibri" pitchFamily="34" charset="0"/>
                <a:ea typeface="Calibri" pitchFamily="34" charset="-122"/>
                <a:cs typeface="Calibri" pitchFamily="34" charset="-120"/>
              </a:rPr>
              <a:t>System</a:t>
            </a:r>
            <a:endParaRPr lang="en-US" sz="1000" dirty="0"/>
          </a:p>
          <a:p>
            <a:pPr algn="ctr" indent="0" marL="0">
              <a:buNone/>
            </a:pPr>
            <a:r>
              <a:rPr lang="en-US" sz="1000" b="1" dirty="0">
                <a:solidFill>
                  <a:srgbClr val="0F172A"/>
                </a:solidFill>
                <a:latin typeface="Calibri" pitchFamily="34" charset="0"/>
                <a:ea typeface="Calibri" pitchFamily="34" charset="-122"/>
                <a:cs typeface="Calibri" pitchFamily="34" charset="-120"/>
              </a:rPr>
              <a:t>Design</a:t>
            </a:r>
            <a:endParaRPr lang="en-US" sz="1000" dirty="0"/>
          </a:p>
        </p:txBody>
      </p:sp>
      <p:sp>
        <p:nvSpPr>
          <p:cNvPr id="18" name="Text 16"/>
          <p:cNvSpPr/>
          <p:nvPr/>
        </p:nvSpPr>
        <p:spPr>
          <a:xfrm>
            <a:off x="1783080" y="3108960"/>
            <a:ext cx="1280160" cy="320040"/>
          </a:xfrm>
          <a:prstGeom prst="rect">
            <a:avLst/>
          </a:prstGeom>
          <a:noFill/>
          <a:ln/>
        </p:spPr>
        <p:txBody>
          <a:bodyPr wrap="square" rtlCol="0" anchor="t"/>
          <a:lstStyle/>
          <a:p>
            <a:pPr algn="ctr" indent="0" marL="0">
              <a:buNone/>
            </a:pPr>
            <a:r>
              <a:rPr lang="en-US" sz="950" dirty="0">
                <a:solidFill>
                  <a:srgbClr val="64748B"/>
                </a:solidFill>
                <a:latin typeface="Calibri" pitchFamily="34" charset="0"/>
                <a:ea typeface="Calibri" pitchFamily="34" charset="-122"/>
                <a:cs typeface="Calibri" pitchFamily="34" charset="-120"/>
              </a:rPr>
              <a:t>Jan 16–30</a:t>
            </a:r>
            <a:endParaRPr lang="en-US" sz="950" dirty="0"/>
          </a:p>
        </p:txBody>
      </p:sp>
      <p:sp>
        <p:nvSpPr>
          <p:cNvPr id="19" name="Shape 17"/>
          <p:cNvSpPr/>
          <p:nvPr/>
        </p:nvSpPr>
        <p:spPr>
          <a:xfrm>
            <a:off x="3200400" y="1828800"/>
            <a:ext cx="1280160" cy="365760"/>
          </a:xfrm>
          <a:prstGeom prst="rect">
            <a:avLst/>
          </a:prstGeom>
          <a:solidFill>
            <a:srgbClr val="2563EB"/>
          </a:solidFill>
          <a:ln w="12700">
            <a:solidFill>
              <a:srgbClr val="2563EB"/>
            </a:solidFill>
            <a:prstDash val="solid"/>
          </a:ln>
        </p:spPr>
      </p:sp>
      <p:sp>
        <p:nvSpPr>
          <p:cNvPr id="20" name="Text 18"/>
          <p:cNvSpPr/>
          <p:nvPr/>
        </p:nvSpPr>
        <p:spPr>
          <a:xfrm>
            <a:off x="3200400" y="1828800"/>
            <a:ext cx="1280160" cy="36576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3</a:t>
            </a:r>
            <a:endParaRPr lang="en-US" sz="1000" dirty="0"/>
          </a:p>
        </p:txBody>
      </p:sp>
      <p:sp>
        <p:nvSpPr>
          <p:cNvPr id="21" name="Shape 19"/>
          <p:cNvSpPr/>
          <p:nvPr/>
        </p:nvSpPr>
        <p:spPr>
          <a:xfrm>
            <a:off x="3200400" y="2240280"/>
            <a:ext cx="1280160" cy="822960"/>
          </a:xfrm>
          <a:prstGeom prst="rect">
            <a:avLst/>
          </a:prstGeom>
          <a:solidFill>
            <a:srgbClr val="EEF4FF"/>
          </a:solidFill>
          <a:ln w="12700">
            <a:solidFill>
              <a:srgbClr val="EEF4FF"/>
            </a:solidFill>
            <a:prstDash val="solid"/>
          </a:ln>
        </p:spPr>
      </p:sp>
      <p:sp>
        <p:nvSpPr>
          <p:cNvPr id="22" name="Text 20"/>
          <p:cNvSpPr/>
          <p:nvPr/>
        </p:nvSpPr>
        <p:spPr>
          <a:xfrm>
            <a:off x="3200400" y="2240280"/>
            <a:ext cx="1280160" cy="822960"/>
          </a:xfrm>
          <a:prstGeom prst="rect">
            <a:avLst/>
          </a:prstGeom>
          <a:noFill/>
          <a:ln/>
        </p:spPr>
        <p:txBody>
          <a:bodyPr wrap="square" rtlCol="0" anchor="ctr"/>
          <a:lstStyle/>
          <a:p>
            <a:pPr algn="ctr" indent="0" marL="0">
              <a:buNone/>
            </a:pPr>
            <a:r>
              <a:rPr lang="en-US" sz="1000" b="1" dirty="0">
                <a:solidFill>
                  <a:srgbClr val="0F172A"/>
                </a:solidFill>
                <a:latin typeface="Calibri" pitchFamily="34" charset="0"/>
                <a:ea typeface="Calibri" pitchFamily="34" charset="-122"/>
                <a:cs typeface="Calibri" pitchFamily="34" charset="-120"/>
              </a:rPr>
              <a:t>Mobile App</a:t>
            </a:r>
            <a:endParaRPr lang="en-US" sz="1000" dirty="0"/>
          </a:p>
          <a:p>
            <a:pPr algn="ctr" indent="0" marL="0">
              <a:buNone/>
            </a:pPr>
            <a:r>
              <a:rPr lang="en-US" sz="1000" b="1" dirty="0">
                <a:solidFill>
                  <a:srgbClr val="0F172A"/>
                </a:solidFill>
                <a:latin typeface="Calibri" pitchFamily="34" charset="0"/>
                <a:ea typeface="Calibri" pitchFamily="34" charset="-122"/>
                <a:cs typeface="Calibri" pitchFamily="34" charset="-120"/>
              </a:rPr>
              <a:t>Development</a:t>
            </a:r>
            <a:endParaRPr lang="en-US" sz="1000" dirty="0"/>
          </a:p>
        </p:txBody>
      </p:sp>
      <p:sp>
        <p:nvSpPr>
          <p:cNvPr id="23" name="Text 21"/>
          <p:cNvSpPr/>
          <p:nvPr/>
        </p:nvSpPr>
        <p:spPr>
          <a:xfrm>
            <a:off x="3200400" y="3108960"/>
            <a:ext cx="1280160" cy="320040"/>
          </a:xfrm>
          <a:prstGeom prst="rect">
            <a:avLst/>
          </a:prstGeom>
          <a:noFill/>
          <a:ln/>
        </p:spPr>
        <p:txBody>
          <a:bodyPr wrap="square" rtlCol="0" anchor="t"/>
          <a:lstStyle/>
          <a:p>
            <a:pPr algn="ctr" indent="0" marL="0">
              <a:buNone/>
            </a:pPr>
            <a:r>
              <a:rPr lang="en-US" sz="950" dirty="0">
                <a:solidFill>
                  <a:srgbClr val="64748B"/>
                </a:solidFill>
                <a:latin typeface="Calibri" pitchFamily="34" charset="0"/>
                <a:ea typeface="Calibri" pitchFamily="34" charset="-122"/>
                <a:cs typeface="Calibri" pitchFamily="34" charset="-120"/>
              </a:rPr>
              <a:t>Feb 1–15</a:t>
            </a:r>
            <a:endParaRPr lang="en-US" sz="950" dirty="0"/>
          </a:p>
        </p:txBody>
      </p:sp>
      <p:sp>
        <p:nvSpPr>
          <p:cNvPr id="24" name="Shape 22"/>
          <p:cNvSpPr/>
          <p:nvPr/>
        </p:nvSpPr>
        <p:spPr>
          <a:xfrm>
            <a:off x="4617720" y="1828800"/>
            <a:ext cx="1280160" cy="365760"/>
          </a:xfrm>
          <a:prstGeom prst="rect">
            <a:avLst/>
          </a:prstGeom>
          <a:solidFill>
            <a:srgbClr val="1B2A4A"/>
          </a:solidFill>
          <a:ln w="12700">
            <a:solidFill>
              <a:srgbClr val="1B2A4A"/>
            </a:solidFill>
            <a:prstDash val="solid"/>
          </a:ln>
        </p:spPr>
      </p:sp>
      <p:sp>
        <p:nvSpPr>
          <p:cNvPr id="25" name="Text 23"/>
          <p:cNvSpPr/>
          <p:nvPr/>
        </p:nvSpPr>
        <p:spPr>
          <a:xfrm>
            <a:off x="4617720" y="1828800"/>
            <a:ext cx="1280160" cy="36576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4</a:t>
            </a:r>
            <a:endParaRPr lang="en-US" sz="1000" dirty="0"/>
          </a:p>
        </p:txBody>
      </p:sp>
      <p:sp>
        <p:nvSpPr>
          <p:cNvPr id="26" name="Shape 24"/>
          <p:cNvSpPr/>
          <p:nvPr/>
        </p:nvSpPr>
        <p:spPr>
          <a:xfrm>
            <a:off x="4617720" y="2240280"/>
            <a:ext cx="1280160" cy="822960"/>
          </a:xfrm>
          <a:prstGeom prst="rect">
            <a:avLst/>
          </a:prstGeom>
          <a:solidFill>
            <a:srgbClr val="EEF4FF"/>
          </a:solidFill>
          <a:ln w="12700">
            <a:solidFill>
              <a:srgbClr val="EEF4FF"/>
            </a:solidFill>
            <a:prstDash val="solid"/>
          </a:ln>
        </p:spPr>
      </p:sp>
      <p:sp>
        <p:nvSpPr>
          <p:cNvPr id="27" name="Text 25"/>
          <p:cNvSpPr/>
          <p:nvPr/>
        </p:nvSpPr>
        <p:spPr>
          <a:xfrm>
            <a:off x="4617720" y="2240280"/>
            <a:ext cx="1280160" cy="822960"/>
          </a:xfrm>
          <a:prstGeom prst="rect">
            <a:avLst/>
          </a:prstGeom>
          <a:noFill/>
          <a:ln/>
        </p:spPr>
        <p:txBody>
          <a:bodyPr wrap="square" rtlCol="0" anchor="ctr"/>
          <a:lstStyle/>
          <a:p>
            <a:pPr algn="ctr" indent="0" marL="0">
              <a:buNone/>
            </a:pPr>
            <a:r>
              <a:rPr lang="en-US" sz="1000" b="1" dirty="0">
                <a:solidFill>
                  <a:srgbClr val="0F172A"/>
                </a:solidFill>
                <a:latin typeface="Calibri" pitchFamily="34" charset="0"/>
                <a:ea typeface="Calibri" pitchFamily="34" charset="-122"/>
                <a:cs typeface="Calibri" pitchFamily="34" charset="-120"/>
              </a:rPr>
              <a:t>Web Dashboard</a:t>
            </a:r>
            <a:endParaRPr lang="en-US" sz="1000" dirty="0"/>
          </a:p>
        </p:txBody>
      </p:sp>
      <p:sp>
        <p:nvSpPr>
          <p:cNvPr id="28" name="Text 26"/>
          <p:cNvSpPr/>
          <p:nvPr/>
        </p:nvSpPr>
        <p:spPr>
          <a:xfrm>
            <a:off x="4617720" y="3108960"/>
            <a:ext cx="1280160" cy="320040"/>
          </a:xfrm>
          <a:prstGeom prst="rect">
            <a:avLst/>
          </a:prstGeom>
          <a:noFill/>
          <a:ln/>
        </p:spPr>
        <p:txBody>
          <a:bodyPr wrap="square" rtlCol="0" anchor="t"/>
          <a:lstStyle/>
          <a:p>
            <a:pPr algn="ctr" indent="0" marL="0">
              <a:buNone/>
            </a:pPr>
            <a:r>
              <a:rPr lang="en-US" sz="950" dirty="0">
                <a:solidFill>
                  <a:srgbClr val="64748B"/>
                </a:solidFill>
                <a:latin typeface="Calibri" pitchFamily="34" charset="0"/>
                <a:ea typeface="Calibri" pitchFamily="34" charset="-122"/>
                <a:cs typeface="Calibri" pitchFamily="34" charset="-120"/>
              </a:rPr>
              <a:t>Feb 16–28</a:t>
            </a:r>
            <a:endParaRPr lang="en-US" sz="950" dirty="0"/>
          </a:p>
        </p:txBody>
      </p:sp>
      <p:sp>
        <p:nvSpPr>
          <p:cNvPr id="29" name="Shape 27"/>
          <p:cNvSpPr/>
          <p:nvPr/>
        </p:nvSpPr>
        <p:spPr>
          <a:xfrm>
            <a:off x="6035040" y="1828800"/>
            <a:ext cx="1280160" cy="365760"/>
          </a:xfrm>
          <a:prstGeom prst="rect">
            <a:avLst/>
          </a:prstGeom>
          <a:solidFill>
            <a:srgbClr val="EA580C"/>
          </a:solidFill>
          <a:ln w="12700">
            <a:solidFill>
              <a:srgbClr val="EA580C"/>
            </a:solidFill>
            <a:prstDash val="solid"/>
          </a:ln>
        </p:spPr>
      </p:sp>
      <p:sp>
        <p:nvSpPr>
          <p:cNvPr id="30" name="Text 28"/>
          <p:cNvSpPr/>
          <p:nvPr/>
        </p:nvSpPr>
        <p:spPr>
          <a:xfrm>
            <a:off x="6035040" y="1828800"/>
            <a:ext cx="1280160" cy="36576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5</a:t>
            </a:r>
            <a:endParaRPr lang="en-US" sz="1000" dirty="0"/>
          </a:p>
        </p:txBody>
      </p:sp>
      <p:sp>
        <p:nvSpPr>
          <p:cNvPr id="31" name="Shape 29"/>
          <p:cNvSpPr/>
          <p:nvPr/>
        </p:nvSpPr>
        <p:spPr>
          <a:xfrm>
            <a:off x="6035040" y="2240280"/>
            <a:ext cx="1280160" cy="822960"/>
          </a:xfrm>
          <a:prstGeom prst="rect">
            <a:avLst/>
          </a:prstGeom>
          <a:solidFill>
            <a:srgbClr val="EEF4FF"/>
          </a:solidFill>
          <a:ln w="12700">
            <a:solidFill>
              <a:srgbClr val="EEF4FF"/>
            </a:solidFill>
            <a:prstDash val="solid"/>
          </a:ln>
        </p:spPr>
      </p:sp>
      <p:sp>
        <p:nvSpPr>
          <p:cNvPr id="32" name="Text 30"/>
          <p:cNvSpPr/>
          <p:nvPr/>
        </p:nvSpPr>
        <p:spPr>
          <a:xfrm>
            <a:off x="6035040" y="2240280"/>
            <a:ext cx="1280160" cy="822960"/>
          </a:xfrm>
          <a:prstGeom prst="rect">
            <a:avLst/>
          </a:prstGeom>
          <a:noFill/>
          <a:ln/>
        </p:spPr>
        <p:txBody>
          <a:bodyPr wrap="square" rtlCol="0" anchor="ctr"/>
          <a:lstStyle/>
          <a:p>
            <a:pPr algn="ctr" indent="0" marL="0">
              <a:buNone/>
            </a:pPr>
            <a:r>
              <a:rPr lang="en-US" sz="1000" b="1" dirty="0">
                <a:solidFill>
                  <a:srgbClr val="0F172A"/>
                </a:solidFill>
                <a:latin typeface="Calibri" pitchFamily="34" charset="0"/>
                <a:ea typeface="Calibri" pitchFamily="34" charset="-122"/>
                <a:cs typeface="Calibri" pitchFamily="34" charset="-120"/>
              </a:rPr>
              <a:t>IoT Firmware</a:t>
            </a:r>
            <a:endParaRPr lang="en-US" sz="1000" dirty="0"/>
          </a:p>
        </p:txBody>
      </p:sp>
      <p:sp>
        <p:nvSpPr>
          <p:cNvPr id="33" name="Text 31"/>
          <p:cNvSpPr/>
          <p:nvPr/>
        </p:nvSpPr>
        <p:spPr>
          <a:xfrm>
            <a:off x="6035040" y="3108960"/>
            <a:ext cx="1280160" cy="320040"/>
          </a:xfrm>
          <a:prstGeom prst="rect">
            <a:avLst/>
          </a:prstGeom>
          <a:noFill/>
          <a:ln/>
        </p:spPr>
        <p:txBody>
          <a:bodyPr wrap="square" rtlCol="0" anchor="t"/>
          <a:lstStyle/>
          <a:p>
            <a:pPr algn="ctr" indent="0" marL="0">
              <a:buNone/>
            </a:pPr>
            <a:r>
              <a:rPr lang="en-US" sz="950" dirty="0">
                <a:solidFill>
                  <a:srgbClr val="64748B"/>
                </a:solidFill>
                <a:latin typeface="Calibri" pitchFamily="34" charset="0"/>
                <a:ea typeface="Calibri" pitchFamily="34" charset="-122"/>
                <a:cs typeface="Calibri" pitchFamily="34" charset="-120"/>
              </a:rPr>
              <a:t>Mar 1–15</a:t>
            </a:r>
            <a:endParaRPr lang="en-US" sz="950" dirty="0"/>
          </a:p>
        </p:txBody>
      </p:sp>
      <p:sp>
        <p:nvSpPr>
          <p:cNvPr id="34" name="Shape 32"/>
          <p:cNvSpPr/>
          <p:nvPr/>
        </p:nvSpPr>
        <p:spPr>
          <a:xfrm>
            <a:off x="7452360" y="1828800"/>
            <a:ext cx="1280160" cy="365760"/>
          </a:xfrm>
          <a:prstGeom prst="rect">
            <a:avLst/>
          </a:prstGeom>
          <a:solidFill>
            <a:srgbClr val="EA580C"/>
          </a:solidFill>
          <a:ln w="12700">
            <a:solidFill>
              <a:srgbClr val="EA580C"/>
            </a:solidFill>
            <a:prstDash val="solid"/>
          </a:ln>
        </p:spPr>
      </p:sp>
      <p:sp>
        <p:nvSpPr>
          <p:cNvPr id="35" name="Text 33"/>
          <p:cNvSpPr/>
          <p:nvPr/>
        </p:nvSpPr>
        <p:spPr>
          <a:xfrm>
            <a:off x="7452360" y="1828800"/>
            <a:ext cx="1280160" cy="36576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6</a:t>
            </a:r>
            <a:endParaRPr lang="en-US" sz="1000" dirty="0"/>
          </a:p>
        </p:txBody>
      </p:sp>
      <p:sp>
        <p:nvSpPr>
          <p:cNvPr id="36" name="Shape 34"/>
          <p:cNvSpPr/>
          <p:nvPr/>
        </p:nvSpPr>
        <p:spPr>
          <a:xfrm>
            <a:off x="7452360" y="2240280"/>
            <a:ext cx="1280160" cy="822960"/>
          </a:xfrm>
          <a:prstGeom prst="rect">
            <a:avLst/>
          </a:prstGeom>
          <a:solidFill>
            <a:srgbClr val="EEF4FF"/>
          </a:solidFill>
          <a:ln w="12700">
            <a:solidFill>
              <a:srgbClr val="EEF4FF"/>
            </a:solidFill>
            <a:prstDash val="solid"/>
          </a:ln>
        </p:spPr>
      </p:sp>
      <p:sp>
        <p:nvSpPr>
          <p:cNvPr id="37" name="Text 35"/>
          <p:cNvSpPr/>
          <p:nvPr/>
        </p:nvSpPr>
        <p:spPr>
          <a:xfrm>
            <a:off x="7452360" y="2240280"/>
            <a:ext cx="1280160" cy="822960"/>
          </a:xfrm>
          <a:prstGeom prst="rect">
            <a:avLst/>
          </a:prstGeom>
          <a:noFill/>
          <a:ln/>
        </p:spPr>
        <p:txBody>
          <a:bodyPr wrap="square" rtlCol="0" anchor="ctr"/>
          <a:lstStyle/>
          <a:p>
            <a:pPr algn="ctr" indent="0" marL="0">
              <a:buNone/>
            </a:pPr>
            <a:r>
              <a:rPr lang="en-US" sz="1000" b="1" dirty="0">
                <a:solidFill>
                  <a:srgbClr val="0F172A"/>
                </a:solidFill>
                <a:latin typeface="Calibri" pitchFamily="34" charset="0"/>
                <a:ea typeface="Calibri" pitchFamily="34" charset="-122"/>
                <a:cs typeface="Calibri" pitchFamily="34" charset="-120"/>
              </a:rPr>
              <a:t>Integration</a:t>
            </a:r>
            <a:endParaRPr lang="en-US" sz="1000" dirty="0"/>
          </a:p>
          <a:p>
            <a:pPr algn="ctr" indent="0" marL="0">
              <a:buNone/>
            </a:pPr>
            <a:r>
              <a:rPr lang="en-US" sz="1000" b="1" dirty="0">
                <a:solidFill>
                  <a:srgbClr val="0F172A"/>
                </a:solidFill>
                <a:latin typeface="Calibri" pitchFamily="34" charset="0"/>
                <a:ea typeface="Calibri" pitchFamily="34" charset="-122"/>
                <a:cs typeface="Calibri" pitchFamily="34" charset="-120"/>
              </a:rPr>
              <a:t>Testing</a:t>
            </a:r>
            <a:endParaRPr lang="en-US" sz="1000" dirty="0"/>
          </a:p>
        </p:txBody>
      </p:sp>
      <p:sp>
        <p:nvSpPr>
          <p:cNvPr id="38" name="Text 36"/>
          <p:cNvSpPr/>
          <p:nvPr/>
        </p:nvSpPr>
        <p:spPr>
          <a:xfrm>
            <a:off x="7452360" y="3108960"/>
            <a:ext cx="1280160" cy="320040"/>
          </a:xfrm>
          <a:prstGeom prst="rect">
            <a:avLst/>
          </a:prstGeom>
          <a:noFill/>
          <a:ln/>
        </p:spPr>
        <p:txBody>
          <a:bodyPr wrap="square" rtlCol="0" anchor="t"/>
          <a:lstStyle/>
          <a:p>
            <a:pPr algn="ctr" indent="0" marL="0">
              <a:buNone/>
            </a:pPr>
            <a:r>
              <a:rPr lang="en-US" sz="950" dirty="0">
                <a:solidFill>
                  <a:srgbClr val="64748B"/>
                </a:solidFill>
                <a:latin typeface="Calibri" pitchFamily="34" charset="0"/>
                <a:ea typeface="Calibri" pitchFamily="34" charset="-122"/>
                <a:cs typeface="Calibri" pitchFamily="34" charset="-120"/>
              </a:rPr>
              <a:t>Mar 16–30</a:t>
            </a:r>
            <a:endParaRPr lang="en-US" sz="950" dirty="0"/>
          </a:p>
        </p:txBody>
      </p:sp>
      <p:sp>
        <p:nvSpPr>
          <p:cNvPr id="39" name="Shape 37"/>
          <p:cNvSpPr/>
          <p:nvPr/>
        </p:nvSpPr>
        <p:spPr>
          <a:xfrm>
            <a:off x="8869680" y="1828800"/>
            <a:ext cx="1280160" cy="365760"/>
          </a:xfrm>
          <a:prstGeom prst="rect">
            <a:avLst/>
          </a:prstGeom>
          <a:solidFill>
            <a:srgbClr val="16A34A"/>
          </a:solidFill>
          <a:ln w="12700">
            <a:solidFill>
              <a:srgbClr val="16A34A"/>
            </a:solidFill>
            <a:prstDash val="solid"/>
          </a:ln>
        </p:spPr>
      </p:sp>
      <p:sp>
        <p:nvSpPr>
          <p:cNvPr id="40" name="Text 38"/>
          <p:cNvSpPr/>
          <p:nvPr/>
        </p:nvSpPr>
        <p:spPr>
          <a:xfrm>
            <a:off x="8869680" y="1828800"/>
            <a:ext cx="1280160" cy="36576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7</a:t>
            </a:r>
            <a:endParaRPr lang="en-US" sz="1000" dirty="0"/>
          </a:p>
        </p:txBody>
      </p:sp>
      <p:sp>
        <p:nvSpPr>
          <p:cNvPr id="41" name="Shape 39"/>
          <p:cNvSpPr/>
          <p:nvPr/>
        </p:nvSpPr>
        <p:spPr>
          <a:xfrm>
            <a:off x="8869680" y="2240280"/>
            <a:ext cx="1280160" cy="822960"/>
          </a:xfrm>
          <a:prstGeom prst="rect">
            <a:avLst/>
          </a:prstGeom>
          <a:solidFill>
            <a:srgbClr val="EEF4FF"/>
          </a:solidFill>
          <a:ln w="12700">
            <a:solidFill>
              <a:srgbClr val="EEF4FF"/>
            </a:solidFill>
            <a:prstDash val="solid"/>
          </a:ln>
        </p:spPr>
      </p:sp>
      <p:sp>
        <p:nvSpPr>
          <p:cNvPr id="42" name="Text 40"/>
          <p:cNvSpPr/>
          <p:nvPr/>
        </p:nvSpPr>
        <p:spPr>
          <a:xfrm>
            <a:off x="8869680" y="2240280"/>
            <a:ext cx="1280160" cy="822960"/>
          </a:xfrm>
          <a:prstGeom prst="rect">
            <a:avLst/>
          </a:prstGeom>
          <a:noFill/>
          <a:ln/>
        </p:spPr>
        <p:txBody>
          <a:bodyPr wrap="square" rtlCol="0" anchor="ctr"/>
          <a:lstStyle/>
          <a:p>
            <a:pPr algn="ctr" indent="0" marL="0">
              <a:buNone/>
            </a:pPr>
            <a:r>
              <a:rPr lang="en-US" sz="1000" b="1" dirty="0">
                <a:solidFill>
                  <a:srgbClr val="0F172A"/>
                </a:solidFill>
                <a:latin typeface="Calibri" pitchFamily="34" charset="0"/>
                <a:ea typeface="Calibri" pitchFamily="34" charset="-122"/>
                <a:cs typeface="Calibri" pitchFamily="34" charset="-120"/>
              </a:rPr>
              <a:t>Evaluation</a:t>
            </a:r>
            <a:endParaRPr lang="en-US" sz="1000" dirty="0"/>
          </a:p>
          <a:p>
            <a:pPr algn="ctr" indent="0" marL="0">
              <a:buNone/>
            </a:pPr>
            <a:r>
              <a:rPr lang="en-US" sz="1000" b="1" dirty="0">
                <a:solidFill>
                  <a:srgbClr val="0F172A"/>
                </a:solidFill>
                <a:latin typeface="Calibri" pitchFamily="34" charset="0"/>
                <a:ea typeface="Calibri" pitchFamily="34" charset="-122"/>
                <a:cs typeface="Calibri" pitchFamily="34" charset="-120"/>
              </a:rPr>
              <a:t>&amp; Survey</a:t>
            </a:r>
            <a:endParaRPr lang="en-US" sz="1000" dirty="0"/>
          </a:p>
        </p:txBody>
      </p:sp>
      <p:sp>
        <p:nvSpPr>
          <p:cNvPr id="43" name="Text 41"/>
          <p:cNvSpPr/>
          <p:nvPr/>
        </p:nvSpPr>
        <p:spPr>
          <a:xfrm>
            <a:off x="8869680" y="3108960"/>
            <a:ext cx="1280160" cy="320040"/>
          </a:xfrm>
          <a:prstGeom prst="rect">
            <a:avLst/>
          </a:prstGeom>
          <a:noFill/>
          <a:ln/>
        </p:spPr>
        <p:txBody>
          <a:bodyPr wrap="square" rtlCol="0" anchor="t"/>
          <a:lstStyle/>
          <a:p>
            <a:pPr algn="ctr" indent="0" marL="0">
              <a:buNone/>
            </a:pPr>
            <a:r>
              <a:rPr lang="en-US" sz="950" dirty="0">
                <a:solidFill>
                  <a:srgbClr val="64748B"/>
                </a:solidFill>
                <a:latin typeface="Calibri" pitchFamily="34" charset="0"/>
                <a:ea typeface="Calibri" pitchFamily="34" charset="-122"/>
                <a:cs typeface="Calibri" pitchFamily="34" charset="-120"/>
              </a:rPr>
              <a:t>Apr 1–15</a:t>
            </a:r>
            <a:endParaRPr lang="en-US" sz="950" dirty="0"/>
          </a:p>
        </p:txBody>
      </p:sp>
      <p:sp>
        <p:nvSpPr>
          <p:cNvPr id="44" name="Shape 42"/>
          <p:cNvSpPr/>
          <p:nvPr/>
        </p:nvSpPr>
        <p:spPr>
          <a:xfrm>
            <a:off x="10287000" y="1828800"/>
            <a:ext cx="1280160" cy="365760"/>
          </a:xfrm>
          <a:prstGeom prst="rect">
            <a:avLst/>
          </a:prstGeom>
          <a:solidFill>
            <a:srgbClr val="16A34A"/>
          </a:solidFill>
          <a:ln w="12700">
            <a:solidFill>
              <a:srgbClr val="16A34A"/>
            </a:solidFill>
            <a:prstDash val="solid"/>
          </a:ln>
        </p:spPr>
      </p:sp>
      <p:sp>
        <p:nvSpPr>
          <p:cNvPr id="45" name="Text 43"/>
          <p:cNvSpPr/>
          <p:nvPr/>
        </p:nvSpPr>
        <p:spPr>
          <a:xfrm>
            <a:off x="10287000" y="1828800"/>
            <a:ext cx="1280160" cy="36576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8</a:t>
            </a:r>
            <a:endParaRPr lang="en-US" sz="1000" dirty="0"/>
          </a:p>
        </p:txBody>
      </p:sp>
      <p:sp>
        <p:nvSpPr>
          <p:cNvPr id="46" name="Shape 44"/>
          <p:cNvSpPr/>
          <p:nvPr/>
        </p:nvSpPr>
        <p:spPr>
          <a:xfrm>
            <a:off x="10287000" y="2240280"/>
            <a:ext cx="1280160" cy="822960"/>
          </a:xfrm>
          <a:prstGeom prst="rect">
            <a:avLst/>
          </a:prstGeom>
          <a:solidFill>
            <a:srgbClr val="EEF4FF"/>
          </a:solidFill>
          <a:ln w="12700">
            <a:solidFill>
              <a:srgbClr val="EEF4FF"/>
            </a:solidFill>
            <a:prstDash val="solid"/>
          </a:ln>
        </p:spPr>
      </p:sp>
      <p:sp>
        <p:nvSpPr>
          <p:cNvPr id="47" name="Text 45"/>
          <p:cNvSpPr/>
          <p:nvPr/>
        </p:nvSpPr>
        <p:spPr>
          <a:xfrm>
            <a:off x="10287000" y="2240280"/>
            <a:ext cx="1280160" cy="822960"/>
          </a:xfrm>
          <a:prstGeom prst="rect">
            <a:avLst/>
          </a:prstGeom>
          <a:noFill/>
          <a:ln/>
        </p:spPr>
        <p:txBody>
          <a:bodyPr wrap="square" rtlCol="0" anchor="ctr"/>
          <a:lstStyle/>
          <a:p>
            <a:pPr algn="ctr" indent="0" marL="0">
              <a:buNone/>
            </a:pPr>
            <a:r>
              <a:rPr lang="en-US" sz="1000" b="1" dirty="0">
                <a:solidFill>
                  <a:srgbClr val="0F172A"/>
                </a:solidFill>
                <a:latin typeface="Calibri" pitchFamily="34" charset="0"/>
                <a:ea typeface="Calibri" pitchFamily="34" charset="-122"/>
                <a:cs typeface="Calibri" pitchFamily="34" charset="-120"/>
              </a:rPr>
              <a:t>Documentation</a:t>
            </a:r>
            <a:endParaRPr lang="en-US" sz="1000" dirty="0"/>
          </a:p>
        </p:txBody>
      </p:sp>
      <p:sp>
        <p:nvSpPr>
          <p:cNvPr id="48" name="Text 46"/>
          <p:cNvSpPr/>
          <p:nvPr/>
        </p:nvSpPr>
        <p:spPr>
          <a:xfrm>
            <a:off x="10287000" y="3108960"/>
            <a:ext cx="1280160" cy="320040"/>
          </a:xfrm>
          <a:prstGeom prst="rect">
            <a:avLst/>
          </a:prstGeom>
          <a:noFill/>
          <a:ln/>
        </p:spPr>
        <p:txBody>
          <a:bodyPr wrap="square" rtlCol="0" anchor="t"/>
          <a:lstStyle/>
          <a:p>
            <a:pPr algn="ctr" indent="0" marL="0">
              <a:buNone/>
            </a:pPr>
            <a:r>
              <a:rPr lang="en-US" sz="950" dirty="0">
                <a:solidFill>
                  <a:srgbClr val="64748B"/>
                </a:solidFill>
                <a:latin typeface="Calibri" pitchFamily="34" charset="0"/>
                <a:ea typeface="Calibri" pitchFamily="34" charset="-122"/>
                <a:cs typeface="Calibri" pitchFamily="34" charset="-120"/>
              </a:rPr>
              <a:t>Apr 16–30</a:t>
            </a:r>
            <a:endParaRPr lang="en-US" sz="950" dirty="0"/>
          </a:p>
        </p:txBody>
      </p:sp>
      <p:sp>
        <p:nvSpPr>
          <p:cNvPr id="49" name="Shape 47"/>
          <p:cNvSpPr/>
          <p:nvPr/>
        </p:nvSpPr>
        <p:spPr>
          <a:xfrm>
            <a:off x="457200" y="3657600"/>
            <a:ext cx="11274552" cy="0"/>
          </a:xfrm>
          <a:prstGeom prst="line">
            <a:avLst/>
          </a:prstGeom>
          <a:noFill/>
          <a:ln w="19050">
            <a:solidFill>
              <a:srgbClr val="38BDF8"/>
            </a:solidFill>
            <a:prstDash val="solid"/>
          </a:ln>
        </p:spPr>
      </p:sp>
      <p:sp>
        <p:nvSpPr>
          <p:cNvPr id="50" name="Text 48"/>
          <p:cNvSpPr/>
          <p:nvPr/>
        </p:nvSpPr>
        <p:spPr>
          <a:xfrm>
            <a:off x="457200" y="3749040"/>
            <a:ext cx="11274552" cy="365760"/>
          </a:xfrm>
          <a:prstGeom prst="rect">
            <a:avLst/>
          </a:prstGeom>
          <a:noFill/>
          <a:ln/>
        </p:spPr>
        <p:txBody>
          <a:bodyPr wrap="square"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Evaluation Framework — ISO/IEC 25010</a:t>
            </a:r>
            <a:endParaRPr lang="en-US" sz="1600" dirty="0"/>
          </a:p>
        </p:txBody>
      </p:sp>
      <p:sp>
        <p:nvSpPr>
          <p:cNvPr id="51" name="Shape 49"/>
          <p:cNvSpPr/>
          <p:nvPr/>
        </p:nvSpPr>
        <p:spPr>
          <a:xfrm>
            <a:off x="365760" y="4251960"/>
            <a:ext cx="2011680" cy="384048"/>
          </a:xfrm>
          <a:prstGeom prst="rect">
            <a:avLst/>
          </a:prstGeom>
          <a:solidFill>
            <a:srgbClr val="2563EB"/>
          </a:solidFill>
          <a:ln w="12700">
            <a:solidFill>
              <a:srgbClr val="2563EB"/>
            </a:solidFill>
            <a:prstDash val="solid"/>
          </a:ln>
        </p:spPr>
      </p:sp>
      <p:sp>
        <p:nvSpPr>
          <p:cNvPr id="52" name="Text 50"/>
          <p:cNvSpPr/>
          <p:nvPr/>
        </p:nvSpPr>
        <p:spPr>
          <a:xfrm>
            <a:off x="365760" y="4251960"/>
            <a:ext cx="201168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Functional Suitability</a:t>
            </a:r>
            <a:endParaRPr lang="en-US" sz="1100" dirty="0"/>
          </a:p>
        </p:txBody>
      </p:sp>
      <p:sp>
        <p:nvSpPr>
          <p:cNvPr id="53" name="Shape 51"/>
          <p:cNvSpPr/>
          <p:nvPr/>
        </p:nvSpPr>
        <p:spPr>
          <a:xfrm>
            <a:off x="3200400" y="4251960"/>
            <a:ext cx="2011680" cy="384048"/>
          </a:xfrm>
          <a:prstGeom prst="rect">
            <a:avLst/>
          </a:prstGeom>
          <a:solidFill>
            <a:srgbClr val="2563EB"/>
          </a:solidFill>
          <a:ln w="12700">
            <a:solidFill>
              <a:srgbClr val="2563EB"/>
            </a:solidFill>
            <a:prstDash val="solid"/>
          </a:ln>
        </p:spPr>
      </p:sp>
      <p:sp>
        <p:nvSpPr>
          <p:cNvPr id="54" name="Text 52"/>
          <p:cNvSpPr/>
          <p:nvPr/>
        </p:nvSpPr>
        <p:spPr>
          <a:xfrm>
            <a:off x="3200400" y="4251960"/>
            <a:ext cx="201168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Performance Efficiency</a:t>
            </a:r>
            <a:endParaRPr lang="en-US" sz="1100" dirty="0"/>
          </a:p>
        </p:txBody>
      </p:sp>
      <p:sp>
        <p:nvSpPr>
          <p:cNvPr id="55" name="Shape 53"/>
          <p:cNvSpPr/>
          <p:nvPr/>
        </p:nvSpPr>
        <p:spPr>
          <a:xfrm>
            <a:off x="6035040" y="4251960"/>
            <a:ext cx="2011680" cy="384048"/>
          </a:xfrm>
          <a:prstGeom prst="rect">
            <a:avLst/>
          </a:prstGeom>
          <a:solidFill>
            <a:srgbClr val="1B2A4A"/>
          </a:solidFill>
          <a:ln w="12700">
            <a:solidFill>
              <a:srgbClr val="1B2A4A"/>
            </a:solidFill>
            <a:prstDash val="solid"/>
          </a:ln>
        </p:spPr>
      </p:sp>
      <p:sp>
        <p:nvSpPr>
          <p:cNvPr id="56" name="Text 54"/>
          <p:cNvSpPr/>
          <p:nvPr/>
        </p:nvSpPr>
        <p:spPr>
          <a:xfrm>
            <a:off x="6035040" y="4251960"/>
            <a:ext cx="201168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Compatibility</a:t>
            </a:r>
            <a:endParaRPr lang="en-US" sz="1100" dirty="0"/>
          </a:p>
        </p:txBody>
      </p:sp>
      <p:sp>
        <p:nvSpPr>
          <p:cNvPr id="57" name="Shape 55"/>
          <p:cNvSpPr/>
          <p:nvPr/>
        </p:nvSpPr>
        <p:spPr>
          <a:xfrm>
            <a:off x="8869680" y="4251960"/>
            <a:ext cx="2011680" cy="384048"/>
          </a:xfrm>
          <a:prstGeom prst="rect">
            <a:avLst/>
          </a:prstGeom>
          <a:solidFill>
            <a:srgbClr val="1B2A4A"/>
          </a:solidFill>
          <a:ln w="12700">
            <a:solidFill>
              <a:srgbClr val="1B2A4A"/>
            </a:solidFill>
            <a:prstDash val="solid"/>
          </a:ln>
        </p:spPr>
      </p:sp>
      <p:sp>
        <p:nvSpPr>
          <p:cNvPr id="58" name="Text 56"/>
          <p:cNvSpPr/>
          <p:nvPr/>
        </p:nvSpPr>
        <p:spPr>
          <a:xfrm>
            <a:off x="8869680" y="4251960"/>
            <a:ext cx="201168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Usability</a:t>
            </a:r>
            <a:endParaRPr lang="en-US" sz="1100" dirty="0"/>
          </a:p>
        </p:txBody>
      </p:sp>
      <p:sp>
        <p:nvSpPr>
          <p:cNvPr id="59" name="Shape 57"/>
          <p:cNvSpPr/>
          <p:nvPr/>
        </p:nvSpPr>
        <p:spPr>
          <a:xfrm>
            <a:off x="365760" y="4800600"/>
            <a:ext cx="2011680" cy="384048"/>
          </a:xfrm>
          <a:prstGeom prst="rect">
            <a:avLst/>
          </a:prstGeom>
          <a:solidFill>
            <a:srgbClr val="EA580C"/>
          </a:solidFill>
          <a:ln w="12700">
            <a:solidFill>
              <a:srgbClr val="EA580C"/>
            </a:solidFill>
            <a:prstDash val="solid"/>
          </a:ln>
        </p:spPr>
      </p:sp>
      <p:sp>
        <p:nvSpPr>
          <p:cNvPr id="60" name="Text 58"/>
          <p:cNvSpPr/>
          <p:nvPr/>
        </p:nvSpPr>
        <p:spPr>
          <a:xfrm>
            <a:off x="365760" y="4800600"/>
            <a:ext cx="201168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Reliability</a:t>
            </a:r>
            <a:endParaRPr lang="en-US" sz="1100" dirty="0"/>
          </a:p>
        </p:txBody>
      </p:sp>
      <p:sp>
        <p:nvSpPr>
          <p:cNvPr id="61" name="Shape 59"/>
          <p:cNvSpPr/>
          <p:nvPr/>
        </p:nvSpPr>
        <p:spPr>
          <a:xfrm>
            <a:off x="3200400" y="4800600"/>
            <a:ext cx="2011680" cy="384048"/>
          </a:xfrm>
          <a:prstGeom prst="rect">
            <a:avLst/>
          </a:prstGeom>
          <a:solidFill>
            <a:srgbClr val="EA580C"/>
          </a:solidFill>
          <a:ln w="12700">
            <a:solidFill>
              <a:srgbClr val="EA580C"/>
            </a:solidFill>
            <a:prstDash val="solid"/>
          </a:ln>
        </p:spPr>
      </p:sp>
      <p:sp>
        <p:nvSpPr>
          <p:cNvPr id="62" name="Text 60"/>
          <p:cNvSpPr/>
          <p:nvPr/>
        </p:nvSpPr>
        <p:spPr>
          <a:xfrm>
            <a:off x="3200400" y="4800600"/>
            <a:ext cx="201168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Security</a:t>
            </a:r>
            <a:endParaRPr lang="en-US" sz="1100" dirty="0"/>
          </a:p>
        </p:txBody>
      </p:sp>
      <p:sp>
        <p:nvSpPr>
          <p:cNvPr id="63" name="Shape 61"/>
          <p:cNvSpPr/>
          <p:nvPr/>
        </p:nvSpPr>
        <p:spPr>
          <a:xfrm>
            <a:off x="6035040" y="4800600"/>
            <a:ext cx="2011680" cy="384048"/>
          </a:xfrm>
          <a:prstGeom prst="rect">
            <a:avLst/>
          </a:prstGeom>
          <a:solidFill>
            <a:srgbClr val="16A34A"/>
          </a:solidFill>
          <a:ln w="12700">
            <a:solidFill>
              <a:srgbClr val="16A34A"/>
            </a:solidFill>
            <a:prstDash val="solid"/>
          </a:ln>
        </p:spPr>
      </p:sp>
      <p:sp>
        <p:nvSpPr>
          <p:cNvPr id="64" name="Text 62"/>
          <p:cNvSpPr/>
          <p:nvPr/>
        </p:nvSpPr>
        <p:spPr>
          <a:xfrm>
            <a:off x="6035040" y="4800600"/>
            <a:ext cx="201168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Maintainability</a:t>
            </a:r>
            <a:endParaRPr lang="en-US" sz="1100" dirty="0"/>
          </a:p>
        </p:txBody>
      </p:sp>
      <p:sp>
        <p:nvSpPr>
          <p:cNvPr id="65" name="Shape 63"/>
          <p:cNvSpPr/>
          <p:nvPr/>
        </p:nvSpPr>
        <p:spPr>
          <a:xfrm>
            <a:off x="8869680" y="4800600"/>
            <a:ext cx="2011680" cy="384048"/>
          </a:xfrm>
          <a:prstGeom prst="rect">
            <a:avLst/>
          </a:prstGeom>
          <a:solidFill>
            <a:srgbClr val="16A34A"/>
          </a:solidFill>
          <a:ln w="12700">
            <a:solidFill>
              <a:srgbClr val="16A34A"/>
            </a:solidFill>
            <a:prstDash val="solid"/>
          </a:ln>
        </p:spPr>
      </p:sp>
      <p:sp>
        <p:nvSpPr>
          <p:cNvPr id="66" name="Text 64"/>
          <p:cNvSpPr/>
          <p:nvPr/>
        </p:nvSpPr>
        <p:spPr>
          <a:xfrm>
            <a:off x="8869680" y="4800600"/>
            <a:ext cx="201168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Portability</a:t>
            </a:r>
            <a:endParaRPr lang="en-US" sz="1100" dirty="0"/>
          </a:p>
        </p:txBody>
      </p:sp>
      <p:sp>
        <p:nvSpPr>
          <p:cNvPr id="67" name="Text 65"/>
          <p:cNvSpPr/>
          <p:nvPr/>
        </p:nvSpPr>
        <p:spPr>
          <a:xfrm>
            <a:off x="457200" y="5440680"/>
            <a:ext cx="11274552" cy="365760"/>
          </a:xfrm>
          <a:prstGeom prst="rect">
            <a:avLst/>
          </a:prstGeom>
          <a:noFill/>
          <a:ln/>
        </p:spPr>
        <p:txBody>
          <a:bodyPr wrap="square" rtlCol="0" anchor="ctr"/>
          <a:lstStyle/>
          <a:p>
            <a:pPr indent="0" marL="0">
              <a:buNone/>
            </a:pPr>
            <a:r>
              <a:rPr lang="en-US" sz="1600" b="1" dirty="0">
                <a:solidFill>
                  <a:srgbClr val="2563EB"/>
                </a:solidFill>
                <a:latin typeface="Calibri" pitchFamily="34" charset="0"/>
                <a:ea typeface="Calibri" pitchFamily="34" charset="-122"/>
                <a:cs typeface="Calibri" pitchFamily="34" charset="-120"/>
              </a:rPr>
              <a:t>Respondents</a:t>
            </a:r>
            <a:endParaRPr lang="en-US" sz="1600" dirty="0"/>
          </a:p>
        </p:txBody>
      </p:sp>
      <p:sp>
        <p:nvSpPr>
          <p:cNvPr id="68" name="Text 66"/>
          <p:cNvSpPr/>
          <p:nvPr/>
        </p:nvSpPr>
        <p:spPr>
          <a:xfrm>
            <a:off x="457200" y="5806440"/>
            <a:ext cx="11274552" cy="36576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Active drivers  ·  Age: 22–35 years old  ·  Purposive sampling  ·  Evaluated using the driving simulator prototype</a:t>
            </a:r>
            <a:endParaRPr lang="en-US" sz="1300" dirty="0"/>
          </a:p>
        </p:txBody>
      </p:sp>
      <p:sp>
        <p:nvSpPr>
          <p:cNvPr id="69" name="Text 67"/>
          <p:cNvSpPr/>
          <p:nvPr/>
        </p:nvSpPr>
        <p:spPr>
          <a:xfrm>
            <a:off x="457200" y="6217920"/>
            <a:ext cx="11274552" cy="365760"/>
          </a:xfrm>
          <a:prstGeom prst="rect">
            <a:avLst/>
          </a:prstGeom>
          <a:noFill/>
          <a:ln/>
        </p:spPr>
        <p:txBody>
          <a:bodyPr wrap="square" rtlCol="0" anchor="t"/>
          <a:lstStyle/>
          <a:p>
            <a:pPr algn="l" indent="0" marL="0">
              <a:buNone/>
            </a:pPr>
            <a:r>
              <a:rPr lang="en-US" sz="1200" dirty="0">
                <a:solidFill>
                  <a:srgbClr val="64748B"/>
                </a:solidFill>
                <a:latin typeface="Calibri" pitchFamily="34" charset="0"/>
                <a:ea typeface="Calibri" pitchFamily="34" charset="-122"/>
                <a:cs typeface="Calibri" pitchFamily="34" charset="-120"/>
              </a:rPr>
              <a:t>Method: 5-point Likert Scale → Weighted Mean → Interpretation (Poor / Fair / Good / Very Good / Excellent)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FFFFF"/>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Text 3"/>
          <p:cNvSpPr/>
          <p:nvPr/>
        </p:nvSpPr>
        <p:spPr>
          <a:xfrm>
            <a:off x="457200" y="274320"/>
            <a:ext cx="11274552" cy="548640"/>
          </a:xfrm>
          <a:prstGeom prst="rect">
            <a:avLst/>
          </a:prstGeom>
          <a:noFill/>
          <a:ln/>
        </p:spPr>
        <p:txBody>
          <a:bodyPr wrap="square" rtlCol="0" anchor="ctr"/>
          <a:lstStyle/>
          <a:p>
            <a:pPr indent="0" marL="0">
              <a:buNone/>
            </a:pPr>
            <a:r>
              <a:rPr lang="en-US" sz="2800" b="1" dirty="0">
                <a:solidFill>
                  <a:srgbClr val="1B2A4A"/>
                </a:solidFill>
                <a:latin typeface="Calibri" pitchFamily="34" charset="0"/>
                <a:ea typeface="Calibri" pitchFamily="34" charset="-122"/>
                <a:cs typeface="Calibri" pitchFamily="34" charset="-120"/>
              </a:rPr>
              <a:t>Driving Simulator Prototype</a:t>
            </a:r>
            <a:endParaRPr lang="en-US" sz="2800" dirty="0"/>
          </a:p>
        </p:txBody>
      </p:sp>
      <p:sp>
        <p:nvSpPr>
          <p:cNvPr id="6" name="Shape 4"/>
          <p:cNvSpPr/>
          <p:nvPr/>
        </p:nvSpPr>
        <p:spPr>
          <a:xfrm>
            <a:off x="457200" y="960120"/>
            <a:ext cx="11274552" cy="0"/>
          </a:xfrm>
          <a:prstGeom prst="line">
            <a:avLst/>
          </a:prstGeom>
          <a:noFill/>
          <a:ln w="19050">
            <a:solidFill>
              <a:srgbClr val="38BDF8"/>
            </a:solidFill>
            <a:prstDash val="solid"/>
          </a:ln>
        </p:spPr>
      </p:sp>
      <p:sp>
        <p:nvSpPr>
          <p:cNvPr id="7" name="Text 5"/>
          <p:cNvSpPr/>
          <p:nvPr/>
        </p:nvSpPr>
        <p:spPr>
          <a:xfrm>
            <a:off x="457200" y="1051560"/>
            <a:ext cx="11274552" cy="50292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To provide a realistic, controlled evaluation environment without requiring road access, the research team constructed a physical driving simulator:</a:t>
            </a:r>
            <a:endParaRPr lang="en-US" sz="1300" dirty="0"/>
          </a:p>
        </p:txBody>
      </p:sp>
      <p:sp>
        <p:nvSpPr>
          <p:cNvPr id="8" name="Shape 6"/>
          <p:cNvSpPr/>
          <p:nvPr/>
        </p:nvSpPr>
        <p:spPr>
          <a:xfrm>
            <a:off x="365760" y="1645920"/>
            <a:ext cx="2286000" cy="658368"/>
          </a:xfrm>
          <a:prstGeom prst="rect">
            <a:avLst/>
          </a:prstGeom>
          <a:solidFill>
            <a:srgbClr val="1B2A4A"/>
          </a:solidFill>
          <a:ln w="12700">
            <a:solidFill>
              <a:srgbClr val="1B2A4A"/>
            </a:solidFill>
            <a:prstDash val="solid"/>
          </a:ln>
        </p:spPr>
      </p:sp>
      <p:sp>
        <p:nvSpPr>
          <p:cNvPr id="9" name="Text 7"/>
          <p:cNvSpPr/>
          <p:nvPr/>
        </p:nvSpPr>
        <p:spPr>
          <a:xfrm>
            <a:off x="365760" y="1645920"/>
            <a:ext cx="2286000" cy="65836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Car Seat</a:t>
            </a:r>
            <a:endParaRPr lang="en-US" sz="1300" dirty="0"/>
          </a:p>
        </p:txBody>
      </p:sp>
      <p:sp>
        <p:nvSpPr>
          <p:cNvPr id="10" name="Text 8"/>
          <p:cNvSpPr/>
          <p:nvPr/>
        </p:nvSpPr>
        <p:spPr>
          <a:xfrm>
            <a:off x="2834640" y="1737360"/>
            <a:ext cx="8961120" cy="50292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Genuine automobile bucket seat on rigid wooden frame — authentic driving posture and camera distance</a:t>
            </a:r>
            <a:endParaRPr lang="en-US" sz="1300" dirty="0"/>
          </a:p>
        </p:txBody>
      </p:sp>
      <p:sp>
        <p:nvSpPr>
          <p:cNvPr id="11" name="Shape 9"/>
          <p:cNvSpPr/>
          <p:nvPr/>
        </p:nvSpPr>
        <p:spPr>
          <a:xfrm>
            <a:off x="365760" y="2542032"/>
            <a:ext cx="2286000" cy="658368"/>
          </a:xfrm>
          <a:prstGeom prst="rect">
            <a:avLst/>
          </a:prstGeom>
          <a:solidFill>
            <a:srgbClr val="1B2A4A"/>
          </a:solidFill>
          <a:ln w="12700">
            <a:solidFill>
              <a:srgbClr val="1B2A4A"/>
            </a:solidFill>
            <a:prstDash val="solid"/>
          </a:ln>
        </p:spPr>
      </p:sp>
      <p:sp>
        <p:nvSpPr>
          <p:cNvPr id="12" name="Text 10"/>
          <p:cNvSpPr/>
          <p:nvPr/>
        </p:nvSpPr>
        <p:spPr>
          <a:xfrm>
            <a:off x="365760" y="2542032"/>
            <a:ext cx="2286000" cy="65836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Steering Wheel</a:t>
            </a:r>
            <a:endParaRPr lang="en-US" sz="1300" dirty="0"/>
          </a:p>
        </p:txBody>
      </p:sp>
      <p:sp>
        <p:nvSpPr>
          <p:cNvPr id="13" name="Text 11"/>
          <p:cNvSpPr/>
          <p:nvPr/>
        </p:nvSpPr>
        <p:spPr>
          <a:xfrm>
            <a:off x="2834640" y="2633472"/>
            <a:ext cx="8961120" cy="50292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Logitech gaming steering wheel with force feedback at ergonomic height</a:t>
            </a:r>
            <a:endParaRPr lang="en-US" sz="1300" dirty="0"/>
          </a:p>
        </p:txBody>
      </p:sp>
      <p:sp>
        <p:nvSpPr>
          <p:cNvPr id="14" name="Shape 12"/>
          <p:cNvSpPr/>
          <p:nvPr/>
        </p:nvSpPr>
        <p:spPr>
          <a:xfrm>
            <a:off x="365760" y="3438144"/>
            <a:ext cx="2286000" cy="658368"/>
          </a:xfrm>
          <a:prstGeom prst="rect">
            <a:avLst/>
          </a:prstGeom>
          <a:solidFill>
            <a:srgbClr val="1B2A4A"/>
          </a:solidFill>
          <a:ln w="12700">
            <a:solidFill>
              <a:srgbClr val="1B2A4A"/>
            </a:solidFill>
            <a:prstDash val="solid"/>
          </a:ln>
        </p:spPr>
      </p:sp>
      <p:sp>
        <p:nvSpPr>
          <p:cNvPr id="15" name="Text 13"/>
          <p:cNvSpPr/>
          <p:nvPr/>
        </p:nvSpPr>
        <p:spPr>
          <a:xfrm>
            <a:off x="365760" y="3438144"/>
            <a:ext cx="2286000" cy="65836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Pedals</a:t>
            </a:r>
            <a:endParaRPr lang="en-US" sz="1300" dirty="0"/>
          </a:p>
        </p:txBody>
      </p:sp>
      <p:sp>
        <p:nvSpPr>
          <p:cNvPr id="16" name="Text 14"/>
          <p:cNvSpPr/>
          <p:nvPr/>
        </p:nvSpPr>
        <p:spPr>
          <a:xfrm>
            <a:off x="2834640" y="3529584"/>
            <a:ext cx="8961120" cy="50292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Brake and accelerator pedals at floor level — natural foot position for test participants</a:t>
            </a:r>
            <a:endParaRPr lang="en-US" sz="1300" dirty="0"/>
          </a:p>
        </p:txBody>
      </p:sp>
      <p:sp>
        <p:nvSpPr>
          <p:cNvPr id="17" name="Shape 15"/>
          <p:cNvSpPr/>
          <p:nvPr/>
        </p:nvSpPr>
        <p:spPr>
          <a:xfrm>
            <a:off x="365760" y="4334256"/>
            <a:ext cx="2286000" cy="658368"/>
          </a:xfrm>
          <a:prstGeom prst="rect">
            <a:avLst/>
          </a:prstGeom>
          <a:solidFill>
            <a:srgbClr val="1B2A4A"/>
          </a:solidFill>
          <a:ln w="12700">
            <a:solidFill>
              <a:srgbClr val="1B2A4A"/>
            </a:solidFill>
            <a:prstDash val="solid"/>
          </a:ln>
        </p:spPr>
      </p:sp>
      <p:sp>
        <p:nvSpPr>
          <p:cNvPr id="18" name="Text 16"/>
          <p:cNvSpPr/>
          <p:nvPr/>
        </p:nvSpPr>
        <p:spPr>
          <a:xfrm>
            <a:off x="365760" y="4334256"/>
            <a:ext cx="2286000" cy="65836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Smartphone Mount</a:t>
            </a:r>
            <a:endParaRPr lang="en-US" sz="1300" dirty="0"/>
          </a:p>
        </p:txBody>
      </p:sp>
      <p:sp>
        <p:nvSpPr>
          <p:cNvPr id="19" name="Text 17"/>
          <p:cNvSpPr/>
          <p:nvPr/>
        </p:nvSpPr>
        <p:spPr>
          <a:xfrm>
            <a:off x="2834640" y="4425696"/>
            <a:ext cx="8961120" cy="50292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Front-facing dash cradle at 60–80 cm — camera captures full face within MediaPipe range</a:t>
            </a:r>
            <a:endParaRPr lang="en-US" sz="1300" dirty="0"/>
          </a:p>
        </p:txBody>
      </p:sp>
      <p:sp>
        <p:nvSpPr>
          <p:cNvPr id="20" name="Shape 18"/>
          <p:cNvSpPr/>
          <p:nvPr/>
        </p:nvSpPr>
        <p:spPr>
          <a:xfrm>
            <a:off x="365760" y="5230368"/>
            <a:ext cx="2286000" cy="658368"/>
          </a:xfrm>
          <a:prstGeom prst="rect">
            <a:avLst/>
          </a:prstGeom>
          <a:solidFill>
            <a:srgbClr val="1B2A4A"/>
          </a:solidFill>
          <a:ln w="12700">
            <a:solidFill>
              <a:srgbClr val="1B2A4A"/>
            </a:solidFill>
            <a:prstDash val="solid"/>
          </a:ln>
        </p:spPr>
      </p:sp>
      <p:sp>
        <p:nvSpPr>
          <p:cNvPr id="21" name="Text 19"/>
          <p:cNvSpPr/>
          <p:nvPr/>
        </p:nvSpPr>
        <p:spPr>
          <a:xfrm>
            <a:off x="365760" y="5230368"/>
            <a:ext cx="2286000" cy="65836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Frame</a:t>
            </a:r>
            <a:endParaRPr lang="en-US" sz="1300" dirty="0"/>
          </a:p>
        </p:txBody>
      </p:sp>
      <p:sp>
        <p:nvSpPr>
          <p:cNvPr id="22" name="Text 20"/>
          <p:cNvSpPr/>
          <p:nvPr/>
        </p:nvSpPr>
        <p:spPr>
          <a:xfrm>
            <a:off x="2834640" y="5321808"/>
            <a:ext cx="8961120" cy="502920"/>
          </a:xfrm>
          <a:prstGeom prst="rect">
            <a:avLst/>
          </a:prstGeom>
          <a:noFill/>
          <a:ln/>
        </p:spPr>
        <p:txBody>
          <a:bodyPr wrap="square"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Dimensional lumber (2×4, 2×6) — structural rigidity and adjustability</a:t>
            </a:r>
            <a:endParaRPr lang="en-US" sz="1300" dirty="0"/>
          </a:p>
        </p:txBody>
      </p:sp>
      <p:sp>
        <p:nvSpPr>
          <p:cNvPr id="23" name="Shape 21"/>
          <p:cNvSpPr/>
          <p:nvPr/>
        </p:nvSpPr>
        <p:spPr>
          <a:xfrm>
            <a:off x="365760" y="6172200"/>
            <a:ext cx="11274552" cy="502920"/>
          </a:xfrm>
          <a:prstGeom prst="rect">
            <a:avLst/>
          </a:prstGeom>
          <a:solidFill>
            <a:srgbClr val="F0F6FF"/>
          </a:solidFill>
          <a:ln w="12700">
            <a:solidFill>
              <a:srgbClr val="F0F6FF"/>
            </a:solidFill>
            <a:prstDash val="solid"/>
          </a:ln>
        </p:spPr>
      </p:sp>
      <p:sp>
        <p:nvSpPr>
          <p:cNvPr id="24" name="Text 22"/>
          <p:cNvSpPr/>
          <p:nvPr/>
        </p:nvSpPr>
        <p:spPr>
          <a:xfrm>
            <a:off x="365760" y="6172200"/>
            <a:ext cx="11274552" cy="502920"/>
          </a:xfrm>
          <a:prstGeom prst="rect">
            <a:avLst/>
          </a:prstGeom>
          <a:noFill/>
          <a:ln/>
        </p:spPr>
        <p:txBody>
          <a:bodyPr wrap="square" rtlCol="0" anchor="ctr"/>
          <a:lstStyle/>
          <a:p>
            <a:pPr algn="ctr" indent="0" marL="0">
              <a:buNone/>
            </a:pPr>
            <a:r>
              <a:rPr lang="en-US" sz="1300" b="1" dirty="0">
                <a:solidFill>
                  <a:srgbClr val="1B2A4A"/>
                </a:solidFill>
                <a:latin typeface="Calibri" pitchFamily="34" charset="0"/>
                <a:ea typeface="Calibri" pitchFamily="34" charset="-122"/>
                <a:cs typeface="Calibri" pitchFamily="34" charset="-120"/>
              </a:rPr>
              <a:t>All respondents interacted with the system through this simulator before completing the ISO/IEC 25010 evaluation questionnaire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FFFFF"/>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Text 3"/>
          <p:cNvSpPr/>
          <p:nvPr/>
        </p:nvSpPr>
        <p:spPr>
          <a:xfrm>
            <a:off x="457200" y="274320"/>
            <a:ext cx="11274552" cy="548640"/>
          </a:xfrm>
          <a:prstGeom prst="rect">
            <a:avLst/>
          </a:prstGeom>
          <a:noFill/>
          <a:ln/>
        </p:spPr>
        <p:txBody>
          <a:bodyPr wrap="square" rtlCol="0" anchor="ctr"/>
          <a:lstStyle/>
          <a:p>
            <a:pPr indent="0" marL="0">
              <a:buNone/>
            </a:pPr>
            <a:r>
              <a:rPr lang="en-US" sz="2800" b="1" dirty="0">
                <a:solidFill>
                  <a:srgbClr val="1B2A4A"/>
                </a:solidFill>
                <a:latin typeface="Calibri" pitchFamily="34" charset="0"/>
                <a:ea typeface="Calibri" pitchFamily="34" charset="-122"/>
                <a:cs typeface="Calibri" pitchFamily="34" charset="-120"/>
              </a:rPr>
              <a:t>Results &amp; Discussion — ISO/IEC 25010</a:t>
            </a:r>
            <a:endParaRPr lang="en-US" sz="2800" dirty="0"/>
          </a:p>
        </p:txBody>
      </p:sp>
      <p:sp>
        <p:nvSpPr>
          <p:cNvPr id="6" name="Shape 4"/>
          <p:cNvSpPr/>
          <p:nvPr/>
        </p:nvSpPr>
        <p:spPr>
          <a:xfrm>
            <a:off x="457200" y="960120"/>
            <a:ext cx="11274552" cy="0"/>
          </a:xfrm>
          <a:prstGeom prst="line">
            <a:avLst/>
          </a:prstGeom>
          <a:noFill/>
          <a:ln w="19050">
            <a:solidFill>
              <a:srgbClr val="38BDF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11274552" cy="5120640"/>
        </p:xfrm>
        <a:graphic>
          <a:graphicData uri="http://schemas.openxmlformats.org/drawingml/2006/table">
            <a:tbl>
              <a:tblPr/>
              <a:tblGrid>
                <a:gridCol w="3758184"/>
                <a:gridCol w="3758184"/>
                <a:gridCol w="3758184"/>
              </a:tblGrid>
              <a:tr h="51206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Quality Characteristic</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B2A4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Weighted Mean</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B2A4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Interpretation</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B2A4A"/>
                    </a:solidFill>
                  </a:tcPr>
                </a:tc>
              </a:tr>
              <a:tr h="512064">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Functional Suitability</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c>
                  <a:txBody>
                    <a:bodyPr/>
                    <a:lstStyle/>
                    <a:p>
                      <a:pPr algn="ctr" indent="0" marL="0">
                        <a:buNone/>
                      </a:pPr>
                      <a:r>
                        <a:rPr lang="en-US" sz="1200" b="1" dirty="0">
                          <a:solidFill>
                            <a:srgbClr val="1B2A4A"/>
                          </a:solidFill>
                          <a:latin typeface="Calibri" pitchFamily="34" charset="0"/>
                          <a:ea typeface="Calibri" pitchFamily="34" charset="-122"/>
                          <a:cs typeface="Calibri" pitchFamily="34" charset="-120"/>
                        </a:rPr>
                        <a:t>4.05</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Very Satisfactory</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r>
              <a:tr h="512064">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Performance Efficiency</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A"/>
                          </a:solidFill>
                          <a:latin typeface="Calibri" pitchFamily="34" charset="0"/>
                          <a:ea typeface="Calibri" pitchFamily="34" charset="-122"/>
                          <a:cs typeface="Calibri" pitchFamily="34" charset="-120"/>
                        </a:rPr>
                        <a:t>4.11</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Very Satisfactory</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512064">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Compatibility</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c>
                  <a:txBody>
                    <a:bodyPr/>
                    <a:lstStyle/>
                    <a:p>
                      <a:pPr algn="ctr" indent="0" marL="0">
                        <a:buNone/>
                      </a:pPr>
                      <a:r>
                        <a:rPr lang="en-US" sz="1200" b="1" dirty="0">
                          <a:solidFill>
                            <a:srgbClr val="1B2A4A"/>
                          </a:solidFill>
                          <a:latin typeface="Calibri" pitchFamily="34" charset="0"/>
                          <a:ea typeface="Calibri" pitchFamily="34" charset="-122"/>
                          <a:cs typeface="Calibri" pitchFamily="34" charset="-120"/>
                        </a:rPr>
                        <a:t>4.02</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Very Satisfactory</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r>
              <a:tr h="512064">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Usability</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A"/>
                          </a:solidFill>
                          <a:latin typeface="Calibri" pitchFamily="34" charset="0"/>
                          <a:ea typeface="Calibri" pitchFamily="34" charset="-122"/>
                          <a:cs typeface="Calibri" pitchFamily="34" charset="-120"/>
                        </a:rPr>
                        <a:t>3.90</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Very Satisfactory</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512064">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Reliability</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c>
                  <a:txBody>
                    <a:bodyPr/>
                    <a:lstStyle/>
                    <a:p>
                      <a:pPr algn="ctr" indent="0" marL="0">
                        <a:buNone/>
                      </a:pPr>
                      <a:r>
                        <a:rPr lang="en-US" sz="1200" b="1" dirty="0">
                          <a:solidFill>
                            <a:srgbClr val="1B2A4A"/>
                          </a:solidFill>
                          <a:latin typeface="Calibri" pitchFamily="34" charset="0"/>
                          <a:ea typeface="Calibri" pitchFamily="34" charset="-122"/>
                          <a:cs typeface="Calibri" pitchFamily="34" charset="-120"/>
                        </a:rPr>
                        <a:t>3.91</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Very Satisfactory</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r>
              <a:tr h="512064">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A"/>
                          </a:solidFill>
                          <a:latin typeface="Calibri" pitchFamily="34" charset="0"/>
                          <a:ea typeface="Calibri" pitchFamily="34" charset="-122"/>
                          <a:cs typeface="Calibri" pitchFamily="34" charset="-120"/>
                        </a:rPr>
                        <a:t>4.04</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Very Satisfactory</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512064">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Maintainability</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c>
                  <a:txBody>
                    <a:bodyPr/>
                    <a:lstStyle/>
                    <a:p>
                      <a:pPr algn="ctr" indent="0" marL="0">
                        <a:buNone/>
                      </a:pPr>
                      <a:r>
                        <a:rPr lang="en-US" sz="1200" b="1" dirty="0">
                          <a:solidFill>
                            <a:srgbClr val="1B2A4A"/>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Very Satisfactory</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EEF4FF"/>
                    </a:solidFill>
                  </a:tcPr>
                </a:tc>
              </a:tr>
              <a:tr h="512064">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Portability</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A"/>
                          </a:solidFill>
                          <a:latin typeface="Calibri" pitchFamily="34" charset="0"/>
                          <a:ea typeface="Calibri" pitchFamily="34" charset="-122"/>
                          <a:cs typeface="Calibri" pitchFamily="34" charset="-120"/>
                        </a:rPr>
                        <a:t>4.07</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Very Satisfactory</a:t>
                      </a:r>
                      <a:endParaRPr lang="en-US" sz="12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Grand Mean (n = 29)</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563E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4.01</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563E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Very Satisfactory</a:t>
                      </a:r>
                      <a:endParaRPr lang="en-US" sz="1300" dirty="0">
                        <a:latin typeface="Calibri" charset="0"/>
                        <a:ea typeface="Calibri" charset="0"/>
                        <a:cs typeface="Calibri" charset="0"/>
                      </a:endParaRPr>
                    </a:p>
                  </a:txBody>
                  <a:tcPr marL="91440" marR="91440" marT="45720" marB="4572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563EB"/>
                    </a:solidFill>
                  </a:tcPr>
                </a:tc>
              </a:tr>
            </a:tbl>
          </a:graphicData>
        </a:graphic>
      </p:graphicFrame>
      <p:sp>
        <p:nvSpPr>
          <p:cNvPr id="8" name="Text 5"/>
          <p:cNvSpPr/>
          <p:nvPr/>
        </p:nvSpPr>
        <p:spPr>
          <a:xfrm>
            <a:off x="365760" y="6309360"/>
            <a:ext cx="11274552" cy="320040"/>
          </a:xfrm>
          <a:prstGeom prst="rect">
            <a:avLst/>
          </a:prstGeom>
          <a:noFill/>
          <a:ln/>
        </p:spPr>
        <p:txBody>
          <a:bodyPr wrap="square" rtlCol="0" anchor="t"/>
          <a:lstStyle/>
          <a:p>
            <a:pPr algn="ctr" indent="0" marL="0">
              <a:buNone/>
            </a:pPr>
            <a:r>
              <a:rPr lang="en-US" sz="1100" dirty="0">
                <a:solidFill>
                  <a:srgbClr val="64748B"/>
                </a:solidFill>
                <a:latin typeface="Calibri" pitchFamily="34" charset="0"/>
                <a:ea typeface="Calibri" pitchFamily="34" charset="-122"/>
                <a:cs typeface="Calibri" pitchFamily="34" charset="-120"/>
              </a:rPr>
              <a:t>All 8 characteristics rated Very Satisfactory. Highest: Performance Efficiency (4.11). Lowest: Usability (3.90).</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FFFFF"/>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Text 3"/>
          <p:cNvSpPr/>
          <p:nvPr/>
        </p:nvSpPr>
        <p:spPr>
          <a:xfrm>
            <a:off x="457200" y="274320"/>
            <a:ext cx="11274552" cy="548640"/>
          </a:xfrm>
          <a:prstGeom prst="rect">
            <a:avLst/>
          </a:prstGeom>
          <a:noFill/>
          <a:ln/>
        </p:spPr>
        <p:txBody>
          <a:bodyPr wrap="square" rtlCol="0" anchor="ctr"/>
          <a:lstStyle/>
          <a:p>
            <a:pPr indent="0" marL="0">
              <a:buNone/>
            </a:pPr>
            <a:r>
              <a:rPr lang="en-US" sz="2800" b="1" dirty="0">
                <a:solidFill>
                  <a:srgbClr val="1B2A4A"/>
                </a:solidFill>
                <a:latin typeface="Calibri" pitchFamily="34" charset="0"/>
                <a:ea typeface="Calibri" pitchFamily="34" charset="-122"/>
                <a:cs typeface="Calibri" pitchFamily="34" charset="-120"/>
              </a:rPr>
              <a:t>Conclusions</a:t>
            </a:r>
            <a:endParaRPr lang="en-US" sz="2800" dirty="0"/>
          </a:p>
        </p:txBody>
      </p:sp>
      <p:sp>
        <p:nvSpPr>
          <p:cNvPr id="6" name="Shape 4"/>
          <p:cNvSpPr/>
          <p:nvPr/>
        </p:nvSpPr>
        <p:spPr>
          <a:xfrm>
            <a:off x="457200" y="960120"/>
            <a:ext cx="11274552" cy="0"/>
          </a:xfrm>
          <a:prstGeom prst="line">
            <a:avLst/>
          </a:prstGeom>
          <a:noFill/>
          <a:ln w="19050">
            <a:solidFill>
              <a:srgbClr val="38BDF8"/>
            </a:solidFill>
            <a:prstDash val="solid"/>
          </a:ln>
        </p:spPr>
      </p:sp>
      <p:sp>
        <p:nvSpPr>
          <p:cNvPr id="7" name="Shape 5"/>
          <p:cNvSpPr/>
          <p:nvPr/>
        </p:nvSpPr>
        <p:spPr>
          <a:xfrm>
            <a:off x="365760" y="1097280"/>
            <a:ext cx="457200" cy="502920"/>
          </a:xfrm>
          <a:prstGeom prst="rect">
            <a:avLst/>
          </a:prstGeom>
          <a:solidFill>
            <a:srgbClr val="2563EB"/>
          </a:solidFill>
          <a:ln w="12700">
            <a:solidFill>
              <a:srgbClr val="2563EB"/>
            </a:solidFill>
            <a:prstDash val="solid"/>
          </a:ln>
        </p:spPr>
      </p:sp>
      <p:sp>
        <p:nvSpPr>
          <p:cNvPr id="8" name="Text 6"/>
          <p:cNvSpPr/>
          <p:nvPr/>
        </p:nvSpPr>
        <p:spPr>
          <a:xfrm>
            <a:off x="365760" y="1097280"/>
            <a:ext cx="4572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p:nvPr/>
        </p:nvSpPr>
        <p:spPr>
          <a:xfrm>
            <a:off x="960120" y="1143000"/>
            <a:ext cx="10698480" cy="54864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A smartphone camera + MediaPipe Face Landmarker can reliably detect multi-signal driver drowsiness (yawn, head nod, tilt, brake) in real time without specialized vehicle hardware.</a:t>
            </a:r>
            <a:endParaRPr lang="en-US" sz="1250" dirty="0"/>
          </a:p>
        </p:txBody>
      </p:sp>
      <p:sp>
        <p:nvSpPr>
          <p:cNvPr id="10" name="Shape 8"/>
          <p:cNvSpPr/>
          <p:nvPr/>
        </p:nvSpPr>
        <p:spPr>
          <a:xfrm>
            <a:off x="365760" y="2011680"/>
            <a:ext cx="457200" cy="502920"/>
          </a:xfrm>
          <a:prstGeom prst="rect">
            <a:avLst/>
          </a:prstGeom>
          <a:solidFill>
            <a:srgbClr val="2563EB"/>
          </a:solidFill>
          <a:ln w="12700">
            <a:solidFill>
              <a:srgbClr val="2563EB"/>
            </a:solidFill>
            <a:prstDash val="solid"/>
          </a:ln>
        </p:spPr>
      </p:sp>
      <p:sp>
        <p:nvSpPr>
          <p:cNvPr id="11" name="Text 9"/>
          <p:cNvSpPr/>
          <p:nvPr/>
        </p:nvSpPr>
        <p:spPr>
          <a:xfrm>
            <a:off x="365760" y="2011680"/>
            <a:ext cx="4572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960120" y="2057400"/>
            <a:ext cx="10698480" cy="54864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A configurable 10-level drowsiness scoring model provides proportional, escalating alert responses that avoid the false-alarm fatigue of binary threshold systems.</a:t>
            </a:r>
            <a:endParaRPr lang="en-US" sz="1250" dirty="0"/>
          </a:p>
        </p:txBody>
      </p:sp>
      <p:sp>
        <p:nvSpPr>
          <p:cNvPr id="13" name="Shape 11"/>
          <p:cNvSpPr/>
          <p:nvPr/>
        </p:nvSpPr>
        <p:spPr>
          <a:xfrm>
            <a:off x="365760" y="2926080"/>
            <a:ext cx="457200" cy="502920"/>
          </a:xfrm>
          <a:prstGeom prst="rect">
            <a:avLst/>
          </a:prstGeom>
          <a:solidFill>
            <a:srgbClr val="2563EB"/>
          </a:solidFill>
          <a:ln w="12700">
            <a:solidFill>
              <a:srgbClr val="2563EB"/>
            </a:solidFill>
            <a:prstDash val="solid"/>
          </a:ln>
        </p:spPr>
      </p:sp>
      <p:sp>
        <p:nvSpPr>
          <p:cNvPr id="14" name="Text 12"/>
          <p:cNvSpPr/>
          <p:nvPr/>
        </p:nvSpPr>
        <p:spPr>
          <a:xfrm>
            <a:off x="365760" y="2926080"/>
            <a:ext cx="4572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960120" y="2971800"/>
            <a:ext cx="10698480" cy="54864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An ESP32 IoT alert device with MQTT + BLE dual-path communication successfully extends alerts beyond the smartphone with level-calibrated audio, vibration, and LED patterns.</a:t>
            </a:r>
            <a:endParaRPr lang="en-US" sz="1250" dirty="0"/>
          </a:p>
        </p:txBody>
      </p:sp>
      <p:sp>
        <p:nvSpPr>
          <p:cNvPr id="16" name="Shape 14"/>
          <p:cNvSpPr/>
          <p:nvPr/>
        </p:nvSpPr>
        <p:spPr>
          <a:xfrm>
            <a:off x="365760" y="3840480"/>
            <a:ext cx="457200" cy="502920"/>
          </a:xfrm>
          <a:prstGeom prst="rect">
            <a:avLst/>
          </a:prstGeom>
          <a:solidFill>
            <a:srgbClr val="2563EB"/>
          </a:solidFill>
          <a:ln w="12700">
            <a:solidFill>
              <a:srgbClr val="2563EB"/>
            </a:solidFill>
            <a:prstDash val="solid"/>
          </a:ln>
        </p:spPr>
      </p:sp>
      <p:sp>
        <p:nvSpPr>
          <p:cNvPr id="17" name="Text 15"/>
          <p:cNvSpPr/>
          <p:nvPr/>
        </p:nvSpPr>
        <p:spPr>
          <a:xfrm>
            <a:off x="365760" y="3840480"/>
            <a:ext cx="4572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960120" y="3886200"/>
            <a:ext cx="10698480" cy="54864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A closed-loop emergency pipeline (Expo Push + PhilSMS) delivers timely guardian notification absent from existing smartphone DMS applications.</a:t>
            </a:r>
            <a:endParaRPr lang="en-US" sz="1250" dirty="0"/>
          </a:p>
        </p:txBody>
      </p:sp>
      <p:sp>
        <p:nvSpPr>
          <p:cNvPr id="19" name="Shape 17"/>
          <p:cNvSpPr/>
          <p:nvPr/>
        </p:nvSpPr>
        <p:spPr>
          <a:xfrm>
            <a:off x="365760" y="4754880"/>
            <a:ext cx="457200" cy="502920"/>
          </a:xfrm>
          <a:prstGeom prst="rect">
            <a:avLst/>
          </a:prstGeom>
          <a:solidFill>
            <a:srgbClr val="2563EB"/>
          </a:solidFill>
          <a:ln w="12700">
            <a:solidFill>
              <a:srgbClr val="2563EB"/>
            </a:solidFill>
            <a:prstDash val="solid"/>
          </a:ln>
        </p:spPr>
      </p:sp>
      <p:sp>
        <p:nvSpPr>
          <p:cNvPr id="20" name="Text 18"/>
          <p:cNvSpPr/>
          <p:nvPr/>
        </p:nvSpPr>
        <p:spPr>
          <a:xfrm>
            <a:off x="365760" y="4754880"/>
            <a:ext cx="4572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1" name="Text 19"/>
          <p:cNvSpPr/>
          <p:nvPr/>
        </p:nvSpPr>
        <p:spPr>
          <a:xfrm>
            <a:off x="960120" y="4800600"/>
            <a:ext cx="10698480" cy="54864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An offline-first SQLite architecture ensures continuous session recording under intermittent network conditions — critical for Philippine road environments.</a:t>
            </a:r>
            <a:endParaRPr lang="en-US" sz="1250" dirty="0"/>
          </a:p>
        </p:txBody>
      </p:sp>
      <p:sp>
        <p:nvSpPr>
          <p:cNvPr id="22" name="Shape 20"/>
          <p:cNvSpPr/>
          <p:nvPr/>
        </p:nvSpPr>
        <p:spPr>
          <a:xfrm>
            <a:off x="365760" y="5669280"/>
            <a:ext cx="457200" cy="502920"/>
          </a:xfrm>
          <a:prstGeom prst="rect">
            <a:avLst/>
          </a:prstGeom>
          <a:solidFill>
            <a:srgbClr val="2563EB"/>
          </a:solidFill>
          <a:ln w="12700">
            <a:solidFill>
              <a:srgbClr val="2563EB"/>
            </a:solidFill>
            <a:prstDash val="solid"/>
          </a:ln>
        </p:spPr>
      </p:sp>
      <p:sp>
        <p:nvSpPr>
          <p:cNvPr id="23" name="Text 21"/>
          <p:cNvSpPr/>
          <p:nvPr/>
        </p:nvSpPr>
        <p:spPr>
          <a:xfrm>
            <a:off x="365760" y="5669280"/>
            <a:ext cx="4572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4" name="Text 22"/>
          <p:cNvSpPr/>
          <p:nvPr/>
        </p:nvSpPr>
        <p:spPr>
          <a:xfrm>
            <a:off x="960120" y="5715000"/>
            <a:ext cx="10698480" cy="54864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SnoozeGuard achieves [pending ISO score] across ISO/IEC 25010 quality characteristics — demonstrating satisfactory software quality as a functional prototype.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FFFFF"/>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Text 3"/>
          <p:cNvSpPr/>
          <p:nvPr/>
        </p:nvSpPr>
        <p:spPr>
          <a:xfrm>
            <a:off x="457200" y="274320"/>
            <a:ext cx="11274552" cy="548640"/>
          </a:xfrm>
          <a:prstGeom prst="rect">
            <a:avLst/>
          </a:prstGeom>
          <a:noFill/>
          <a:ln/>
        </p:spPr>
        <p:txBody>
          <a:bodyPr wrap="square" rtlCol="0" anchor="ctr"/>
          <a:lstStyle/>
          <a:p>
            <a:pPr indent="0" marL="0">
              <a:buNone/>
            </a:pPr>
            <a:r>
              <a:rPr lang="en-US" sz="2800" b="1" dirty="0">
                <a:solidFill>
                  <a:srgbClr val="1B2A4A"/>
                </a:solidFill>
                <a:latin typeface="Calibri" pitchFamily="34" charset="0"/>
                <a:ea typeface="Calibri" pitchFamily="34" charset="-122"/>
                <a:cs typeface="Calibri" pitchFamily="34" charset="-120"/>
              </a:rPr>
              <a:t>Recommendations</a:t>
            </a:r>
            <a:endParaRPr lang="en-US" sz="2800" dirty="0"/>
          </a:p>
        </p:txBody>
      </p:sp>
      <p:sp>
        <p:nvSpPr>
          <p:cNvPr id="6" name="Shape 4"/>
          <p:cNvSpPr/>
          <p:nvPr/>
        </p:nvSpPr>
        <p:spPr>
          <a:xfrm>
            <a:off x="457200" y="960120"/>
            <a:ext cx="11274552" cy="0"/>
          </a:xfrm>
          <a:prstGeom prst="line">
            <a:avLst/>
          </a:prstGeom>
          <a:noFill/>
          <a:ln w="19050">
            <a:solidFill>
              <a:srgbClr val="38BDF8"/>
            </a:solidFill>
            <a:prstDash val="solid"/>
          </a:ln>
        </p:spPr>
      </p:sp>
      <p:sp>
        <p:nvSpPr>
          <p:cNvPr id="7" name="Shape 5"/>
          <p:cNvSpPr/>
          <p:nvPr/>
        </p:nvSpPr>
        <p:spPr>
          <a:xfrm>
            <a:off x="365760" y="1097280"/>
            <a:ext cx="2560320" cy="566928"/>
          </a:xfrm>
          <a:prstGeom prst="rect">
            <a:avLst/>
          </a:prstGeom>
          <a:solidFill>
            <a:srgbClr val="2563EB"/>
          </a:solidFill>
          <a:ln w="12700">
            <a:solidFill>
              <a:srgbClr val="2563EB"/>
            </a:solidFill>
            <a:prstDash val="solid"/>
          </a:ln>
        </p:spPr>
      </p:sp>
      <p:sp>
        <p:nvSpPr>
          <p:cNvPr id="8" name="Text 6"/>
          <p:cNvSpPr/>
          <p:nvPr/>
        </p:nvSpPr>
        <p:spPr>
          <a:xfrm>
            <a:off x="365760" y="1097280"/>
            <a:ext cx="2560320" cy="56692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Field Validation</a:t>
            </a:r>
            <a:endParaRPr lang="en-US" sz="1200" dirty="0"/>
          </a:p>
        </p:txBody>
      </p:sp>
      <p:sp>
        <p:nvSpPr>
          <p:cNvPr id="9" name="Text 7"/>
          <p:cNvSpPr/>
          <p:nvPr/>
        </p:nvSpPr>
        <p:spPr>
          <a:xfrm>
            <a:off x="3063240" y="1188720"/>
            <a:ext cx="8961120" cy="45720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Evaluate in naturalistic driving conditions across diverse road types, lighting, and driver demographics</a:t>
            </a:r>
            <a:endParaRPr lang="en-US" sz="1250" dirty="0"/>
          </a:p>
        </p:txBody>
      </p:sp>
      <p:sp>
        <p:nvSpPr>
          <p:cNvPr id="10" name="Shape 8"/>
          <p:cNvSpPr/>
          <p:nvPr/>
        </p:nvSpPr>
        <p:spPr>
          <a:xfrm>
            <a:off x="365760" y="1874520"/>
            <a:ext cx="2560320" cy="566928"/>
          </a:xfrm>
          <a:prstGeom prst="rect">
            <a:avLst/>
          </a:prstGeom>
          <a:solidFill>
            <a:srgbClr val="1B2A4A"/>
          </a:solidFill>
          <a:ln w="12700">
            <a:solidFill>
              <a:srgbClr val="1B2A4A"/>
            </a:solidFill>
            <a:prstDash val="solid"/>
          </a:ln>
        </p:spPr>
      </p:sp>
      <p:sp>
        <p:nvSpPr>
          <p:cNvPr id="11" name="Text 9"/>
          <p:cNvSpPr/>
          <p:nvPr/>
        </p:nvSpPr>
        <p:spPr>
          <a:xfrm>
            <a:off x="365760" y="1874520"/>
            <a:ext cx="2560320" cy="56692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Eye Closure Integration</a:t>
            </a:r>
            <a:endParaRPr lang="en-US" sz="1200" dirty="0"/>
          </a:p>
        </p:txBody>
      </p:sp>
      <p:sp>
        <p:nvSpPr>
          <p:cNvPr id="12" name="Text 10"/>
          <p:cNvSpPr/>
          <p:nvPr/>
        </p:nvSpPr>
        <p:spPr>
          <a:xfrm>
            <a:off x="3063240" y="1965960"/>
            <a:ext cx="8961120" cy="45720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Add PERCLOS as optional supplementary signal when MediaPipe reports high-confidence eye landmark tracking</a:t>
            </a:r>
            <a:endParaRPr lang="en-US" sz="1250" dirty="0"/>
          </a:p>
        </p:txBody>
      </p:sp>
      <p:sp>
        <p:nvSpPr>
          <p:cNvPr id="13" name="Shape 11"/>
          <p:cNvSpPr/>
          <p:nvPr/>
        </p:nvSpPr>
        <p:spPr>
          <a:xfrm>
            <a:off x="365760" y="2651760"/>
            <a:ext cx="2560320" cy="566928"/>
          </a:xfrm>
          <a:prstGeom prst="rect">
            <a:avLst/>
          </a:prstGeom>
          <a:solidFill>
            <a:srgbClr val="2563EB"/>
          </a:solidFill>
          <a:ln w="12700">
            <a:solidFill>
              <a:srgbClr val="2563EB"/>
            </a:solidFill>
            <a:prstDash val="solid"/>
          </a:ln>
        </p:spPr>
      </p:sp>
      <p:sp>
        <p:nvSpPr>
          <p:cNvPr id="14" name="Text 12"/>
          <p:cNvSpPr/>
          <p:nvPr/>
        </p:nvSpPr>
        <p:spPr>
          <a:xfrm>
            <a:off x="365760" y="2651760"/>
            <a:ext cx="2560320" cy="56692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OBD-II Integration</a:t>
            </a:r>
            <a:endParaRPr lang="en-US" sz="1200" dirty="0"/>
          </a:p>
        </p:txBody>
      </p:sp>
      <p:sp>
        <p:nvSpPr>
          <p:cNvPr id="15" name="Text 13"/>
          <p:cNvSpPr/>
          <p:nvPr/>
        </p:nvSpPr>
        <p:spPr>
          <a:xfrm>
            <a:off x="3063240" y="2743200"/>
            <a:ext cx="8961120" cy="45720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Incorporate vehicle speed and lane deviation data as additional drowsiness signals</a:t>
            </a:r>
            <a:endParaRPr lang="en-US" sz="1250" dirty="0"/>
          </a:p>
        </p:txBody>
      </p:sp>
      <p:sp>
        <p:nvSpPr>
          <p:cNvPr id="16" name="Shape 14"/>
          <p:cNvSpPr/>
          <p:nvPr/>
        </p:nvSpPr>
        <p:spPr>
          <a:xfrm>
            <a:off x="365760" y="3429000"/>
            <a:ext cx="2560320" cy="566928"/>
          </a:xfrm>
          <a:prstGeom prst="rect">
            <a:avLst/>
          </a:prstGeom>
          <a:solidFill>
            <a:srgbClr val="1B2A4A"/>
          </a:solidFill>
          <a:ln w="12700">
            <a:solidFill>
              <a:srgbClr val="1B2A4A"/>
            </a:solidFill>
            <a:prstDash val="solid"/>
          </a:ln>
        </p:spPr>
      </p:sp>
      <p:sp>
        <p:nvSpPr>
          <p:cNvPr id="17" name="Text 15"/>
          <p:cNvSpPr/>
          <p:nvPr/>
        </p:nvSpPr>
        <p:spPr>
          <a:xfrm>
            <a:off x="365760" y="3429000"/>
            <a:ext cx="2560320" cy="56692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Regulatory Certification</a:t>
            </a:r>
            <a:endParaRPr lang="en-US" sz="1200" dirty="0"/>
          </a:p>
        </p:txBody>
      </p:sp>
      <p:sp>
        <p:nvSpPr>
          <p:cNvPr id="18" name="Text 16"/>
          <p:cNvSpPr/>
          <p:nvPr/>
        </p:nvSpPr>
        <p:spPr>
          <a:xfrm>
            <a:off x="3063240" y="3520440"/>
            <a:ext cx="8961120" cy="45720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Pursue formal safety analysis and certification pathway for deployment as a certified DMS aid</a:t>
            </a:r>
            <a:endParaRPr lang="en-US" sz="1250" dirty="0"/>
          </a:p>
        </p:txBody>
      </p:sp>
      <p:sp>
        <p:nvSpPr>
          <p:cNvPr id="19" name="Shape 17"/>
          <p:cNvSpPr/>
          <p:nvPr/>
        </p:nvSpPr>
        <p:spPr>
          <a:xfrm>
            <a:off x="365760" y="4206240"/>
            <a:ext cx="2560320" cy="566928"/>
          </a:xfrm>
          <a:prstGeom prst="rect">
            <a:avLst/>
          </a:prstGeom>
          <a:solidFill>
            <a:srgbClr val="2563EB"/>
          </a:solidFill>
          <a:ln w="12700">
            <a:solidFill>
              <a:srgbClr val="2563EB"/>
            </a:solidFill>
            <a:prstDash val="solid"/>
          </a:ln>
        </p:spPr>
      </p:sp>
      <p:sp>
        <p:nvSpPr>
          <p:cNvPr id="20" name="Text 18"/>
          <p:cNvSpPr/>
          <p:nvPr/>
        </p:nvSpPr>
        <p:spPr>
          <a:xfrm>
            <a:off x="365760" y="4206240"/>
            <a:ext cx="2560320" cy="56692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Multi-Language Support</a:t>
            </a:r>
            <a:endParaRPr lang="en-US" sz="1200" dirty="0"/>
          </a:p>
        </p:txBody>
      </p:sp>
      <p:sp>
        <p:nvSpPr>
          <p:cNvPr id="21" name="Text 19"/>
          <p:cNvSpPr/>
          <p:nvPr/>
        </p:nvSpPr>
        <p:spPr>
          <a:xfrm>
            <a:off x="3063240" y="4297680"/>
            <a:ext cx="8961120" cy="45720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Add Filipino TTS and localized UI for broader Philippine deployment</a:t>
            </a:r>
            <a:endParaRPr lang="en-US" sz="1250" dirty="0"/>
          </a:p>
        </p:txBody>
      </p:sp>
      <p:sp>
        <p:nvSpPr>
          <p:cNvPr id="22" name="Shape 20"/>
          <p:cNvSpPr/>
          <p:nvPr/>
        </p:nvSpPr>
        <p:spPr>
          <a:xfrm>
            <a:off x="365760" y="4983480"/>
            <a:ext cx="2560320" cy="566928"/>
          </a:xfrm>
          <a:prstGeom prst="rect">
            <a:avLst/>
          </a:prstGeom>
          <a:solidFill>
            <a:srgbClr val="1B2A4A"/>
          </a:solidFill>
          <a:ln w="12700">
            <a:solidFill>
              <a:srgbClr val="1B2A4A"/>
            </a:solidFill>
            <a:prstDash val="solid"/>
          </a:ln>
        </p:spPr>
      </p:sp>
      <p:sp>
        <p:nvSpPr>
          <p:cNvPr id="23" name="Text 21"/>
          <p:cNvSpPr/>
          <p:nvPr/>
        </p:nvSpPr>
        <p:spPr>
          <a:xfrm>
            <a:off x="365760" y="4983480"/>
            <a:ext cx="2560320" cy="56692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Fleet Management Dashboard</a:t>
            </a:r>
            <a:endParaRPr lang="en-US" sz="1200" dirty="0"/>
          </a:p>
        </p:txBody>
      </p:sp>
      <p:sp>
        <p:nvSpPr>
          <p:cNvPr id="24" name="Text 22"/>
          <p:cNvSpPr/>
          <p:nvPr/>
        </p:nvSpPr>
        <p:spPr>
          <a:xfrm>
            <a:off x="3063240" y="5074920"/>
            <a:ext cx="8961120" cy="45720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Extend cloud backend to aggregate driver drowsiness statistics across commercial vehicle fleets</a:t>
            </a:r>
            <a:endParaRPr lang="en-US" sz="1250" dirty="0"/>
          </a:p>
        </p:txBody>
      </p:sp>
      <p:sp>
        <p:nvSpPr>
          <p:cNvPr id="25" name="Shape 23"/>
          <p:cNvSpPr/>
          <p:nvPr/>
        </p:nvSpPr>
        <p:spPr>
          <a:xfrm>
            <a:off x="365760" y="5760720"/>
            <a:ext cx="2560320" cy="566928"/>
          </a:xfrm>
          <a:prstGeom prst="rect">
            <a:avLst/>
          </a:prstGeom>
          <a:solidFill>
            <a:srgbClr val="2563EB"/>
          </a:solidFill>
          <a:ln w="12700">
            <a:solidFill>
              <a:srgbClr val="2563EB"/>
            </a:solidFill>
            <a:prstDash val="solid"/>
          </a:ln>
        </p:spPr>
      </p:sp>
      <p:sp>
        <p:nvSpPr>
          <p:cNvPr id="26" name="Text 24"/>
          <p:cNvSpPr/>
          <p:nvPr/>
        </p:nvSpPr>
        <p:spPr>
          <a:xfrm>
            <a:off x="365760" y="5760720"/>
            <a:ext cx="2560320" cy="56692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Battery Optimization</a:t>
            </a:r>
            <a:endParaRPr lang="en-US" sz="1200" dirty="0"/>
          </a:p>
        </p:txBody>
      </p:sp>
      <p:sp>
        <p:nvSpPr>
          <p:cNvPr id="27" name="Text 25"/>
          <p:cNvSpPr/>
          <p:nvPr/>
        </p:nvSpPr>
        <p:spPr>
          <a:xfrm>
            <a:off x="3063240" y="5852160"/>
            <a:ext cx="8961120" cy="457200"/>
          </a:xfrm>
          <a:prstGeom prst="rect">
            <a:avLst/>
          </a:prstGeom>
          <a:noFill/>
          <a:ln/>
        </p:spPr>
        <p:txBody>
          <a:bodyPr wrap="square" rtlCol="0" anchor="t"/>
          <a:lstStyle/>
          <a:p>
            <a:pPr algn="l" indent="0" marL="0">
              <a:buNone/>
            </a:pPr>
            <a:r>
              <a:rPr lang="en-US" sz="1250" dirty="0">
                <a:solidFill>
                  <a:srgbClr val="0F172A"/>
                </a:solidFill>
                <a:latin typeface="Calibri" pitchFamily="34" charset="0"/>
                <a:ea typeface="Calibri" pitchFamily="34" charset="-122"/>
                <a:cs typeface="Calibri" pitchFamily="34" charset="-120"/>
              </a:rPr>
              <a:t>Investigate adaptive sampling and Android NNAPI hardware acceleration to reduce power consumption</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B2A4A"/>
          </a:solidFill>
          <a:ln/>
        </p:spPr>
      </p:sp>
      <p:sp>
        <p:nvSpPr>
          <p:cNvPr id="3" name="Shape 1"/>
          <p:cNvSpPr/>
          <p:nvPr/>
        </p:nvSpPr>
        <p:spPr>
          <a:xfrm>
            <a:off x="0" y="0"/>
            <a:ext cx="12192000" cy="73152"/>
          </a:xfrm>
          <a:prstGeom prst="rect">
            <a:avLst/>
          </a:prstGeom>
          <a:solidFill>
            <a:srgbClr val="2563EB"/>
          </a:solidFill>
          <a:ln/>
        </p:spPr>
      </p:sp>
      <p:sp>
        <p:nvSpPr>
          <p:cNvPr id="4" name="Shape 2"/>
          <p:cNvSpPr/>
          <p:nvPr/>
        </p:nvSpPr>
        <p:spPr>
          <a:xfrm>
            <a:off x="0" y="6784848"/>
            <a:ext cx="12192000" cy="73152"/>
          </a:xfrm>
          <a:prstGeom prst="rect">
            <a:avLst/>
          </a:prstGeom>
          <a:solidFill>
            <a:srgbClr val="38BDF8"/>
          </a:solidFill>
          <a:ln/>
        </p:spPr>
      </p:sp>
      <p:sp>
        <p:nvSpPr>
          <p:cNvPr id="5" name="Shape 3"/>
          <p:cNvSpPr/>
          <p:nvPr/>
        </p:nvSpPr>
        <p:spPr>
          <a:xfrm>
            <a:off x="0" y="0"/>
            <a:ext cx="12192000" cy="6858000"/>
          </a:xfrm>
          <a:prstGeom prst="rect">
            <a:avLst/>
          </a:prstGeom>
          <a:solidFill>
            <a:srgbClr val="1B2A4A"/>
          </a:solidFill>
          <a:ln/>
        </p:spPr>
      </p:sp>
      <p:sp>
        <p:nvSpPr>
          <p:cNvPr id="6" name="Shape 4"/>
          <p:cNvSpPr/>
          <p:nvPr/>
        </p:nvSpPr>
        <p:spPr>
          <a:xfrm>
            <a:off x="0" y="0"/>
            <a:ext cx="109728" cy="6858000"/>
          </a:xfrm>
          <a:prstGeom prst="rect">
            <a:avLst/>
          </a:prstGeom>
          <a:solidFill>
            <a:srgbClr val="2563EB"/>
          </a:solidFill>
          <a:ln/>
        </p:spPr>
      </p:sp>
      <p:sp>
        <p:nvSpPr>
          <p:cNvPr id="7" name="Shape 5"/>
          <p:cNvSpPr/>
          <p:nvPr/>
        </p:nvSpPr>
        <p:spPr>
          <a:xfrm>
            <a:off x="0" y="0"/>
            <a:ext cx="12192000" cy="73152"/>
          </a:xfrm>
          <a:prstGeom prst="rect">
            <a:avLst/>
          </a:prstGeom>
          <a:solidFill>
            <a:srgbClr val="38BDF8"/>
          </a:solidFill>
          <a:ln/>
        </p:spPr>
      </p:sp>
      <p:sp>
        <p:nvSpPr>
          <p:cNvPr id="8" name="Shape 6"/>
          <p:cNvSpPr/>
          <p:nvPr/>
        </p:nvSpPr>
        <p:spPr>
          <a:xfrm>
            <a:off x="0" y="6784848"/>
            <a:ext cx="12192000" cy="73152"/>
          </a:xfrm>
          <a:prstGeom prst="rect">
            <a:avLst/>
          </a:prstGeom>
          <a:solidFill>
            <a:srgbClr val="38BDF8"/>
          </a:solidFill>
          <a:ln/>
        </p:spPr>
      </p:sp>
      <p:sp>
        <p:nvSpPr>
          <p:cNvPr id="9" name="Text 7"/>
          <p:cNvSpPr/>
          <p:nvPr/>
        </p:nvSpPr>
        <p:spPr>
          <a:xfrm>
            <a:off x="457200" y="2011680"/>
            <a:ext cx="11274552" cy="1097280"/>
          </a:xfrm>
          <a:prstGeom prst="rect">
            <a:avLst/>
          </a:prstGeom>
          <a:noFill/>
          <a:ln/>
        </p:spPr>
        <p:txBody>
          <a:bodyPr wrap="square" rtlCol="0" anchor="ctr"/>
          <a:lstStyle/>
          <a:p>
            <a:pPr algn="ctr" indent="0" marL="0">
              <a:buNone/>
            </a:pPr>
            <a:r>
              <a:rPr lang="en-US" sz="6000" b="1" dirty="0">
                <a:solidFill>
                  <a:srgbClr val="FFFFFF"/>
                </a:solidFill>
                <a:latin typeface="Calibri" pitchFamily="34" charset="0"/>
                <a:ea typeface="Calibri" pitchFamily="34" charset="-122"/>
                <a:cs typeface="Calibri" pitchFamily="34" charset="-120"/>
              </a:rPr>
              <a:t>Thank You</a:t>
            </a:r>
            <a:endParaRPr lang="en-US" sz="6000" dirty="0"/>
          </a:p>
        </p:txBody>
      </p:sp>
      <p:sp>
        <p:nvSpPr>
          <p:cNvPr id="10" name="Text 8"/>
          <p:cNvSpPr/>
          <p:nvPr/>
        </p:nvSpPr>
        <p:spPr>
          <a:xfrm>
            <a:off x="457200" y="3246120"/>
            <a:ext cx="11274552" cy="548640"/>
          </a:xfrm>
          <a:prstGeom prst="rect">
            <a:avLst/>
          </a:prstGeom>
          <a:noFill/>
          <a:ln/>
        </p:spPr>
        <p:txBody>
          <a:bodyPr wrap="square" rtlCol="0" anchor="ctr"/>
          <a:lstStyle/>
          <a:p>
            <a:pPr algn="ctr" indent="0" marL="0">
              <a:buNone/>
            </a:pPr>
            <a:r>
              <a:rPr lang="en-US" sz="2200" dirty="0">
                <a:solidFill>
                  <a:srgbClr val="38BDF8"/>
                </a:solidFill>
                <a:latin typeface="Calibri" pitchFamily="34" charset="0"/>
                <a:ea typeface="Calibri" pitchFamily="34" charset="-122"/>
                <a:cs typeface="Calibri" pitchFamily="34" charset="-120"/>
              </a:rPr>
              <a:t>Questions &amp; Open Discussion</a:t>
            </a:r>
            <a:endParaRPr lang="en-US" sz="2200" dirty="0"/>
          </a:p>
        </p:txBody>
      </p:sp>
      <p:sp>
        <p:nvSpPr>
          <p:cNvPr id="11" name="Shape 9"/>
          <p:cNvSpPr/>
          <p:nvPr/>
        </p:nvSpPr>
        <p:spPr>
          <a:xfrm>
            <a:off x="3200400" y="3977640"/>
            <a:ext cx="5788152" cy="0"/>
          </a:xfrm>
          <a:prstGeom prst="line">
            <a:avLst/>
          </a:prstGeom>
          <a:noFill/>
          <a:ln w="19050">
            <a:solidFill>
              <a:srgbClr val="2563EB"/>
            </a:solidFill>
            <a:prstDash val="solid"/>
          </a:ln>
        </p:spPr>
      </p:sp>
      <p:sp>
        <p:nvSpPr>
          <p:cNvPr id="12" name="Text 10"/>
          <p:cNvSpPr/>
          <p:nvPr/>
        </p:nvSpPr>
        <p:spPr>
          <a:xfrm>
            <a:off x="457200" y="4160520"/>
            <a:ext cx="11274552" cy="365760"/>
          </a:xfrm>
          <a:prstGeom prst="rect">
            <a:avLst/>
          </a:prstGeom>
          <a:noFill/>
          <a:ln/>
        </p:spPr>
        <p:txBody>
          <a:bodyPr wrap="square"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Cart Jeuiel T. Agno  ·  Aira Mae T. Pilor  ·  Christian Eduard B. Ylagan Jr.</a:t>
            </a:r>
            <a:endParaRPr lang="en-US" sz="1400" dirty="0"/>
          </a:p>
        </p:txBody>
      </p:sp>
      <p:sp>
        <p:nvSpPr>
          <p:cNvPr id="13" name="Text 11"/>
          <p:cNvSpPr/>
          <p:nvPr/>
        </p:nvSpPr>
        <p:spPr>
          <a:xfrm>
            <a:off x="457200" y="4617720"/>
            <a:ext cx="11274552" cy="320040"/>
          </a:xfrm>
          <a:prstGeom prst="rect">
            <a:avLst/>
          </a:prstGeom>
          <a:noFill/>
          <a:ln/>
        </p:spPr>
        <p:txBody>
          <a:bodyPr wrap="square"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Adviser: Engr. Jezer E. Ilao  ·  Divine Word College of Calapan  ·  BS Computer Engineering  ·  2025–2026</a:t>
            </a:r>
            <a:endParaRPr lang="en-US" sz="1200" dirty="0"/>
          </a:p>
        </p:txBody>
      </p:sp>
    </p:spTree>
  </p:cSld>
  <p:clrMapOvr>
    <a:masterClrMapping/>
  </p:clrMapOvr>
</p:sld>
</file>

<file path=ppt\tableStyles.xml><?xml version="1.0" encoding="utf-8"?>
<a:tblStyleLst xmlns:a="http://schemas.openxmlformats.org/drawingml/2006/main" def="{5C22544A-7EE6-4342-B048-85BDC9FD1C3A}"/>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